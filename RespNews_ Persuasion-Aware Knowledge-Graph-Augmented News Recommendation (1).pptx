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oboto"/>
      <p:bold r:id="rId14"/>
      <p:boldItalic r:id="rId15"/>
    </p:embeddedFont>
    <p:embeddedFont>
      <p:font typeface="Roboto Medium"/>
      <p:regular r:id="rId16"/>
      <p:bold r:id="rId17"/>
      <p:italic r:id="rId18"/>
      <p:boldItalic r:id="rId19"/>
    </p:embeddedFont>
    <p:embeddedFont>
      <p:font typeface="Inter SemiBold"/>
      <p:regular r:id="rId20"/>
      <p:bold r:id="rId21"/>
      <p:italic r:id="rId22"/>
      <p:boldItalic r:id="rId23"/>
    </p:embeddedFont>
    <p:embeddedFont>
      <p:font typeface="Inter"/>
      <p:bold r:id="rId24"/>
      <p:boldItalic r:id="rId25"/>
    </p:embeddedFont>
    <p:embeddedFont>
      <p:font typeface="Inter ExtraBold"/>
      <p:bold r:id="rId26"/>
      <p:boldItalic r:id="rId27"/>
    </p:embeddedFont>
    <p:embeddedFont>
      <p:font typeface="Inter Medium"/>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font" Target="fonts/Roboto-bold.fntdata"/><Relationship Id="rId15" Type="http://schemas.openxmlformats.org/officeDocument/2006/relationships/font" Target="fonts/Roboto-boldItalic.fntdata"/><Relationship Id="rId16" Type="http://schemas.openxmlformats.org/officeDocument/2006/relationships/font" Target="fonts/RobotoMedium-regular.fntdata"/><Relationship Id="rId17" Type="http://schemas.openxmlformats.org/officeDocument/2006/relationships/font" Target="fonts/RobotoMedium-bold.fntdata"/><Relationship Id="rId18" Type="http://schemas.openxmlformats.org/officeDocument/2006/relationships/font" Target="fonts/RobotoMedium-italic.fntdata"/><Relationship Id="rId19" Type="http://schemas.openxmlformats.org/officeDocument/2006/relationships/font" Target="fonts/RobotoMedium-boldItalic.fntdata"/><Relationship Id="rId20" Type="http://schemas.openxmlformats.org/officeDocument/2006/relationships/font" Target="fonts/InterSemiBold-regular.fntdata"/><Relationship Id="rId21" Type="http://schemas.openxmlformats.org/officeDocument/2006/relationships/font" Target="fonts/InterSemiBold-bold.fntdata"/><Relationship Id="rId22" Type="http://schemas.openxmlformats.org/officeDocument/2006/relationships/font" Target="fonts/InterSemiBold-italic.fntdata"/><Relationship Id="rId23" Type="http://schemas.openxmlformats.org/officeDocument/2006/relationships/font" Target="fonts/InterSemiBold-boldItalic.fntdata"/><Relationship Id="rId24" Type="http://schemas.openxmlformats.org/officeDocument/2006/relationships/font" Target="fonts/Inter-bold.fntdata"/><Relationship Id="rId25" Type="http://schemas.openxmlformats.org/officeDocument/2006/relationships/font" Target="fonts/Inter-boldItalic.fntdata"/><Relationship Id="rId26" Type="http://schemas.openxmlformats.org/officeDocument/2006/relationships/font" Target="fonts/InterExtraBold-bold.fntdata"/><Relationship Id="rId27" Type="http://schemas.openxmlformats.org/officeDocument/2006/relationships/font" Target="fonts/InterExtraBold-boldItalic.fntdata"/><Relationship Id="rId28" Type="http://schemas.openxmlformats.org/officeDocument/2006/relationships/font" Target="fonts/InterMedium-regular.fntdata"/><Relationship Id="rId29" Type="http://schemas.openxmlformats.org/officeDocument/2006/relationships/font" Target="fonts/InterMedium-bold.fntdata"/><Relationship Id="rId30" Type="http://schemas.openxmlformats.org/officeDocument/2006/relationships/font" Target="fonts/InterMedium-italic.fntdata"/><Relationship Id="rId31"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3a0eeff22d598a8f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3a0eeff22d598a8f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3a0eeff22d598a8f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h3a0eeff22d598a8f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3a0eeff22d598a8f_1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3a0eeff22d598a8f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3a0eeff22d598a8f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h3a0eeff22d598a8f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3a0eeff22d598a8f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h3a0eeff22d598a8f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3a0eeff22d598a8f_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h3a0eeff22d598a8f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h3a0eeff22d598a8f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h3a0eeff22d598a8f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h3a0eeff22d598a8f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h3a0eeff22d598a8f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3a0eeff22d598a8f_13_0)">
  <p:cSld name="Generated (h3a0eeff22d598a8f_13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image" Target="../media/image6.png"/><Relationship Id="rId8"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 name="Google Shape;56;p14"/>
          <p:cNvSpPr/>
          <p:nvPr/>
        </p:nvSpPr>
        <p:spPr>
          <a:xfrm>
            <a:off x="0" y="0"/>
            <a:ext cx="9144000" cy="514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7" name="Google Shape;57;p14"/>
          <p:cNvGrpSpPr/>
          <p:nvPr/>
        </p:nvGrpSpPr>
        <p:grpSpPr>
          <a:xfrm>
            <a:off x="762000" y="762000"/>
            <a:ext cx="571500" cy="571500"/>
            <a:chOff x="0" y="0"/>
            <a:chExt cx="571500" cy="571500"/>
          </a:xfrm>
        </p:grpSpPr>
        <p:sp>
          <p:nvSpPr>
            <p:cNvPr id="58" name="Google Shape;58;p14"/>
            <p:cNvSpPr/>
            <p:nvPr/>
          </p:nvSpPr>
          <p:spPr>
            <a:xfrm>
              <a:off x="0" y="0"/>
              <a:ext cx="381000" cy="381000"/>
            </a:xfrm>
            <a:prstGeom prst="rect">
              <a:avLst/>
            </a:prstGeom>
            <a:solidFill>
              <a:srgbClr val="0052CC">
                <a:alpha val="8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 name="Google Shape;59;p14"/>
            <p:cNvSpPr/>
            <p:nvPr/>
          </p:nvSpPr>
          <p:spPr>
            <a:xfrm>
              <a:off x="190500" y="190500"/>
              <a:ext cx="381000" cy="381000"/>
            </a:xfrm>
            <a:prstGeom prst="rect">
              <a:avLst/>
            </a:prstGeom>
            <a:solidFill>
              <a:srgbClr val="00B8D9">
                <a:alpha val="12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p:nvPr/>
          </p:nvSpPr>
          <p:spPr>
            <a:xfrm>
              <a:off x="161925" y="161925"/>
              <a:ext cx="57300" cy="57300"/>
            </a:xfrm>
            <a:prstGeom prst="ellipse">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1" name="Google Shape;61;p14"/>
          <p:cNvGrpSpPr/>
          <p:nvPr/>
        </p:nvGrpSpPr>
        <p:grpSpPr>
          <a:xfrm>
            <a:off x="762000" y="1666875"/>
            <a:ext cx="7734300" cy="1981200"/>
            <a:chOff x="0" y="0"/>
            <a:chExt cx="7734300" cy="1981200"/>
          </a:xfrm>
        </p:grpSpPr>
        <p:sp>
          <p:nvSpPr>
            <p:cNvPr id="62" name="Google Shape;62;p14"/>
            <p:cNvSpPr/>
            <p:nvPr/>
          </p:nvSpPr>
          <p:spPr>
            <a:xfrm>
              <a:off x="0" y="0"/>
              <a:ext cx="57300" cy="19050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txBox="1"/>
            <p:nvPr/>
          </p:nvSpPr>
          <p:spPr>
            <a:xfrm>
              <a:off x="304800" y="0"/>
              <a:ext cx="72390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52CC"/>
                  </a:solidFill>
                  <a:latin typeface="Roboto"/>
                  <a:ea typeface="Roboto"/>
                  <a:cs typeface="Roboto"/>
                  <a:sym typeface="Roboto"/>
                </a:rPr>
                <a:t>Research Presentation</a:t>
              </a:r>
              <a:endParaRPr b="1" sz="1000">
                <a:solidFill>
                  <a:srgbClr val="0052CC"/>
                </a:solidFill>
                <a:latin typeface="Roboto"/>
                <a:ea typeface="Roboto"/>
                <a:cs typeface="Roboto"/>
                <a:sym typeface="Roboto"/>
              </a:endParaRPr>
            </a:p>
          </p:txBody>
        </p:sp>
        <p:sp>
          <p:nvSpPr>
            <p:cNvPr id="64" name="Google Shape;64;p14"/>
            <p:cNvSpPr txBox="1"/>
            <p:nvPr/>
          </p:nvSpPr>
          <p:spPr>
            <a:xfrm>
              <a:off x="304800" y="304800"/>
              <a:ext cx="7429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25">
                  <a:solidFill>
                    <a:srgbClr val="111827"/>
                  </a:solidFill>
                  <a:latin typeface="Inter"/>
                  <a:ea typeface="Inter"/>
                  <a:cs typeface="Inter"/>
                  <a:sym typeface="Inter"/>
                </a:rPr>
                <a:t>RespNews: Persuasion-Aware Knowledge-Graph-Augmented News Recommendation</a:t>
              </a:r>
              <a:endParaRPr b="1" sz="2125">
                <a:solidFill>
                  <a:srgbClr val="111827"/>
                </a:solidFill>
                <a:latin typeface="Inter"/>
                <a:ea typeface="Inter"/>
                <a:cs typeface="Inter"/>
                <a:sym typeface="Inter"/>
              </a:endParaRPr>
            </a:p>
          </p:txBody>
        </p:sp>
        <p:sp>
          <p:nvSpPr>
            <p:cNvPr id="65" name="Google Shape;65;p14"/>
            <p:cNvSpPr txBox="1"/>
            <p:nvPr/>
          </p:nvSpPr>
          <p:spPr>
            <a:xfrm>
              <a:off x="304800" y="1409700"/>
              <a:ext cx="7429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800">
                  <a:solidFill>
                    <a:srgbClr val="4B5563"/>
                  </a:solidFill>
                  <a:latin typeface="Inter Medium"/>
                  <a:ea typeface="Inter Medium"/>
                  <a:cs typeface="Inter Medium"/>
                  <a:sym typeface="Inter Medium"/>
                </a:rPr>
                <a:t>Integrating persuasion detection and graph neural networks for responsible news delivery.</a:t>
              </a:r>
              <a:endParaRPr b="0" sz="1800">
                <a:solidFill>
                  <a:srgbClr val="4B5563"/>
                </a:solidFill>
                <a:latin typeface="Inter Medium"/>
                <a:ea typeface="Inter Medium"/>
                <a:cs typeface="Inter Medium"/>
                <a:sym typeface="Inter Medium"/>
              </a:endParaRPr>
            </a:p>
          </p:txBody>
        </p:sp>
      </p:grpSp>
      <p:grpSp>
        <p:nvGrpSpPr>
          <p:cNvPr id="66" name="Google Shape;66;p14"/>
          <p:cNvGrpSpPr/>
          <p:nvPr/>
        </p:nvGrpSpPr>
        <p:grpSpPr>
          <a:xfrm>
            <a:off x="7810500" y="4162425"/>
            <a:ext cx="600225" cy="600075"/>
            <a:chOff x="0" y="-28575"/>
            <a:chExt cx="600225" cy="600075"/>
          </a:xfrm>
        </p:grpSpPr>
        <p:cxnSp>
          <p:nvCxnSpPr>
            <p:cNvPr id="67" name="Google Shape;67;p14"/>
            <p:cNvCxnSpPr/>
            <p:nvPr/>
          </p:nvCxnSpPr>
          <p:spPr>
            <a:xfrm>
              <a:off x="0" y="0"/>
              <a:ext cx="571500" cy="0"/>
            </a:xfrm>
            <a:prstGeom prst="straightConnector1">
              <a:avLst/>
            </a:prstGeom>
            <a:solidFill>
              <a:srgbClr val="FFFFFF"/>
            </a:solidFill>
            <a:ln cap="flat" cmpd="sng" w="14300">
              <a:solidFill>
                <a:srgbClr val="E5E7EB"/>
              </a:solidFill>
              <a:prstDash val="solid"/>
              <a:round/>
              <a:headEnd len="sm" w="sm" type="none"/>
              <a:tailEnd len="sm" w="sm" type="none"/>
            </a:ln>
          </p:spPr>
        </p:cxnSp>
        <p:cxnSp>
          <p:nvCxnSpPr>
            <p:cNvPr id="68" name="Google Shape;68;p14"/>
            <p:cNvCxnSpPr/>
            <p:nvPr/>
          </p:nvCxnSpPr>
          <p:spPr>
            <a:xfrm>
              <a:off x="571500" y="0"/>
              <a:ext cx="0" cy="571500"/>
            </a:xfrm>
            <a:prstGeom prst="straightConnector1">
              <a:avLst/>
            </a:prstGeom>
            <a:solidFill>
              <a:srgbClr val="FFFFFF"/>
            </a:solidFill>
            <a:ln cap="flat" cmpd="sng" w="14300">
              <a:solidFill>
                <a:srgbClr val="E5E7EB"/>
              </a:solidFill>
              <a:prstDash val="solid"/>
              <a:round/>
              <a:headEnd len="sm" w="sm" type="none"/>
              <a:tailEnd len="sm" w="sm" type="none"/>
            </a:ln>
          </p:spPr>
        </p:cxnSp>
        <p:sp>
          <p:nvSpPr>
            <p:cNvPr id="69" name="Google Shape;69;p14"/>
            <p:cNvSpPr/>
            <p:nvPr/>
          </p:nvSpPr>
          <p:spPr>
            <a:xfrm>
              <a:off x="542925" y="-28575"/>
              <a:ext cx="57300" cy="57300"/>
            </a:xfrm>
            <a:prstGeom prst="ellipse">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5"/>
          <p:cNvSpPr/>
          <p:nvPr/>
        </p:nvSpPr>
        <p:spPr>
          <a:xfrm>
            <a:off x="0" y="0"/>
            <a:ext cx="91440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5"/>
          <p:cNvSpPr/>
          <p:nvPr/>
        </p:nvSpPr>
        <p:spPr>
          <a:xfrm>
            <a:off x="0" y="0"/>
            <a:ext cx="1143000" cy="381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7" name="Google Shape;77;p15"/>
          <p:cNvPicPr preferRelativeResize="0"/>
          <p:nvPr/>
        </p:nvPicPr>
        <p:blipFill rotWithShape="1">
          <a:blip r:embed="rId3">
            <a:alphaModFix/>
          </a:blip>
          <a:srcRect b="0" l="0" r="0" t="0"/>
          <a:stretch/>
        </p:blipFill>
        <p:spPr>
          <a:xfrm>
            <a:off x="4567238" y="457200"/>
            <a:ext cx="9600" cy="4229100"/>
          </a:xfrm>
          <a:prstGeom prst="rect">
            <a:avLst/>
          </a:prstGeom>
          <a:noFill/>
          <a:ln>
            <a:noFill/>
          </a:ln>
        </p:spPr>
      </p:pic>
      <p:sp>
        <p:nvSpPr>
          <p:cNvPr id="78" name="Google Shape;78;p15"/>
          <p:cNvSpPr txBox="1"/>
          <p:nvPr/>
        </p:nvSpPr>
        <p:spPr>
          <a:xfrm>
            <a:off x="457200" y="342900"/>
            <a:ext cx="82296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111827"/>
                </a:solidFill>
                <a:latin typeface="Inter"/>
                <a:ea typeface="Inter"/>
                <a:cs typeface="Inter"/>
                <a:sym typeface="Inter"/>
              </a:rPr>
              <a:t>Engagement vs. Responsibility in News Recommendation</a:t>
            </a:r>
            <a:endParaRPr b="1" sz="2200">
              <a:solidFill>
                <a:srgbClr val="111827"/>
              </a:solidFill>
              <a:latin typeface="Inter"/>
              <a:ea typeface="Inter"/>
              <a:cs typeface="Inter"/>
              <a:sym typeface="Inter"/>
            </a:endParaRPr>
          </a:p>
        </p:txBody>
      </p:sp>
      <p:grpSp>
        <p:nvGrpSpPr>
          <p:cNvPr id="79" name="Google Shape;79;p15"/>
          <p:cNvGrpSpPr/>
          <p:nvPr/>
        </p:nvGrpSpPr>
        <p:grpSpPr>
          <a:xfrm>
            <a:off x="457200" y="914400"/>
            <a:ext cx="3886200" cy="3771900"/>
            <a:chOff x="0" y="0"/>
            <a:chExt cx="3886200" cy="3771900"/>
          </a:xfrm>
        </p:grpSpPr>
        <p:sp>
          <p:nvSpPr>
            <p:cNvPr id="80" name="Google Shape;80;p15"/>
            <p:cNvSpPr/>
            <p:nvPr/>
          </p:nvSpPr>
          <p:spPr>
            <a:xfrm>
              <a:off x="0" y="0"/>
              <a:ext cx="3886200" cy="3771900"/>
            </a:xfrm>
            <a:prstGeom prst="rect">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15"/>
            <p:cNvSpPr/>
            <p:nvPr/>
          </p:nvSpPr>
          <p:spPr>
            <a:xfrm>
              <a:off x="0" y="0"/>
              <a:ext cx="3886200" cy="381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5"/>
            <p:cNvSpPr txBox="1"/>
            <p:nvPr/>
          </p:nvSpPr>
          <p:spPr>
            <a:xfrm>
              <a:off x="228600" y="228600"/>
              <a:ext cx="3429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52CC"/>
                  </a:solidFill>
                  <a:latin typeface="Roboto"/>
                  <a:ea typeface="Roboto"/>
                  <a:cs typeface="Roboto"/>
                  <a:sym typeface="Roboto"/>
                </a:rPr>
                <a:t>Problem Statement &amp; Methodology</a:t>
              </a:r>
              <a:endParaRPr b="1" sz="1000">
                <a:solidFill>
                  <a:srgbClr val="0052CC"/>
                </a:solidFill>
                <a:latin typeface="Roboto"/>
                <a:ea typeface="Roboto"/>
                <a:cs typeface="Roboto"/>
                <a:sym typeface="Roboto"/>
              </a:endParaRPr>
            </a:p>
          </p:txBody>
        </p:sp>
        <p:sp>
          <p:nvSpPr>
            <p:cNvPr id="83" name="Google Shape;83;p15"/>
            <p:cNvSpPr txBox="1"/>
            <p:nvPr/>
          </p:nvSpPr>
          <p:spPr>
            <a:xfrm>
              <a:off x="228600" y="533400"/>
              <a:ext cx="3429000" cy="3009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4B5563"/>
                  </a:solidFill>
                  <a:latin typeface="Roboto"/>
                  <a:ea typeface="Roboto"/>
                  <a:cs typeface="Roboto"/>
                  <a:sym typeface="Roboto"/>
                </a:rPr>
                <a:t>Current personalized news recommenders primarily optimize for short-term engagement signals like clicks, which inadvertently amplifies emotionally charged headlines and manipulative framing.</a:t>
              </a:r>
              <a:endParaRPr b="0" sz="1300">
                <a:solidFill>
                  <a:srgbClr val="4B5563"/>
                </a:solidFill>
                <a:latin typeface="Roboto"/>
                <a:ea typeface="Roboto"/>
                <a:cs typeface="Roboto"/>
                <a:sym typeface="Roboto"/>
              </a:endParaRPr>
            </a:p>
            <a:p>
              <a:pPr indent="0" lvl="0" marL="0" rtl="0" algn="l">
                <a:spcBef>
                  <a:spcPts val="1050"/>
                </a:spcBef>
                <a:spcAft>
                  <a:spcPts val="0"/>
                </a:spcAft>
                <a:buNone/>
              </a:pPr>
              <a:r>
                <a:rPr b="0" lang="en" sz="1300">
                  <a:solidFill>
                    <a:srgbClr val="4B5563"/>
                  </a:solidFill>
                  <a:latin typeface="Roboto"/>
                  <a:ea typeface="Roboto"/>
                  <a:cs typeface="Roboto"/>
                  <a:sym typeface="Roboto"/>
                </a:rPr>
                <a:t>This creates a critical tension between delivering relevant content and exposing readers to sensational rhetoric.</a:t>
              </a:r>
              <a:endParaRPr b="0" sz="1300">
                <a:solidFill>
                  <a:srgbClr val="4B5563"/>
                </a:solidFill>
                <a:latin typeface="Roboto"/>
                <a:ea typeface="Roboto"/>
                <a:cs typeface="Roboto"/>
                <a:sym typeface="Roboto"/>
              </a:endParaRPr>
            </a:p>
            <a:p>
              <a:pPr indent="0" lvl="0" marL="0" rtl="0" algn="l">
                <a:spcBef>
                  <a:spcPts val="1500"/>
                </a:spcBef>
                <a:spcAft>
                  <a:spcPts val="0"/>
                </a:spcAft>
                <a:buNone/>
              </a:pPr>
              <a:r>
                <a:rPr b="1" lang="en" sz="900">
                  <a:solidFill>
                    <a:srgbClr val="0052CC"/>
                  </a:solidFill>
                  <a:highlight>
                    <a:srgbClr val="FFFFFF"/>
                  </a:highlight>
                  <a:latin typeface="Roboto"/>
                  <a:ea typeface="Roboto"/>
                  <a:cs typeface="Roboto"/>
                  <a:sym typeface="Roboto"/>
                </a:rPr>
                <a:t>Proposed Solution</a:t>
              </a:r>
              <a:endParaRPr b="1" sz="900">
                <a:solidFill>
                  <a:srgbClr val="0052CC"/>
                </a:solidFill>
                <a:highlight>
                  <a:srgbClr val="FFFFFF"/>
                </a:highlight>
                <a:latin typeface="Roboto"/>
                <a:ea typeface="Roboto"/>
                <a:cs typeface="Roboto"/>
                <a:sym typeface="Roboto"/>
              </a:endParaRPr>
            </a:p>
            <a:p>
              <a:pPr indent="0" lvl="0" marL="0" rtl="0" algn="l">
                <a:spcBef>
                  <a:spcPts val="450"/>
                </a:spcBef>
                <a:spcAft>
                  <a:spcPts val="0"/>
                </a:spcAft>
                <a:buNone/>
              </a:pPr>
              <a:r>
                <a:rPr b="0" lang="en" sz="1300">
                  <a:solidFill>
                    <a:srgbClr val="111827"/>
                  </a:solidFill>
                  <a:highlight>
                    <a:srgbClr val="FFFFFF"/>
                  </a:highlight>
                  <a:latin typeface="Roboto Medium"/>
                  <a:ea typeface="Roboto Medium"/>
                  <a:cs typeface="Roboto Medium"/>
                  <a:sym typeface="Roboto Medium"/>
                </a:rPr>
                <a:t>RespNews addresses this gap by explicitly modeling persuasive language to reduce exposure to manipulative content.</a:t>
              </a:r>
              <a:endParaRPr b="0" sz="1300">
                <a:solidFill>
                  <a:srgbClr val="111827"/>
                </a:solidFill>
                <a:highlight>
                  <a:srgbClr val="FFFFFF"/>
                </a:highlight>
                <a:latin typeface="Roboto Medium"/>
                <a:ea typeface="Roboto Medium"/>
                <a:cs typeface="Roboto Medium"/>
                <a:sym typeface="Roboto Medium"/>
              </a:endParaRPr>
            </a:p>
          </p:txBody>
        </p:sp>
      </p:grpSp>
      <p:grpSp>
        <p:nvGrpSpPr>
          <p:cNvPr id="84" name="Google Shape;84;p15"/>
          <p:cNvGrpSpPr/>
          <p:nvPr/>
        </p:nvGrpSpPr>
        <p:grpSpPr>
          <a:xfrm>
            <a:off x="4800600" y="914400"/>
            <a:ext cx="3886200" cy="3771900"/>
            <a:chOff x="0" y="0"/>
            <a:chExt cx="3886200" cy="3771900"/>
          </a:xfrm>
        </p:grpSpPr>
        <p:sp>
          <p:nvSpPr>
            <p:cNvPr id="85" name="Google Shape;85;p15"/>
            <p:cNvSpPr/>
            <p:nvPr/>
          </p:nvSpPr>
          <p:spPr>
            <a:xfrm>
              <a:off x="0" y="0"/>
              <a:ext cx="3886200" cy="3771900"/>
            </a:xfrm>
            <a:prstGeom prst="rect">
              <a:avLst/>
            </a:prstGeom>
            <a:solidFill>
              <a:srgbClr val="0052CC">
                <a:alpha val="300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5"/>
            <p:cNvSpPr/>
            <p:nvPr/>
          </p:nvSpPr>
          <p:spPr>
            <a:xfrm>
              <a:off x="0" y="0"/>
              <a:ext cx="3886200" cy="381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7" name="Google Shape;87;p15"/>
            <p:cNvGrpSpPr/>
            <p:nvPr/>
          </p:nvGrpSpPr>
          <p:grpSpPr>
            <a:xfrm>
              <a:off x="228600" y="228600"/>
              <a:ext cx="3429000" cy="209700"/>
              <a:chOff x="0" y="0"/>
              <a:chExt cx="3429000" cy="209700"/>
            </a:xfrm>
          </p:grpSpPr>
          <p:sp>
            <p:nvSpPr>
              <p:cNvPr id="88" name="Google Shape;88;p15"/>
              <p:cNvSpPr/>
              <p:nvPr/>
            </p:nvSpPr>
            <p:spPr>
              <a:xfrm>
                <a:off x="0" y="0"/>
                <a:ext cx="609600" cy="209700"/>
              </a:xfrm>
              <a:prstGeom prst="roundRect">
                <a:avLst>
                  <a:gd fmla="val 9090" name="adj"/>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5"/>
              <p:cNvSpPr txBox="1"/>
              <p:nvPr/>
            </p:nvSpPr>
            <p:spPr>
              <a:xfrm>
                <a:off x="0" y="0"/>
                <a:ext cx="6096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Roboto"/>
                    <a:ea typeface="Roboto"/>
                    <a:cs typeface="Roboto"/>
                    <a:sym typeface="Roboto"/>
                  </a:rPr>
                  <a:t>SDG 16</a:t>
                </a:r>
                <a:endParaRPr b="1" sz="1000">
                  <a:solidFill>
                    <a:srgbClr val="FFFFFF"/>
                  </a:solidFill>
                  <a:latin typeface="Roboto"/>
                  <a:ea typeface="Roboto"/>
                  <a:cs typeface="Roboto"/>
                  <a:sym typeface="Roboto"/>
                </a:endParaRPr>
              </a:p>
            </p:txBody>
          </p:sp>
          <p:sp>
            <p:nvSpPr>
              <p:cNvPr id="90" name="Google Shape;90;p15"/>
              <p:cNvSpPr txBox="1"/>
              <p:nvPr/>
            </p:nvSpPr>
            <p:spPr>
              <a:xfrm>
                <a:off x="723900" y="19050"/>
                <a:ext cx="27051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D97706"/>
                    </a:solidFill>
                    <a:latin typeface="Roboto"/>
                    <a:ea typeface="Roboto"/>
                    <a:cs typeface="Roboto"/>
                    <a:sym typeface="Roboto"/>
                  </a:rPr>
                  <a:t>Global Impact Alignment</a:t>
                </a:r>
                <a:endParaRPr b="1" sz="1000">
                  <a:solidFill>
                    <a:srgbClr val="D97706"/>
                  </a:solidFill>
                  <a:latin typeface="Roboto"/>
                  <a:ea typeface="Roboto"/>
                  <a:cs typeface="Roboto"/>
                  <a:sym typeface="Roboto"/>
                </a:endParaRPr>
              </a:p>
            </p:txBody>
          </p:sp>
        </p:grpSp>
        <p:sp>
          <p:nvSpPr>
            <p:cNvPr id="91" name="Google Shape;91;p15"/>
            <p:cNvSpPr txBox="1"/>
            <p:nvPr/>
          </p:nvSpPr>
          <p:spPr>
            <a:xfrm>
              <a:off x="228600" y="628650"/>
              <a:ext cx="3429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63">
                  <a:solidFill>
                    <a:srgbClr val="111827"/>
                  </a:solidFill>
                  <a:latin typeface="Inter Medium"/>
                  <a:ea typeface="Inter Medium"/>
                  <a:cs typeface="Inter Medium"/>
                  <a:sym typeface="Inter Medium"/>
                </a:rPr>
                <a:t>"This approach directly aligns with the United Nations Sustainable Development Goal 16 by promoting trustworthy information ecosystems, inclusive public dialogue, and accountable media institutions."</a:t>
              </a:r>
              <a:endParaRPr b="0" i="1" sz="1163">
                <a:solidFill>
                  <a:srgbClr val="111827"/>
                </a:solidFill>
                <a:latin typeface="Inter Medium"/>
                <a:ea typeface="Inter Medium"/>
                <a:cs typeface="Inter Medium"/>
                <a:sym typeface="Inter Medium"/>
              </a:endParaRPr>
            </a:p>
          </p:txBody>
        </p:sp>
        <p:grpSp>
          <p:nvGrpSpPr>
            <p:cNvPr id="92" name="Google Shape;92;p15"/>
            <p:cNvGrpSpPr/>
            <p:nvPr/>
          </p:nvGrpSpPr>
          <p:grpSpPr>
            <a:xfrm>
              <a:off x="228600" y="1828800"/>
              <a:ext cx="3429000" cy="1371600"/>
              <a:chOff x="0" y="0"/>
              <a:chExt cx="3429000" cy="1371600"/>
            </a:xfrm>
          </p:grpSpPr>
          <p:sp>
            <p:nvSpPr>
              <p:cNvPr id="93" name="Google Shape;93;p15"/>
              <p:cNvSpPr/>
              <p:nvPr/>
            </p:nvSpPr>
            <p:spPr>
              <a:xfrm>
                <a:off x="0" y="0"/>
                <a:ext cx="34290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4" name="Google Shape;94;p15"/>
              <p:cNvGrpSpPr/>
              <p:nvPr/>
            </p:nvGrpSpPr>
            <p:grpSpPr>
              <a:xfrm>
                <a:off x="0" y="152400"/>
                <a:ext cx="3276600" cy="304800"/>
                <a:chOff x="0" y="0"/>
                <a:chExt cx="3276600" cy="304800"/>
              </a:xfrm>
            </p:grpSpPr>
            <p:sp>
              <p:nvSpPr>
                <p:cNvPr id="95" name="Google Shape;95;p15"/>
                <p:cNvSpPr/>
                <p:nvPr/>
              </p:nvSpPr>
              <p:spPr>
                <a:xfrm>
                  <a:off x="0" y="0"/>
                  <a:ext cx="304800" cy="304800"/>
                </a:xfrm>
                <a:prstGeom prst="ellipse">
                  <a:avLst/>
                </a:prstGeom>
                <a:solidFill>
                  <a:srgbClr val="0052CC">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p:nvPr/>
              </p:nvSpPr>
              <p:spPr>
                <a:xfrm>
                  <a:off x="104775" y="1143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052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419100" y="57150"/>
                  <a:ext cx="2857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0052CC"/>
                      </a:solidFill>
                      <a:latin typeface="Roboto Medium"/>
                      <a:ea typeface="Roboto Medium"/>
                      <a:cs typeface="Roboto Medium"/>
                      <a:sym typeface="Roboto Medium"/>
                    </a:rPr>
                    <a:t>Trustworthy Information Ecosystems</a:t>
                  </a:r>
                  <a:endParaRPr b="0" sz="1100">
                    <a:solidFill>
                      <a:srgbClr val="0052CC"/>
                    </a:solidFill>
                    <a:latin typeface="Roboto Medium"/>
                    <a:ea typeface="Roboto Medium"/>
                    <a:cs typeface="Roboto Medium"/>
                    <a:sym typeface="Roboto Medium"/>
                  </a:endParaRPr>
                </a:p>
              </p:txBody>
            </p:sp>
          </p:grpSp>
          <p:grpSp>
            <p:nvGrpSpPr>
              <p:cNvPr id="98" name="Google Shape;98;p15"/>
              <p:cNvGrpSpPr/>
              <p:nvPr/>
            </p:nvGrpSpPr>
            <p:grpSpPr>
              <a:xfrm>
                <a:off x="0" y="609600"/>
                <a:ext cx="3276600" cy="304800"/>
                <a:chOff x="0" y="0"/>
                <a:chExt cx="3276600" cy="304800"/>
              </a:xfrm>
            </p:grpSpPr>
            <p:sp>
              <p:nvSpPr>
                <p:cNvPr id="99" name="Google Shape;99;p15"/>
                <p:cNvSpPr/>
                <p:nvPr/>
              </p:nvSpPr>
              <p:spPr>
                <a:xfrm>
                  <a:off x="0" y="0"/>
                  <a:ext cx="304800" cy="304800"/>
                </a:xfrm>
                <a:prstGeom prst="ellipse">
                  <a:avLst/>
                </a:prstGeom>
                <a:solidFill>
                  <a:srgbClr val="0052CC">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p:nvPr/>
              </p:nvSpPr>
              <p:spPr>
                <a:xfrm>
                  <a:off x="104775" y="1143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052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txBox="1"/>
                <p:nvPr/>
              </p:nvSpPr>
              <p:spPr>
                <a:xfrm>
                  <a:off x="419100" y="57150"/>
                  <a:ext cx="2857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0052CC"/>
                      </a:solidFill>
                      <a:latin typeface="Roboto Medium"/>
                      <a:ea typeface="Roboto Medium"/>
                      <a:cs typeface="Roboto Medium"/>
                      <a:sym typeface="Roboto Medium"/>
                    </a:rPr>
                    <a:t>Inclusive Public Dialogue</a:t>
                  </a:r>
                  <a:endParaRPr b="0" sz="1100">
                    <a:solidFill>
                      <a:srgbClr val="0052CC"/>
                    </a:solidFill>
                    <a:latin typeface="Roboto Medium"/>
                    <a:ea typeface="Roboto Medium"/>
                    <a:cs typeface="Roboto Medium"/>
                    <a:sym typeface="Roboto Medium"/>
                  </a:endParaRPr>
                </a:p>
              </p:txBody>
            </p:sp>
          </p:grpSp>
          <p:grpSp>
            <p:nvGrpSpPr>
              <p:cNvPr id="102" name="Google Shape;102;p15"/>
              <p:cNvGrpSpPr/>
              <p:nvPr/>
            </p:nvGrpSpPr>
            <p:grpSpPr>
              <a:xfrm>
                <a:off x="0" y="1066800"/>
                <a:ext cx="3276600" cy="304800"/>
                <a:chOff x="0" y="0"/>
                <a:chExt cx="3276600" cy="304800"/>
              </a:xfrm>
            </p:grpSpPr>
            <p:sp>
              <p:nvSpPr>
                <p:cNvPr id="103" name="Google Shape;103;p15"/>
                <p:cNvSpPr/>
                <p:nvPr/>
              </p:nvSpPr>
              <p:spPr>
                <a:xfrm>
                  <a:off x="0" y="0"/>
                  <a:ext cx="304800" cy="304800"/>
                </a:xfrm>
                <a:prstGeom prst="ellipse">
                  <a:avLst/>
                </a:prstGeom>
                <a:solidFill>
                  <a:srgbClr val="0052CC">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5"/>
                <p:cNvSpPr/>
                <p:nvPr/>
              </p:nvSpPr>
              <p:spPr>
                <a:xfrm>
                  <a:off x="104775" y="114300"/>
                  <a:ext cx="95400" cy="66600"/>
                </a:xfrm>
                <a:custGeom>
                  <a:rect b="b" l="l" r="r" t="t"/>
                  <a:pathLst>
                    <a:path extrusionOk="0" h="120000" w="120000">
                      <a:moveTo>
                        <a:pt x="0" y="68571"/>
                      </a:moveTo>
                      <a:lnTo>
                        <a:pt x="36000" y="120000"/>
                      </a:lnTo>
                      <a:lnTo>
                        <a:pt x="120000" y="0"/>
                      </a:lnTo>
                    </a:path>
                  </a:pathLst>
                </a:custGeom>
                <a:solidFill>
                  <a:srgbClr val="000000">
                    <a:alpha val="0"/>
                  </a:srgbClr>
                </a:solidFill>
                <a:ln cap="rnd" cmpd="sng" w="19050">
                  <a:solidFill>
                    <a:srgbClr val="0052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5"/>
                <p:cNvSpPr txBox="1"/>
                <p:nvPr/>
              </p:nvSpPr>
              <p:spPr>
                <a:xfrm>
                  <a:off x="419100" y="57150"/>
                  <a:ext cx="2857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0052CC"/>
                      </a:solidFill>
                      <a:latin typeface="Roboto Medium"/>
                      <a:ea typeface="Roboto Medium"/>
                      <a:cs typeface="Roboto Medium"/>
                      <a:sym typeface="Roboto Medium"/>
                    </a:rPr>
                    <a:t>Accountable Media Institutions</a:t>
                  </a:r>
                  <a:endParaRPr b="0" sz="1100">
                    <a:solidFill>
                      <a:srgbClr val="0052CC"/>
                    </a:solidFill>
                    <a:latin typeface="Roboto Medium"/>
                    <a:ea typeface="Roboto Medium"/>
                    <a:cs typeface="Roboto Medium"/>
                    <a:sym typeface="Roboto Medium"/>
                  </a:endParaRPr>
                </a:p>
              </p:txBody>
            </p:sp>
          </p:gr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1" name="Google Shape;111;p16"/>
          <p:cNvGrpSpPr/>
          <p:nvPr/>
        </p:nvGrpSpPr>
        <p:grpSpPr>
          <a:xfrm>
            <a:off x="0" y="0"/>
            <a:ext cx="9144000" cy="38100"/>
            <a:chOff x="0" y="0"/>
            <a:chExt cx="9144000" cy="38100"/>
          </a:xfrm>
        </p:grpSpPr>
        <p:sp>
          <p:nvSpPr>
            <p:cNvPr id="112" name="Google Shape;112;p16"/>
            <p:cNvSpPr/>
            <p:nvPr/>
          </p:nvSpPr>
          <p:spPr>
            <a:xfrm>
              <a:off x="0" y="0"/>
              <a:ext cx="91440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6"/>
            <p:cNvSpPr/>
            <p:nvPr/>
          </p:nvSpPr>
          <p:spPr>
            <a:xfrm>
              <a:off x="0" y="0"/>
              <a:ext cx="1143000" cy="381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4" name="Google Shape;114;p16"/>
          <p:cNvSpPr txBox="1"/>
          <p:nvPr/>
        </p:nvSpPr>
        <p:spPr>
          <a:xfrm>
            <a:off x="457200" y="381000"/>
            <a:ext cx="82296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Inter"/>
                <a:ea typeface="Inter"/>
                <a:cs typeface="Inter"/>
                <a:sym typeface="Inter"/>
              </a:rPr>
              <a:t>End-to-End Responsible Recommendation Pipeline</a:t>
            </a:r>
            <a:endParaRPr b="1" sz="2400">
              <a:solidFill>
                <a:srgbClr val="111827"/>
              </a:solidFill>
              <a:latin typeface="Inter"/>
              <a:ea typeface="Inter"/>
              <a:cs typeface="Inter"/>
              <a:sym typeface="Inter"/>
            </a:endParaRPr>
          </a:p>
        </p:txBody>
      </p:sp>
      <p:sp>
        <p:nvSpPr>
          <p:cNvPr id="115" name="Google Shape;115;p16"/>
          <p:cNvSpPr txBox="1"/>
          <p:nvPr/>
        </p:nvSpPr>
        <p:spPr>
          <a:xfrm>
            <a:off x="457200" y="819150"/>
            <a:ext cx="8229600" cy="247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B5563"/>
                </a:solidFill>
                <a:latin typeface="Inter Medium"/>
                <a:ea typeface="Inter Medium"/>
                <a:cs typeface="Inter Medium"/>
                <a:sym typeface="Inter Medium"/>
              </a:rPr>
              <a:t>Parallel processing tracks integrate NLP persuasion detection with Graph Neural Networks for constrained ranking.</a:t>
            </a:r>
            <a:endParaRPr b="0" sz="1100">
              <a:solidFill>
                <a:srgbClr val="4B5563"/>
              </a:solidFill>
              <a:latin typeface="Inter Medium"/>
              <a:ea typeface="Inter Medium"/>
              <a:cs typeface="Inter Medium"/>
              <a:sym typeface="Inter Medium"/>
            </a:endParaRPr>
          </a:p>
        </p:txBody>
      </p:sp>
      <p:grpSp>
        <p:nvGrpSpPr>
          <p:cNvPr id="116" name="Google Shape;116;p16"/>
          <p:cNvGrpSpPr/>
          <p:nvPr/>
        </p:nvGrpSpPr>
        <p:grpSpPr>
          <a:xfrm>
            <a:off x="457200" y="1328738"/>
            <a:ext cx="8229750" cy="3152700"/>
            <a:chOff x="457200" y="1328738"/>
            <a:chExt cx="8229750" cy="3152700"/>
          </a:xfrm>
        </p:grpSpPr>
        <p:grpSp>
          <p:nvGrpSpPr>
            <p:cNvPr id="117" name="Google Shape;117;p16"/>
            <p:cNvGrpSpPr/>
            <p:nvPr/>
          </p:nvGrpSpPr>
          <p:grpSpPr>
            <a:xfrm>
              <a:off x="457200" y="1333500"/>
              <a:ext cx="1485900" cy="3143400"/>
              <a:chOff x="0" y="0"/>
              <a:chExt cx="1485900" cy="3143400"/>
            </a:xfrm>
          </p:grpSpPr>
          <p:sp>
            <p:nvSpPr>
              <p:cNvPr id="118" name="Google Shape;118;p16"/>
              <p:cNvSpPr/>
              <p:nvPr/>
            </p:nvSpPr>
            <p:spPr>
              <a:xfrm>
                <a:off x="0" y="0"/>
                <a:ext cx="1485900" cy="3143400"/>
              </a:xfrm>
              <a:prstGeom prst="roundRect">
                <a:avLst>
                  <a:gd fmla="val 5128"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0" y="0"/>
                <a:ext cx="1485900" cy="38100"/>
              </a:xfrm>
              <a:prstGeom prst="roundRect">
                <a:avLst>
                  <a:gd fmla="val 50000" name="adj"/>
                </a:avLst>
              </a:prstGeom>
              <a:solidFill>
                <a:srgbClr val="6B728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152400" y="190500"/>
                <a:ext cx="1181100" cy="2667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6B7280"/>
                    </a:solidFill>
                    <a:latin typeface="Roboto"/>
                    <a:ea typeface="Roboto"/>
                    <a:cs typeface="Roboto"/>
                    <a:sym typeface="Roboto"/>
                  </a:rPr>
                  <a:t>DATA INGESTION</a:t>
                </a:r>
                <a:endParaRPr b="1" sz="850">
                  <a:solidFill>
                    <a:srgbClr val="6B7280"/>
                  </a:solidFill>
                  <a:latin typeface="Roboto"/>
                  <a:ea typeface="Roboto"/>
                  <a:cs typeface="Roboto"/>
                  <a:sym typeface="Roboto"/>
                </a:endParaRPr>
              </a:p>
              <a:p>
                <a:pPr indent="0" lvl="0" marL="0" rtl="0" algn="ctr">
                  <a:spcBef>
                    <a:spcPts val="300"/>
                  </a:spcBef>
                  <a:spcAft>
                    <a:spcPts val="0"/>
                  </a:spcAft>
                  <a:buNone/>
                </a:pPr>
                <a:r>
                  <a:rPr b="1" lang="en" sz="1300">
                    <a:solidFill>
                      <a:srgbClr val="111827"/>
                    </a:solidFill>
                    <a:latin typeface="Roboto"/>
                    <a:ea typeface="Roboto"/>
                    <a:cs typeface="Roboto"/>
                    <a:sym typeface="Roboto"/>
                  </a:rPr>
                  <a:t>Raw Inputs</a:t>
                </a:r>
                <a:endParaRPr b="1" sz="1300">
                  <a:solidFill>
                    <a:srgbClr val="111827"/>
                  </a:solidFill>
                  <a:latin typeface="Roboto"/>
                  <a:ea typeface="Roboto"/>
                  <a:cs typeface="Roboto"/>
                  <a:sym typeface="Roboto"/>
                </a:endParaRPr>
              </a:p>
              <a:p>
                <a:pPr indent="0" lvl="0" marL="0" rtl="0" algn="ctr">
                  <a:spcBef>
                    <a:spcPts val="1200"/>
                  </a:spcBef>
                  <a:spcAft>
                    <a:spcPts val="0"/>
                  </a:spcAft>
                  <a:buNone/>
                </a:pPr>
                <a:r>
                  <a:rPr b="1" lang="en" sz="800">
                    <a:solidFill>
                      <a:srgbClr val="0052CC"/>
                    </a:solidFill>
                    <a:latin typeface="Roboto"/>
                    <a:ea typeface="Roboto"/>
                    <a:cs typeface="Roboto"/>
                    <a:sym typeface="Roboto"/>
                  </a:rPr>
                  <a:t>SOURCE 1</a:t>
                </a:r>
                <a:endParaRPr b="1" sz="800">
                  <a:solidFill>
                    <a:srgbClr val="0052CC"/>
                  </a:solidFill>
                  <a:latin typeface="Roboto"/>
                  <a:ea typeface="Roboto"/>
                  <a:cs typeface="Roboto"/>
                  <a:sym typeface="Roboto"/>
                </a:endParaRPr>
              </a:p>
              <a:p>
                <a:pPr indent="0" lvl="0" marL="0" rtl="0" algn="ctr">
                  <a:spcBef>
                    <a:spcPts val="150"/>
                  </a:spcBef>
                  <a:spcAft>
                    <a:spcPts val="0"/>
                  </a:spcAft>
                  <a:buNone/>
                </a:pPr>
                <a:r>
                  <a:rPr b="0" lang="en" sz="950">
                    <a:solidFill>
                      <a:srgbClr val="111827"/>
                    </a:solidFill>
                    <a:latin typeface="Roboto Medium"/>
                    <a:ea typeface="Roboto Medium"/>
                    <a:cs typeface="Roboto Medium"/>
                    <a:sym typeface="Roboto Medium"/>
                  </a:rPr>
                  <a:t>News Articles</a:t>
                </a:r>
                <a:endParaRPr b="0" sz="950">
                  <a:solidFill>
                    <a:srgbClr val="111827"/>
                  </a:solidFill>
                  <a:latin typeface="Roboto Medium"/>
                  <a:ea typeface="Roboto Medium"/>
                  <a:cs typeface="Roboto Medium"/>
                  <a:sym typeface="Roboto Medium"/>
                </a:endParaRPr>
              </a:p>
              <a:p>
                <a:pPr indent="0" lvl="0" marL="0" rtl="0" algn="ctr">
                  <a:spcBef>
                    <a:spcPts val="750"/>
                  </a:spcBef>
                  <a:spcAft>
                    <a:spcPts val="0"/>
                  </a:spcAft>
                  <a:buNone/>
                </a:pPr>
                <a:r>
                  <a:rPr b="1" lang="en" sz="800">
                    <a:solidFill>
                      <a:srgbClr val="0052CC"/>
                    </a:solidFill>
                    <a:latin typeface="Roboto"/>
                    <a:ea typeface="Roboto"/>
                    <a:cs typeface="Roboto"/>
                    <a:sym typeface="Roboto"/>
                  </a:rPr>
                  <a:t>SOURCE 2</a:t>
                </a:r>
                <a:endParaRPr b="1" sz="800">
                  <a:solidFill>
                    <a:srgbClr val="0052CC"/>
                  </a:solidFill>
                  <a:latin typeface="Roboto"/>
                  <a:ea typeface="Roboto"/>
                  <a:cs typeface="Roboto"/>
                  <a:sym typeface="Roboto"/>
                </a:endParaRPr>
              </a:p>
              <a:p>
                <a:pPr indent="0" lvl="0" marL="0" rtl="0" algn="ctr">
                  <a:spcBef>
                    <a:spcPts val="150"/>
                  </a:spcBef>
                  <a:spcAft>
                    <a:spcPts val="0"/>
                  </a:spcAft>
                  <a:buNone/>
                </a:pPr>
                <a:r>
                  <a:rPr b="0" lang="en" sz="950">
                    <a:solidFill>
                      <a:srgbClr val="111827"/>
                    </a:solidFill>
                    <a:latin typeface="Roboto Medium"/>
                    <a:ea typeface="Roboto Medium"/>
                    <a:cs typeface="Roboto Medium"/>
                    <a:sym typeface="Roboto Medium"/>
                  </a:rPr>
                  <a:t>User Click Logs</a:t>
                </a:r>
                <a:endParaRPr b="0" sz="950">
                  <a:solidFill>
                    <a:srgbClr val="111827"/>
                  </a:solidFill>
                  <a:latin typeface="Roboto Medium"/>
                  <a:ea typeface="Roboto Medium"/>
                  <a:cs typeface="Roboto Medium"/>
                  <a:sym typeface="Roboto Medium"/>
                </a:endParaRPr>
              </a:p>
            </p:txBody>
          </p:sp>
        </p:grpSp>
        <p:grpSp>
          <p:nvGrpSpPr>
            <p:cNvPr id="121" name="Google Shape;121;p16"/>
            <p:cNvGrpSpPr/>
            <p:nvPr/>
          </p:nvGrpSpPr>
          <p:grpSpPr>
            <a:xfrm>
              <a:off x="2247900" y="1333500"/>
              <a:ext cx="2095500" cy="1476300"/>
              <a:chOff x="0" y="0"/>
              <a:chExt cx="2095500" cy="1476300"/>
            </a:xfrm>
          </p:grpSpPr>
          <p:sp>
            <p:nvSpPr>
              <p:cNvPr id="122" name="Google Shape;122;p16"/>
              <p:cNvSpPr/>
              <p:nvPr/>
            </p:nvSpPr>
            <p:spPr>
              <a:xfrm>
                <a:off x="0" y="0"/>
                <a:ext cx="2095500" cy="1476300"/>
              </a:xfrm>
              <a:prstGeom prst="roundRect">
                <a:avLst>
                  <a:gd fmla="val 5161"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6"/>
              <p:cNvSpPr/>
              <p:nvPr/>
            </p:nvSpPr>
            <p:spPr>
              <a:xfrm>
                <a:off x="0" y="0"/>
                <a:ext cx="2095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152400" y="152400"/>
                <a:ext cx="1790700" cy="11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59E0B"/>
                    </a:solidFill>
                    <a:latin typeface="Roboto"/>
                    <a:ea typeface="Roboto"/>
                    <a:cs typeface="Roboto"/>
                    <a:sym typeface="Roboto"/>
                  </a:rPr>
                  <a:t>NLP DETECTOR TRACK</a:t>
                </a:r>
                <a:endParaRPr b="1" sz="850">
                  <a:solidFill>
                    <a:srgbClr val="F59E0B"/>
                  </a:solidFill>
                  <a:latin typeface="Roboto"/>
                  <a:ea typeface="Roboto"/>
                  <a:cs typeface="Roboto"/>
                  <a:sym typeface="Roboto"/>
                </a:endParaRPr>
              </a:p>
              <a:p>
                <a:pPr indent="0" lvl="0" marL="0" rtl="0" algn="ctr">
                  <a:spcBef>
                    <a:spcPts val="300"/>
                  </a:spcBef>
                  <a:spcAft>
                    <a:spcPts val="0"/>
                  </a:spcAft>
                  <a:buNone/>
                </a:pPr>
                <a:r>
                  <a:rPr b="1" lang="en" sz="1150">
                    <a:solidFill>
                      <a:srgbClr val="111827"/>
                    </a:solidFill>
                    <a:latin typeface="Roboto"/>
                    <a:ea typeface="Roboto"/>
                    <a:cs typeface="Roboto"/>
                    <a:sym typeface="Roboto"/>
                  </a:rPr>
                  <a:t>Fine-tuned BERT Model</a:t>
                </a:r>
                <a:endParaRPr b="1" sz="1150">
                  <a:solidFill>
                    <a:srgbClr val="111827"/>
                  </a:solidFill>
                  <a:latin typeface="Roboto"/>
                  <a:ea typeface="Roboto"/>
                  <a:cs typeface="Roboto"/>
                  <a:sym typeface="Roboto"/>
                </a:endParaRPr>
              </a:p>
              <a:p>
                <a:pPr indent="0" lvl="0" marL="0" rtl="0" algn="ctr">
                  <a:spcBef>
                    <a:spcPts val="450"/>
                  </a:spcBef>
                  <a:spcAft>
                    <a:spcPts val="0"/>
                  </a:spcAft>
                  <a:buNone/>
                </a:pPr>
                <a:r>
                  <a:rPr b="0" lang="en" sz="900">
                    <a:solidFill>
                      <a:srgbClr val="4B5563"/>
                    </a:solidFill>
                    <a:latin typeface="Roboto"/>
                    <a:ea typeface="Roboto"/>
                    <a:cs typeface="Roboto"/>
                    <a:sym typeface="Roboto"/>
                  </a:rPr>
                  <a:t>Identifies text manipulation &amp; persuasion techniques.</a:t>
                </a:r>
                <a:endParaRPr b="0" sz="900">
                  <a:solidFill>
                    <a:srgbClr val="4B5563"/>
                  </a:solidFill>
                  <a:latin typeface="Roboto"/>
                  <a:ea typeface="Roboto"/>
                  <a:cs typeface="Roboto"/>
                  <a:sym typeface="Roboto"/>
                </a:endParaRPr>
              </a:p>
            </p:txBody>
          </p:sp>
        </p:grpSp>
        <p:grpSp>
          <p:nvGrpSpPr>
            <p:cNvPr id="125" name="Google Shape;125;p16"/>
            <p:cNvGrpSpPr/>
            <p:nvPr/>
          </p:nvGrpSpPr>
          <p:grpSpPr>
            <a:xfrm>
              <a:off x="2247900" y="3000375"/>
              <a:ext cx="2095500" cy="1476300"/>
              <a:chOff x="0" y="0"/>
              <a:chExt cx="2095500" cy="1476300"/>
            </a:xfrm>
          </p:grpSpPr>
          <p:sp>
            <p:nvSpPr>
              <p:cNvPr id="126" name="Google Shape;126;p16"/>
              <p:cNvSpPr/>
              <p:nvPr/>
            </p:nvSpPr>
            <p:spPr>
              <a:xfrm>
                <a:off x="0" y="0"/>
                <a:ext cx="2095500" cy="1476300"/>
              </a:xfrm>
              <a:prstGeom prst="roundRect">
                <a:avLst>
                  <a:gd fmla="val 5161"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p:nvPr/>
            </p:nvSpPr>
            <p:spPr>
              <a:xfrm>
                <a:off x="0" y="0"/>
                <a:ext cx="2095500" cy="38100"/>
              </a:xfrm>
              <a:prstGeom prst="roundRect">
                <a:avLst>
                  <a:gd fmla="val 50000" name="adj"/>
                </a:avLst>
              </a:prstGeom>
              <a:solidFill>
                <a:srgbClr val="00B8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6"/>
              <p:cNvSpPr txBox="1"/>
              <p:nvPr/>
            </p:nvSpPr>
            <p:spPr>
              <a:xfrm>
                <a:off x="152400" y="152400"/>
                <a:ext cx="1790700" cy="11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00B8D9"/>
                    </a:solidFill>
                    <a:latin typeface="Roboto"/>
                    <a:ea typeface="Roboto"/>
                    <a:cs typeface="Roboto"/>
                    <a:sym typeface="Roboto"/>
                  </a:rPr>
                  <a:t>GRAPH NEURAL NETWORK</a:t>
                </a:r>
                <a:endParaRPr b="1" sz="850">
                  <a:solidFill>
                    <a:srgbClr val="00B8D9"/>
                  </a:solidFill>
                  <a:latin typeface="Roboto"/>
                  <a:ea typeface="Roboto"/>
                  <a:cs typeface="Roboto"/>
                  <a:sym typeface="Roboto"/>
                </a:endParaRPr>
              </a:p>
              <a:p>
                <a:pPr indent="0" lvl="0" marL="0" rtl="0" algn="ctr">
                  <a:spcBef>
                    <a:spcPts val="300"/>
                  </a:spcBef>
                  <a:spcAft>
                    <a:spcPts val="0"/>
                  </a:spcAft>
                  <a:buNone/>
                </a:pPr>
                <a:r>
                  <a:rPr b="1" lang="en" sz="1150">
                    <a:solidFill>
                      <a:srgbClr val="111827"/>
                    </a:solidFill>
                    <a:latin typeface="Roboto"/>
                    <a:ea typeface="Roboto"/>
                    <a:cs typeface="Roboto"/>
                    <a:sym typeface="Roboto"/>
                  </a:rPr>
                  <a:t>Heterogeneous Graph</a:t>
                </a:r>
                <a:endParaRPr b="1" sz="1150">
                  <a:solidFill>
                    <a:srgbClr val="111827"/>
                  </a:solidFill>
                  <a:latin typeface="Roboto"/>
                  <a:ea typeface="Roboto"/>
                  <a:cs typeface="Roboto"/>
                  <a:sym typeface="Roboto"/>
                </a:endParaRPr>
              </a:p>
              <a:p>
                <a:pPr indent="0" lvl="0" marL="0" rtl="0" algn="ctr">
                  <a:spcBef>
                    <a:spcPts val="450"/>
                  </a:spcBef>
                  <a:spcAft>
                    <a:spcPts val="0"/>
                  </a:spcAft>
                  <a:buNone/>
                </a:pPr>
                <a:r>
                  <a:rPr b="0" lang="en" sz="900">
                    <a:solidFill>
                      <a:srgbClr val="4B5563"/>
                    </a:solidFill>
                    <a:latin typeface="Roboto"/>
                    <a:ea typeface="Roboto"/>
                    <a:cs typeface="Roboto"/>
                    <a:sym typeface="Roboto"/>
                  </a:rPr>
                  <a:t>Extracts entities to encode user interests, topics &amp; graph features.</a:t>
                </a:r>
                <a:endParaRPr b="0" sz="900">
                  <a:solidFill>
                    <a:srgbClr val="4B5563"/>
                  </a:solidFill>
                  <a:latin typeface="Roboto"/>
                  <a:ea typeface="Roboto"/>
                  <a:cs typeface="Roboto"/>
                  <a:sym typeface="Roboto"/>
                </a:endParaRPr>
              </a:p>
            </p:txBody>
          </p:sp>
        </p:grpSp>
        <p:grpSp>
          <p:nvGrpSpPr>
            <p:cNvPr id="129" name="Google Shape;129;p16"/>
            <p:cNvGrpSpPr/>
            <p:nvPr/>
          </p:nvGrpSpPr>
          <p:grpSpPr>
            <a:xfrm>
              <a:off x="4643438" y="1328738"/>
              <a:ext cx="2085900" cy="3152700"/>
              <a:chOff x="-4762" y="-4762"/>
              <a:chExt cx="2085900" cy="3152700"/>
            </a:xfrm>
          </p:grpSpPr>
          <p:pic>
            <p:nvPicPr>
              <p:cNvPr id="130" name="Google Shape;130;p16"/>
              <p:cNvPicPr preferRelativeResize="0"/>
              <p:nvPr/>
            </p:nvPicPr>
            <p:blipFill rotWithShape="1">
              <a:blip r:embed="rId3">
                <a:alphaModFix/>
              </a:blip>
              <a:srcRect b="0" l="0" r="0" t="0"/>
              <a:stretch/>
            </p:blipFill>
            <p:spPr>
              <a:xfrm>
                <a:off x="-4762" y="-4762"/>
                <a:ext cx="2085900" cy="3152700"/>
              </a:xfrm>
              <a:prstGeom prst="rect">
                <a:avLst/>
              </a:prstGeom>
              <a:noFill/>
              <a:ln>
                <a:noFill/>
              </a:ln>
            </p:spPr>
          </p:pic>
          <p:sp>
            <p:nvSpPr>
              <p:cNvPr id="131" name="Google Shape;131;p16"/>
              <p:cNvSpPr/>
              <p:nvPr/>
            </p:nvSpPr>
            <p:spPr>
              <a:xfrm>
                <a:off x="0" y="0"/>
                <a:ext cx="2076600" cy="38100"/>
              </a:xfrm>
              <a:prstGeom prst="roundRect">
                <a:avLst>
                  <a:gd fmla="val 50000" name="adj"/>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6"/>
              <p:cNvSpPr txBox="1"/>
              <p:nvPr/>
            </p:nvSpPr>
            <p:spPr>
              <a:xfrm>
                <a:off x="152400" y="190500"/>
                <a:ext cx="1771800" cy="276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0052CC"/>
                    </a:solidFill>
                    <a:latin typeface="Roboto"/>
                    <a:ea typeface="Roboto"/>
                    <a:cs typeface="Roboto"/>
                    <a:sym typeface="Roboto"/>
                  </a:rPr>
                  <a:t>CORE ENGINE</a:t>
                </a:r>
                <a:endParaRPr b="1" sz="850">
                  <a:solidFill>
                    <a:srgbClr val="0052CC"/>
                  </a:solidFill>
                  <a:latin typeface="Roboto"/>
                  <a:ea typeface="Roboto"/>
                  <a:cs typeface="Roboto"/>
                  <a:sym typeface="Roboto"/>
                </a:endParaRPr>
              </a:p>
              <a:p>
                <a:pPr indent="0" lvl="0" marL="0" rtl="0" algn="ctr">
                  <a:spcBef>
                    <a:spcPts val="300"/>
                  </a:spcBef>
                  <a:spcAft>
                    <a:spcPts val="0"/>
                  </a:spcAft>
                  <a:buNone/>
                </a:pPr>
                <a:r>
                  <a:rPr b="1" lang="en" sz="1300">
                    <a:solidFill>
                      <a:srgbClr val="0052CC"/>
                    </a:solidFill>
                    <a:latin typeface="Roboto"/>
                    <a:ea typeface="Roboto"/>
                    <a:cs typeface="Roboto"/>
                    <a:sym typeface="Roboto"/>
                  </a:rPr>
                  <a:t>Responsible Ranking</a:t>
                </a:r>
                <a:endParaRPr b="1" sz="1300">
                  <a:solidFill>
                    <a:srgbClr val="0052CC"/>
                  </a:solidFill>
                  <a:latin typeface="Roboto"/>
                  <a:ea typeface="Roboto"/>
                  <a:cs typeface="Roboto"/>
                  <a:sym typeface="Roboto"/>
                </a:endParaRPr>
              </a:p>
              <a:p>
                <a:pPr indent="0" lvl="0" marL="0" rtl="0" algn="ctr">
                  <a:spcBef>
                    <a:spcPts val="150"/>
                  </a:spcBef>
                  <a:spcAft>
                    <a:spcPts val="0"/>
                  </a:spcAft>
                  <a:buNone/>
                </a:pPr>
                <a:r>
                  <a:rPr b="1" lang="en" sz="1000">
                    <a:solidFill>
                      <a:srgbClr val="111827"/>
                    </a:solidFill>
                    <a:latin typeface="Roboto"/>
                    <a:ea typeface="Roboto"/>
                    <a:cs typeface="Roboto"/>
                    <a:sym typeface="Roboto"/>
                  </a:rPr>
                  <a:t>Joint Optimization</a:t>
                </a:r>
                <a:endParaRPr b="1" sz="1000">
                  <a:solidFill>
                    <a:srgbClr val="111827"/>
                  </a:solidFill>
                  <a:latin typeface="Roboto"/>
                  <a:ea typeface="Roboto"/>
                  <a:cs typeface="Roboto"/>
                  <a:sym typeface="Roboto"/>
                </a:endParaRPr>
              </a:p>
              <a:p>
                <a:pPr indent="0" lvl="0" marL="0" rtl="0" algn="ctr">
                  <a:spcBef>
                    <a:spcPts val="900"/>
                  </a:spcBef>
                  <a:spcAft>
                    <a:spcPts val="0"/>
                  </a:spcAft>
                  <a:buNone/>
                </a:pPr>
                <a:r>
                  <a:rPr b="0" lang="en" sz="950">
                    <a:solidFill>
                      <a:srgbClr val="4B5563"/>
                    </a:solidFill>
                    <a:latin typeface="Roboto"/>
                    <a:ea typeface="Roboto"/>
                    <a:cs typeface="Roboto"/>
                    <a:sym typeface="Roboto"/>
                  </a:rPr>
                  <a:t>Balances relevance metrics against persuasion risk signals.</a:t>
                </a:r>
                <a:endParaRPr b="0" sz="950">
                  <a:solidFill>
                    <a:srgbClr val="4B5563"/>
                  </a:solidFill>
                  <a:latin typeface="Roboto"/>
                  <a:ea typeface="Roboto"/>
                  <a:cs typeface="Roboto"/>
                  <a:sym typeface="Roboto"/>
                </a:endParaRPr>
              </a:p>
              <a:p>
                <a:pPr indent="0" lvl="0" marL="0" rtl="0" algn="ctr">
                  <a:spcBef>
                    <a:spcPts val="1200"/>
                  </a:spcBef>
                  <a:spcAft>
                    <a:spcPts val="0"/>
                  </a:spcAft>
                  <a:buNone/>
                </a:pPr>
                <a:r>
                  <a:rPr b="1" lang="en" sz="850">
                    <a:solidFill>
                      <a:srgbClr val="111827"/>
                    </a:solidFill>
                    <a:latin typeface="Roboto"/>
                    <a:ea typeface="Roboto"/>
                    <a:cs typeface="Roboto"/>
                    <a:sym typeface="Roboto"/>
                  </a:rPr>
                  <a:t>• Relevance Metrics</a:t>
                </a:r>
                <a:endParaRPr b="1" sz="850">
                  <a:solidFill>
                    <a:srgbClr val="111827"/>
                  </a:solidFill>
                  <a:latin typeface="Roboto"/>
                  <a:ea typeface="Roboto"/>
                  <a:cs typeface="Roboto"/>
                  <a:sym typeface="Roboto"/>
                </a:endParaRPr>
              </a:p>
              <a:p>
                <a:pPr indent="0" lvl="0" marL="0" rtl="0" algn="ctr">
                  <a:spcBef>
                    <a:spcPts val="150"/>
                  </a:spcBef>
                  <a:spcAft>
                    <a:spcPts val="0"/>
                  </a:spcAft>
                  <a:buNone/>
                </a:pPr>
                <a:r>
                  <a:rPr lang="en" sz="800">
                    <a:solidFill>
                      <a:srgbClr val="6B7280"/>
                    </a:solidFill>
                    <a:latin typeface="Roboto"/>
                    <a:ea typeface="Roboto"/>
                    <a:cs typeface="Roboto"/>
                    <a:sym typeface="Roboto"/>
                  </a:rPr>
                  <a:t>User Interest Alignment</a:t>
                </a:r>
                <a:endParaRPr sz="800">
                  <a:solidFill>
                    <a:srgbClr val="6B7280"/>
                  </a:solidFill>
                  <a:latin typeface="Roboto"/>
                  <a:ea typeface="Roboto"/>
                  <a:cs typeface="Roboto"/>
                  <a:sym typeface="Roboto"/>
                </a:endParaRPr>
              </a:p>
              <a:p>
                <a:pPr indent="0" lvl="0" marL="0" rtl="0" algn="ctr">
                  <a:spcBef>
                    <a:spcPts val="600"/>
                  </a:spcBef>
                  <a:spcAft>
                    <a:spcPts val="0"/>
                  </a:spcAft>
                  <a:buNone/>
                </a:pPr>
                <a:r>
                  <a:rPr b="1" lang="en" sz="850">
                    <a:solidFill>
                      <a:srgbClr val="111827"/>
                    </a:solidFill>
                    <a:latin typeface="Roboto"/>
                    <a:ea typeface="Roboto"/>
                    <a:cs typeface="Roboto"/>
                    <a:sym typeface="Roboto"/>
                  </a:rPr>
                  <a:t>• Risk Penalties</a:t>
                </a:r>
                <a:endParaRPr b="1" sz="850">
                  <a:solidFill>
                    <a:srgbClr val="111827"/>
                  </a:solidFill>
                  <a:latin typeface="Roboto"/>
                  <a:ea typeface="Roboto"/>
                  <a:cs typeface="Roboto"/>
                  <a:sym typeface="Roboto"/>
                </a:endParaRPr>
              </a:p>
              <a:p>
                <a:pPr indent="0" lvl="0" marL="0" rtl="0" algn="ctr">
                  <a:spcBef>
                    <a:spcPts val="150"/>
                  </a:spcBef>
                  <a:spcAft>
                    <a:spcPts val="0"/>
                  </a:spcAft>
                  <a:buNone/>
                </a:pPr>
                <a:r>
                  <a:rPr lang="en" sz="800">
                    <a:solidFill>
                      <a:srgbClr val="6B7280"/>
                    </a:solidFill>
                    <a:latin typeface="Roboto"/>
                    <a:ea typeface="Roboto"/>
                    <a:cs typeface="Roboto"/>
                    <a:sym typeface="Roboto"/>
                  </a:rPr>
                  <a:t>Persuasion Suppression</a:t>
                </a:r>
                <a:endParaRPr sz="800">
                  <a:solidFill>
                    <a:srgbClr val="6B7280"/>
                  </a:solidFill>
                  <a:latin typeface="Roboto"/>
                  <a:ea typeface="Roboto"/>
                  <a:cs typeface="Roboto"/>
                  <a:sym typeface="Roboto"/>
                </a:endParaRPr>
              </a:p>
            </p:txBody>
          </p:sp>
        </p:grpSp>
        <p:grpSp>
          <p:nvGrpSpPr>
            <p:cNvPr id="133" name="Google Shape;133;p16"/>
            <p:cNvGrpSpPr/>
            <p:nvPr/>
          </p:nvGrpSpPr>
          <p:grpSpPr>
            <a:xfrm>
              <a:off x="7029450" y="1333500"/>
              <a:ext cx="1657500" cy="3143400"/>
              <a:chOff x="0" y="0"/>
              <a:chExt cx="1657500" cy="3143400"/>
            </a:xfrm>
          </p:grpSpPr>
          <p:sp>
            <p:nvSpPr>
              <p:cNvPr id="134" name="Google Shape;134;p16"/>
              <p:cNvSpPr/>
              <p:nvPr/>
            </p:nvSpPr>
            <p:spPr>
              <a:xfrm>
                <a:off x="0" y="0"/>
                <a:ext cx="1657500" cy="3143400"/>
              </a:xfrm>
              <a:prstGeom prst="roundRect">
                <a:avLst>
                  <a:gd fmla="val 459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6"/>
              <p:cNvSpPr/>
              <p:nvPr/>
            </p:nvSpPr>
            <p:spPr>
              <a:xfrm>
                <a:off x="0" y="0"/>
                <a:ext cx="1657500" cy="38100"/>
              </a:xfrm>
              <a:prstGeom prst="roundRect">
                <a:avLst>
                  <a:gd fmla="val 50000" name="adj"/>
                </a:avLst>
              </a:prstGeom>
              <a:solidFill>
                <a:srgbClr val="11182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152400" y="190500"/>
                <a:ext cx="1352700" cy="2667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111827"/>
                    </a:solidFill>
                    <a:latin typeface="Roboto"/>
                    <a:ea typeface="Roboto"/>
                    <a:cs typeface="Roboto"/>
                    <a:sym typeface="Roboto"/>
                  </a:rPr>
                  <a:t>DELIVERY</a:t>
                </a:r>
                <a:endParaRPr b="1" sz="850">
                  <a:solidFill>
                    <a:srgbClr val="111827"/>
                  </a:solidFill>
                  <a:latin typeface="Roboto"/>
                  <a:ea typeface="Roboto"/>
                  <a:cs typeface="Roboto"/>
                  <a:sym typeface="Roboto"/>
                </a:endParaRPr>
              </a:p>
              <a:p>
                <a:pPr indent="0" lvl="0" marL="0" rtl="0" algn="ctr">
                  <a:spcBef>
                    <a:spcPts val="300"/>
                  </a:spcBef>
                  <a:spcAft>
                    <a:spcPts val="0"/>
                  </a:spcAft>
                  <a:buNone/>
                </a:pPr>
                <a:r>
                  <a:rPr b="1" lang="en" sz="1300">
                    <a:solidFill>
                      <a:srgbClr val="111827"/>
                    </a:solidFill>
                    <a:latin typeface="Roboto"/>
                    <a:ea typeface="Roboto"/>
                    <a:cs typeface="Roboto"/>
                    <a:sym typeface="Roboto"/>
                  </a:rPr>
                  <a:t>Final Output</a:t>
                </a:r>
                <a:endParaRPr b="1" sz="1300">
                  <a:solidFill>
                    <a:srgbClr val="111827"/>
                  </a:solidFill>
                  <a:latin typeface="Roboto"/>
                  <a:ea typeface="Roboto"/>
                  <a:cs typeface="Roboto"/>
                  <a:sym typeface="Roboto"/>
                </a:endParaRPr>
              </a:p>
              <a:p>
                <a:pPr indent="0" lvl="0" marL="0" rtl="0" algn="ctr">
                  <a:spcBef>
                    <a:spcPts val="1200"/>
                  </a:spcBef>
                  <a:spcAft>
                    <a:spcPts val="0"/>
                  </a:spcAft>
                  <a:buNone/>
                </a:pPr>
                <a:r>
                  <a:rPr b="1" lang="en" sz="1050">
                    <a:solidFill>
                      <a:srgbClr val="15803D"/>
                    </a:solidFill>
                    <a:latin typeface="Roboto"/>
                    <a:ea typeface="Roboto"/>
                    <a:cs typeface="Roboto"/>
                    <a:sym typeface="Roboto"/>
                  </a:rPr>
                  <a:t>Constrained List</a:t>
                </a:r>
                <a:endParaRPr b="1" sz="1050">
                  <a:solidFill>
                    <a:srgbClr val="15803D"/>
                  </a:solidFill>
                  <a:latin typeface="Roboto"/>
                  <a:ea typeface="Roboto"/>
                  <a:cs typeface="Roboto"/>
                  <a:sym typeface="Roboto"/>
                </a:endParaRPr>
              </a:p>
              <a:p>
                <a:pPr indent="0" lvl="0" marL="0" rtl="0" algn="ctr">
                  <a:spcBef>
                    <a:spcPts val="450"/>
                  </a:spcBef>
                  <a:spcAft>
                    <a:spcPts val="0"/>
                  </a:spcAft>
                  <a:buNone/>
                </a:pPr>
                <a:r>
                  <a:rPr b="0" lang="en" sz="850">
                    <a:solidFill>
                      <a:srgbClr val="166534"/>
                    </a:solidFill>
                    <a:latin typeface="Roboto"/>
                    <a:ea typeface="Roboto"/>
                    <a:cs typeface="Roboto"/>
                    <a:sym typeface="Roboto"/>
                  </a:rPr>
                  <a:t>Actively filtered against manipulation signals.</a:t>
                </a:r>
                <a:endParaRPr b="0" sz="850">
                  <a:solidFill>
                    <a:srgbClr val="166534"/>
                  </a:solidFill>
                  <a:latin typeface="Roboto"/>
                  <a:ea typeface="Roboto"/>
                  <a:cs typeface="Roboto"/>
                  <a:sym typeface="Roboto"/>
                </a:endParaRPr>
              </a:p>
            </p:txBody>
          </p:sp>
        </p:grpSp>
        <p:grpSp>
          <p:nvGrpSpPr>
            <p:cNvPr id="137" name="Google Shape;137;p16"/>
            <p:cNvGrpSpPr/>
            <p:nvPr/>
          </p:nvGrpSpPr>
          <p:grpSpPr>
            <a:xfrm>
              <a:off x="1905000" y="2028825"/>
              <a:ext cx="5124450" cy="1743075"/>
              <a:chOff x="1905000" y="2028825"/>
              <a:chExt cx="5124450" cy="1743075"/>
            </a:xfrm>
          </p:grpSpPr>
          <p:sp>
            <p:nvSpPr>
              <p:cNvPr id="138" name="Google Shape;138;p16"/>
              <p:cNvSpPr/>
              <p:nvPr/>
            </p:nvSpPr>
            <p:spPr>
              <a:xfrm>
                <a:off x="1943100" y="2066925"/>
                <a:ext cx="247800" cy="647700"/>
              </a:xfrm>
              <a:custGeom>
                <a:rect b="b" l="l" r="r" t="t"/>
                <a:pathLst>
                  <a:path extrusionOk="0" h="120000" w="120000">
                    <a:moveTo>
                      <a:pt x="0" y="120000"/>
                    </a:moveTo>
                    <a:lnTo>
                      <a:pt x="73846" y="120000"/>
                    </a:lnTo>
                    <a:lnTo>
                      <a:pt x="73846" y="0"/>
                    </a:lnTo>
                    <a:lnTo>
                      <a:pt x="120000" y="0"/>
                    </a:lnTo>
                  </a:path>
                </a:pathLst>
              </a:custGeom>
              <a:solidFill>
                <a:srgbClr val="000000">
                  <a:alpha val="0"/>
                </a:srgbClr>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p:nvPr/>
            </p:nvSpPr>
            <p:spPr>
              <a:xfrm>
                <a:off x="2171700" y="2028825"/>
                <a:ext cx="76200" cy="76200"/>
              </a:xfrm>
              <a:custGeom>
                <a:rect b="b" l="l" r="r" t="t"/>
                <a:pathLst>
                  <a:path extrusionOk="0" h="120000" w="120000">
                    <a:moveTo>
                      <a:pt x="120000" y="60000"/>
                    </a:moveTo>
                    <a:lnTo>
                      <a:pt x="0" y="0"/>
                    </a:lnTo>
                    <a:lnTo>
                      <a:pt x="0" y="120000"/>
                    </a:lnTo>
                    <a:close/>
                  </a:path>
                </a:pathLst>
              </a:cu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6"/>
              <p:cNvSpPr/>
              <p:nvPr/>
            </p:nvSpPr>
            <p:spPr>
              <a:xfrm>
                <a:off x="1943100" y="3095625"/>
                <a:ext cx="247800" cy="638100"/>
              </a:xfrm>
              <a:custGeom>
                <a:rect b="b" l="l" r="r" t="t"/>
                <a:pathLst>
                  <a:path extrusionOk="0" h="120000" w="120000">
                    <a:moveTo>
                      <a:pt x="0" y="0"/>
                    </a:moveTo>
                    <a:lnTo>
                      <a:pt x="73846" y="0"/>
                    </a:lnTo>
                    <a:lnTo>
                      <a:pt x="73846" y="120000"/>
                    </a:lnTo>
                    <a:lnTo>
                      <a:pt x="120000" y="120000"/>
                    </a:lnTo>
                  </a:path>
                </a:pathLst>
              </a:custGeom>
              <a:solidFill>
                <a:srgbClr val="000000">
                  <a:alpha val="0"/>
                </a:srgbClr>
              </a:solidFill>
              <a:ln cap="flat" cmpd="sng" w="19050">
                <a:solidFill>
                  <a:srgbClr val="00B8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6"/>
              <p:cNvSpPr/>
              <p:nvPr/>
            </p:nvSpPr>
            <p:spPr>
              <a:xfrm>
                <a:off x="2171700" y="3695700"/>
                <a:ext cx="76200" cy="76200"/>
              </a:xfrm>
              <a:custGeom>
                <a:rect b="b" l="l" r="r" t="t"/>
                <a:pathLst>
                  <a:path extrusionOk="0" h="120000" w="120000">
                    <a:moveTo>
                      <a:pt x="120000" y="60000"/>
                    </a:moveTo>
                    <a:lnTo>
                      <a:pt x="0" y="0"/>
                    </a:lnTo>
                    <a:lnTo>
                      <a:pt x="0" y="120000"/>
                    </a:lnTo>
                    <a:close/>
                  </a:path>
                </a:pathLst>
              </a:custGeom>
              <a:solidFill>
                <a:srgbClr val="00B8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p:nvPr/>
            </p:nvSpPr>
            <p:spPr>
              <a:xfrm>
                <a:off x="4343400" y="2066925"/>
                <a:ext cx="247800" cy="647700"/>
              </a:xfrm>
              <a:custGeom>
                <a:rect b="b" l="l" r="r" t="t"/>
                <a:pathLst>
                  <a:path extrusionOk="0" h="120000" w="120000">
                    <a:moveTo>
                      <a:pt x="0" y="0"/>
                    </a:moveTo>
                    <a:lnTo>
                      <a:pt x="73846" y="0"/>
                    </a:lnTo>
                    <a:lnTo>
                      <a:pt x="73846" y="120000"/>
                    </a:lnTo>
                    <a:lnTo>
                      <a:pt x="120000" y="120000"/>
                    </a:lnTo>
                  </a:path>
                </a:pathLst>
              </a:custGeom>
              <a:solidFill>
                <a:srgbClr val="000000">
                  <a:alpha val="0"/>
                </a:srgbClr>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6"/>
              <p:cNvSpPr/>
              <p:nvPr/>
            </p:nvSpPr>
            <p:spPr>
              <a:xfrm>
                <a:off x="4572000" y="2676525"/>
                <a:ext cx="76200" cy="76200"/>
              </a:xfrm>
              <a:custGeom>
                <a:rect b="b" l="l" r="r" t="t"/>
                <a:pathLst>
                  <a:path extrusionOk="0" h="120000" w="120000">
                    <a:moveTo>
                      <a:pt x="120000" y="60000"/>
                    </a:moveTo>
                    <a:lnTo>
                      <a:pt x="0" y="0"/>
                    </a:lnTo>
                    <a:lnTo>
                      <a:pt x="0" y="120000"/>
                    </a:lnTo>
                    <a:close/>
                  </a:path>
                </a:pathLst>
              </a:cu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6"/>
              <p:cNvSpPr/>
              <p:nvPr/>
            </p:nvSpPr>
            <p:spPr>
              <a:xfrm>
                <a:off x="4343400" y="3095625"/>
                <a:ext cx="247800" cy="638100"/>
              </a:xfrm>
              <a:custGeom>
                <a:rect b="b" l="l" r="r" t="t"/>
                <a:pathLst>
                  <a:path extrusionOk="0" h="120000" w="120000">
                    <a:moveTo>
                      <a:pt x="0" y="120000"/>
                    </a:moveTo>
                    <a:lnTo>
                      <a:pt x="73846" y="120000"/>
                    </a:lnTo>
                    <a:lnTo>
                      <a:pt x="73846" y="0"/>
                    </a:lnTo>
                    <a:lnTo>
                      <a:pt x="120000" y="0"/>
                    </a:lnTo>
                  </a:path>
                </a:pathLst>
              </a:custGeom>
              <a:solidFill>
                <a:srgbClr val="000000">
                  <a:alpha val="0"/>
                </a:srgbClr>
              </a:solidFill>
              <a:ln cap="flat" cmpd="sng" w="19050">
                <a:solidFill>
                  <a:srgbClr val="00B8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p:nvPr/>
            </p:nvSpPr>
            <p:spPr>
              <a:xfrm>
                <a:off x="4572000" y="3057525"/>
                <a:ext cx="76200" cy="76200"/>
              </a:xfrm>
              <a:custGeom>
                <a:rect b="b" l="l" r="r" t="t"/>
                <a:pathLst>
                  <a:path extrusionOk="0" h="120000" w="120000">
                    <a:moveTo>
                      <a:pt x="120000" y="60000"/>
                    </a:moveTo>
                    <a:lnTo>
                      <a:pt x="0" y="0"/>
                    </a:lnTo>
                    <a:lnTo>
                      <a:pt x="0" y="120000"/>
                    </a:lnTo>
                    <a:close/>
                  </a:path>
                </a:pathLst>
              </a:custGeom>
              <a:solidFill>
                <a:srgbClr val="00B8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6"/>
              <p:cNvSpPr/>
              <p:nvPr/>
            </p:nvSpPr>
            <p:spPr>
              <a:xfrm>
                <a:off x="6724650" y="2905125"/>
                <a:ext cx="247800" cy="0"/>
              </a:xfrm>
              <a:custGeom>
                <a:rect b="b" l="l" r="r" t="t"/>
                <a:pathLst>
                  <a:path extrusionOk="0" h="120000" w="120000">
                    <a:moveTo>
                      <a:pt x="0" y="0"/>
                    </a:moveTo>
                    <a:lnTo>
                      <a:pt x="120000" y="0"/>
                    </a:lnTo>
                  </a:path>
                </a:pathLst>
              </a:custGeom>
              <a:solidFill>
                <a:srgbClr val="000000">
                  <a:alpha val="0"/>
                </a:srgbClr>
              </a:solidFill>
              <a:ln cap="flat" cmpd="sng" w="19050">
                <a:solidFill>
                  <a:srgbClr val="0052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6"/>
              <p:cNvSpPr/>
              <p:nvPr/>
            </p:nvSpPr>
            <p:spPr>
              <a:xfrm>
                <a:off x="6953250" y="2867025"/>
                <a:ext cx="76200" cy="76200"/>
              </a:xfrm>
              <a:custGeom>
                <a:rect b="b" l="l" r="r" t="t"/>
                <a:pathLst>
                  <a:path extrusionOk="0" h="120000" w="120000">
                    <a:moveTo>
                      <a:pt x="120000" y="60000"/>
                    </a:moveTo>
                    <a:lnTo>
                      <a:pt x="0" y="0"/>
                    </a:lnTo>
                    <a:lnTo>
                      <a:pt x="0" y="120000"/>
                    </a:lnTo>
                    <a:close/>
                  </a:path>
                </a:pathLst>
              </a:cu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6"/>
              <p:cNvSpPr/>
              <p:nvPr/>
            </p:nvSpPr>
            <p:spPr>
              <a:xfrm>
                <a:off x="1905000" y="2867025"/>
                <a:ext cx="76200" cy="76200"/>
              </a:xfrm>
              <a:prstGeom prst="ellipse">
                <a:avLst/>
              </a:prstGeom>
              <a:solidFill>
                <a:srgbClr val="6B728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grpSp>
        <p:nvGrpSpPr>
          <p:cNvPr id="153" name="Google Shape;153;p17"/>
          <p:cNvGrpSpPr/>
          <p:nvPr/>
        </p:nvGrpSpPr>
        <p:grpSpPr>
          <a:xfrm>
            <a:off x="0" y="0"/>
            <a:ext cx="9144000" cy="5143500"/>
            <a:chOff x="0" y="0"/>
            <a:chExt cx="9144000" cy="5143500"/>
          </a:xfrm>
        </p:grpSpPr>
        <p:sp>
          <p:nvSpPr>
            <p:cNvPr id="154" name="Google Shape;154;p17"/>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5" name="Google Shape;155;p17"/>
            <p:cNvPicPr preferRelativeResize="0"/>
            <p:nvPr/>
          </p:nvPicPr>
          <p:blipFill rotWithShape="1">
            <a:blip r:embed="rId3">
              <a:alphaModFix/>
            </a:blip>
            <a:srcRect b="0" l="0" r="0" t="0"/>
            <a:stretch/>
          </p:blipFill>
          <p:spPr>
            <a:xfrm>
              <a:off x="4281488" y="457200"/>
              <a:ext cx="9600" cy="4229100"/>
            </a:xfrm>
            <a:prstGeom prst="rect">
              <a:avLst/>
            </a:prstGeom>
            <a:noFill/>
            <a:ln>
              <a:noFill/>
            </a:ln>
          </p:spPr>
        </p:pic>
      </p:grpSp>
      <p:sp>
        <p:nvSpPr>
          <p:cNvPr id="156" name="Google Shape;156;p17"/>
          <p:cNvSpPr txBox="1"/>
          <p:nvPr/>
        </p:nvSpPr>
        <p:spPr>
          <a:xfrm>
            <a:off x="457200" y="381000"/>
            <a:ext cx="82296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111827"/>
                </a:solidFill>
                <a:latin typeface="Inter"/>
                <a:ea typeface="Inter"/>
                <a:cs typeface="Inter"/>
                <a:sym typeface="Inter"/>
              </a:rPr>
              <a:t>RespNews Rhetoric Detection &amp; Profiling</a:t>
            </a:r>
            <a:endParaRPr b="1" sz="2800">
              <a:solidFill>
                <a:srgbClr val="111827"/>
              </a:solidFill>
              <a:latin typeface="Inter"/>
              <a:ea typeface="Inter"/>
              <a:cs typeface="Inter"/>
              <a:sym typeface="Inter"/>
            </a:endParaRPr>
          </a:p>
        </p:txBody>
      </p:sp>
      <p:grpSp>
        <p:nvGrpSpPr>
          <p:cNvPr id="157" name="Google Shape;157;p17"/>
          <p:cNvGrpSpPr/>
          <p:nvPr/>
        </p:nvGrpSpPr>
        <p:grpSpPr>
          <a:xfrm>
            <a:off x="457200" y="1000125"/>
            <a:ext cx="3600600" cy="3667200"/>
            <a:chOff x="0" y="0"/>
            <a:chExt cx="3600600" cy="3667200"/>
          </a:xfrm>
        </p:grpSpPr>
        <p:sp>
          <p:nvSpPr>
            <p:cNvPr id="158" name="Google Shape;158;p17"/>
            <p:cNvSpPr/>
            <p:nvPr/>
          </p:nvSpPr>
          <p:spPr>
            <a:xfrm>
              <a:off x="0" y="0"/>
              <a:ext cx="3600600" cy="3667200"/>
            </a:xfrm>
            <a:prstGeom prst="rect">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a:p>
          </p:txBody>
        </p:sp>
        <p:sp>
          <p:nvSpPr>
            <p:cNvPr id="159" name="Google Shape;159;p17"/>
            <p:cNvSpPr/>
            <p:nvPr/>
          </p:nvSpPr>
          <p:spPr>
            <a:xfrm>
              <a:off x="0" y="0"/>
              <a:ext cx="3600600" cy="38100"/>
            </a:xfrm>
            <a:prstGeom prst="rect">
              <a:avLst/>
            </a:prstGeom>
            <a:solidFill>
              <a:srgbClr val="0052CC"/>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a:p>
          </p:txBody>
        </p:sp>
        <p:sp>
          <p:nvSpPr>
            <p:cNvPr id="160" name="Google Shape;160;p17"/>
            <p:cNvSpPr txBox="1"/>
            <p:nvPr/>
          </p:nvSpPr>
          <p:spPr>
            <a:xfrm>
              <a:off x="228600" y="190500"/>
              <a:ext cx="31434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0052CC"/>
                  </a:solidFill>
                  <a:latin typeface="Roboto"/>
                  <a:ea typeface="Roboto"/>
                  <a:cs typeface="Roboto"/>
                  <a:sym typeface="Roboto"/>
                </a:rPr>
                <a:t>ROBERTA MULTI-LABEL CLASSIFIER</a:t>
              </a:r>
              <a:endParaRPr b="1" sz="1000">
                <a:solidFill>
                  <a:srgbClr val="0052CC"/>
                </a:solidFill>
                <a:latin typeface="Roboto"/>
                <a:ea typeface="Roboto"/>
                <a:cs typeface="Roboto"/>
                <a:sym typeface="Roboto"/>
              </a:endParaRPr>
            </a:p>
          </p:txBody>
        </p:sp>
        <p:sp>
          <p:nvSpPr>
            <p:cNvPr id="161" name="Google Shape;161;p17"/>
            <p:cNvSpPr txBox="1"/>
            <p:nvPr/>
          </p:nvSpPr>
          <p:spPr>
            <a:xfrm>
              <a:off x="228600" y="495300"/>
              <a:ext cx="3143400" cy="3000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111827"/>
                  </a:solidFill>
                  <a:latin typeface="Roboto Medium"/>
                  <a:ea typeface="Roboto Medium"/>
                  <a:cs typeface="Roboto Medium"/>
                  <a:sym typeface="Roboto Medium"/>
                </a:rPr>
                <a:t>Detects 23 distinct rhetorical techniques defined by SemEval-2023 Task 3.</a:t>
              </a:r>
              <a:endParaRPr b="0" sz="1100">
                <a:solidFill>
                  <a:srgbClr val="111827"/>
                </a:solidFill>
                <a:latin typeface="Roboto Medium"/>
                <a:ea typeface="Roboto Medium"/>
                <a:cs typeface="Roboto Medium"/>
                <a:sym typeface="Roboto Medium"/>
              </a:endParaRPr>
            </a:p>
            <a:p>
              <a:pPr indent="0" lvl="0" marL="0" rtl="0" algn="ctr">
                <a:spcBef>
                  <a:spcPts val="900"/>
                </a:spcBef>
                <a:spcAft>
                  <a:spcPts val="0"/>
                </a:spcAft>
                <a:buNone/>
              </a:pPr>
              <a:r>
                <a:rPr b="0" lang="en" sz="1100">
                  <a:solidFill>
                    <a:srgbClr val="4B5563"/>
                  </a:solidFill>
                  <a:latin typeface="Roboto"/>
                  <a:ea typeface="Roboto"/>
                  <a:cs typeface="Roboto"/>
                  <a:sym typeface="Roboto"/>
                </a:rPr>
                <a:t>The system identifies specific manipulation strategies at the paragraph level to provide high-granularity text analysis.</a:t>
              </a:r>
              <a:endParaRPr b="0" sz="1100">
                <a:solidFill>
                  <a:srgbClr val="4B5563"/>
                </a:solidFill>
                <a:latin typeface="Roboto"/>
                <a:ea typeface="Roboto"/>
                <a:cs typeface="Roboto"/>
                <a:sym typeface="Roboto"/>
              </a:endParaRPr>
            </a:p>
            <a:p>
              <a:pPr indent="0" lvl="0" marL="0" rtl="0" algn="ctr">
                <a:spcBef>
                  <a:spcPts val="900"/>
                </a:spcBef>
                <a:spcAft>
                  <a:spcPts val="0"/>
                </a:spcAft>
                <a:buNone/>
              </a:pPr>
              <a:r>
                <a:t/>
              </a:r>
              <a:endParaRPr sz="1100">
                <a:solidFill>
                  <a:srgbClr val="4B5563"/>
                </a:solidFill>
                <a:latin typeface="Roboto"/>
                <a:ea typeface="Roboto"/>
                <a:cs typeface="Roboto"/>
                <a:sym typeface="Roboto"/>
              </a:endParaRPr>
            </a:p>
            <a:p>
              <a:pPr indent="0" lvl="0" marL="0" rtl="0" algn="ctr">
                <a:spcBef>
                  <a:spcPts val="900"/>
                </a:spcBef>
                <a:spcAft>
                  <a:spcPts val="0"/>
                </a:spcAft>
                <a:buNone/>
              </a:pPr>
              <a:r>
                <a:t/>
              </a:r>
              <a:endParaRPr sz="1100">
                <a:solidFill>
                  <a:srgbClr val="4B5563"/>
                </a:solidFill>
                <a:latin typeface="Roboto"/>
                <a:ea typeface="Roboto"/>
                <a:cs typeface="Roboto"/>
                <a:sym typeface="Roboto"/>
              </a:endParaRPr>
            </a:p>
            <a:p>
              <a:pPr indent="0" lvl="0" marL="0" rtl="0" algn="l">
                <a:spcBef>
                  <a:spcPts val="900"/>
                </a:spcBef>
                <a:spcAft>
                  <a:spcPts val="0"/>
                </a:spcAft>
                <a:buNone/>
              </a:pPr>
              <a:r>
                <a:rPr b="0" lang="en" sz="1100">
                  <a:solidFill>
                    <a:srgbClr val="111827"/>
                  </a:solidFill>
                  <a:latin typeface="Roboto Medium"/>
                  <a:ea typeface="Roboto Medium"/>
                  <a:cs typeface="Roboto Medium"/>
                  <a:sym typeface="Roboto Medium"/>
                </a:rPr>
                <a:t>Key Detected Strategies Include:</a:t>
              </a:r>
              <a:endParaRPr b="0" sz="1100">
                <a:solidFill>
                  <a:srgbClr val="111827"/>
                </a:solidFill>
                <a:latin typeface="Roboto Medium"/>
                <a:ea typeface="Roboto Medium"/>
                <a:cs typeface="Roboto Medium"/>
                <a:sym typeface="Roboto Medium"/>
              </a:endParaRPr>
            </a:p>
            <a:p>
              <a:pPr indent="-298450" lvl="0" marL="457200" rtl="0" algn="l">
                <a:spcBef>
                  <a:spcPts val="450"/>
                </a:spcBef>
                <a:spcAft>
                  <a:spcPts val="0"/>
                </a:spcAft>
                <a:buClr>
                  <a:srgbClr val="4B5563"/>
                </a:buClr>
                <a:buSzPts val="1100"/>
                <a:buFont typeface="Roboto"/>
                <a:buAutoNum type="arabicPeriod"/>
              </a:pPr>
              <a:r>
                <a:rPr b="0" lang="en" sz="1100">
                  <a:solidFill>
                    <a:srgbClr val="4B5563"/>
                  </a:solidFill>
                  <a:latin typeface="Roboto"/>
                  <a:ea typeface="Roboto"/>
                  <a:cs typeface="Roboto"/>
                  <a:sym typeface="Roboto"/>
                </a:rPr>
                <a:t>Appeals to fear</a:t>
              </a:r>
              <a:endParaRPr b="0" sz="1100">
                <a:solidFill>
                  <a:srgbClr val="4B5563"/>
                </a:solidFill>
                <a:latin typeface="Roboto"/>
                <a:ea typeface="Roboto"/>
                <a:cs typeface="Roboto"/>
                <a:sym typeface="Roboto"/>
              </a:endParaRPr>
            </a:p>
            <a:p>
              <a:pPr indent="-298450" lvl="0" marL="457200" rtl="0" algn="l">
                <a:spcBef>
                  <a:spcPts val="0"/>
                </a:spcBef>
                <a:spcAft>
                  <a:spcPts val="0"/>
                </a:spcAft>
                <a:buClr>
                  <a:srgbClr val="4B5563"/>
                </a:buClr>
                <a:buSzPts val="1100"/>
                <a:buFont typeface="Roboto"/>
                <a:buAutoNum type="arabicPeriod"/>
              </a:pPr>
              <a:r>
                <a:rPr b="0" lang="en" sz="1100">
                  <a:solidFill>
                    <a:srgbClr val="4B5563"/>
                  </a:solidFill>
                  <a:latin typeface="Roboto"/>
                  <a:ea typeface="Roboto"/>
                  <a:cs typeface="Roboto"/>
                  <a:sym typeface="Roboto"/>
                </a:rPr>
                <a:t>Loaded language</a:t>
              </a:r>
              <a:endParaRPr b="0" sz="1100">
                <a:solidFill>
                  <a:srgbClr val="4B5563"/>
                </a:solidFill>
                <a:latin typeface="Roboto"/>
                <a:ea typeface="Roboto"/>
                <a:cs typeface="Roboto"/>
                <a:sym typeface="Roboto"/>
              </a:endParaRPr>
            </a:p>
            <a:p>
              <a:pPr indent="-298450" lvl="0" marL="457200" rtl="0" algn="l">
                <a:spcBef>
                  <a:spcPts val="0"/>
                </a:spcBef>
                <a:spcAft>
                  <a:spcPts val="0"/>
                </a:spcAft>
                <a:buClr>
                  <a:srgbClr val="4B5563"/>
                </a:buClr>
                <a:buSzPts val="1100"/>
                <a:buFont typeface="Roboto"/>
                <a:buAutoNum type="arabicPeriod"/>
              </a:pPr>
              <a:r>
                <a:rPr b="0" lang="en" sz="1100">
                  <a:solidFill>
                    <a:srgbClr val="4B5563"/>
                  </a:solidFill>
                  <a:latin typeface="Roboto"/>
                  <a:ea typeface="Roboto"/>
                  <a:cs typeface="Roboto"/>
                  <a:sym typeface="Roboto"/>
                </a:rPr>
                <a:t>Name-calling</a:t>
              </a:r>
              <a:endParaRPr b="0" sz="1100">
                <a:solidFill>
                  <a:srgbClr val="4B5563"/>
                </a:solidFill>
                <a:latin typeface="Roboto"/>
                <a:ea typeface="Roboto"/>
                <a:cs typeface="Roboto"/>
                <a:sym typeface="Roboto"/>
              </a:endParaRPr>
            </a:p>
          </p:txBody>
        </p:sp>
      </p:grpSp>
      <p:grpSp>
        <p:nvGrpSpPr>
          <p:cNvPr id="162" name="Google Shape;162;p17"/>
          <p:cNvGrpSpPr/>
          <p:nvPr/>
        </p:nvGrpSpPr>
        <p:grpSpPr>
          <a:xfrm>
            <a:off x="4514850" y="1000125"/>
            <a:ext cx="4172100" cy="3667125"/>
            <a:chOff x="0" y="0"/>
            <a:chExt cx="4172100" cy="3667125"/>
          </a:xfrm>
        </p:grpSpPr>
        <p:grpSp>
          <p:nvGrpSpPr>
            <p:cNvPr id="163" name="Google Shape;163;p17"/>
            <p:cNvGrpSpPr/>
            <p:nvPr/>
          </p:nvGrpSpPr>
          <p:grpSpPr>
            <a:xfrm>
              <a:off x="0" y="0"/>
              <a:ext cx="4172100" cy="1714500"/>
              <a:chOff x="0" y="0"/>
              <a:chExt cx="4172100" cy="1714500"/>
            </a:xfrm>
          </p:grpSpPr>
          <p:sp>
            <p:nvSpPr>
              <p:cNvPr id="164" name="Google Shape;164;p17"/>
              <p:cNvSpPr/>
              <p:nvPr/>
            </p:nvSpPr>
            <p:spPr>
              <a:xfrm>
                <a:off x="0" y="0"/>
                <a:ext cx="4172100" cy="17145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7"/>
              <p:cNvSpPr/>
              <p:nvPr/>
            </p:nvSpPr>
            <p:spPr>
              <a:xfrm>
                <a:off x="0" y="0"/>
                <a:ext cx="4172100" cy="38100"/>
              </a:xfrm>
              <a:prstGeom prst="rect">
                <a:avLst/>
              </a:prstGeom>
              <a:solidFill>
                <a:srgbClr val="4B556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7"/>
              <p:cNvSpPr txBox="1"/>
              <p:nvPr/>
            </p:nvSpPr>
            <p:spPr>
              <a:xfrm>
                <a:off x="190500" y="171450"/>
                <a:ext cx="3791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4B5563"/>
                    </a:solidFill>
                    <a:latin typeface="Roboto"/>
                    <a:ea typeface="Roboto"/>
                    <a:cs typeface="Roboto"/>
                    <a:sym typeface="Roboto"/>
                  </a:rPr>
                  <a:t>PARAGRAPH-LEVEL PERSUASION DETECTION</a:t>
                </a:r>
                <a:endParaRPr b="1" sz="1000">
                  <a:solidFill>
                    <a:srgbClr val="4B5563"/>
                  </a:solidFill>
                  <a:latin typeface="Roboto"/>
                  <a:ea typeface="Roboto"/>
                  <a:cs typeface="Roboto"/>
                  <a:sym typeface="Roboto"/>
                </a:endParaRPr>
              </a:p>
            </p:txBody>
          </p:sp>
          <p:sp>
            <p:nvSpPr>
              <p:cNvPr id="167" name="Google Shape;167;p17"/>
              <p:cNvSpPr txBox="1"/>
              <p:nvPr/>
            </p:nvSpPr>
            <p:spPr>
              <a:xfrm>
                <a:off x="190500" y="476250"/>
                <a:ext cx="37911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B5563"/>
                    </a:solidFill>
                    <a:latin typeface="Roboto"/>
                    <a:ea typeface="Roboto"/>
                    <a:cs typeface="Roboto"/>
                    <a:sym typeface="Roboto"/>
                  </a:rPr>
                  <a:t>Analyzes incoming text segments in real time to isolate manipulative rhetoric. Rather than diagnosing or labeling the reader, the system focuses strictly on identifying objective persuasive signals present within the source content.</a:t>
                </a:r>
                <a:endParaRPr b="0" sz="1100">
                  <a:solidFill>
                    <a:srgbClr val="4B5563"/>
                  </a:solidFill>
                  <a:latin typeface="Roboto"/>
                  <a:ea typeface="Roboto"/>
                  <a:cs typeface="Roboto"/>
                  <a:sym typeface="Roboto"/>
                </a:endParaRPr>
              </a:p>
            </p:txBody>
          </p:sp>
        </p:grpSp>
        <p:grpSp>
          <p:nvGrpSpPr>
            <p:cNvPr id="168" name="Google Shape;168;p17"/>
            <p:cNvGrpSpPr/>
            <p:nvPr/>
          </p:nvGrpSpPr>
          <p:grpSpPr>
            <a:xfrm>
              <a:off x="0" y="1952625"/>
              <a:ext cx="4172100" cy="1714500"/>
              <a:chOff x="0" y="0"/>
              <a:chExt cx="4172100" cy="1714500"/>
            </a:xfrm>
          </p:grpSpPr>
          <p:sp>
            <p:nvSpPr>
              <p:cNvPr id="169" name="Google Shape;169;p17"/>
              <p:cNvSpPr/>
              <p:nvPr/>
            </p:nvSpPr>
            <p:spPr>
              <a:xfrm>
                <a:off x="0" y="0"/>
                <a:ext cx="4172100" cy="17145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7"/>
              <p:cNvSpPr/>
              <p:nvPr/>
            </p:nvSpPr>
            <p:spPr>
              <a:xfrm>
                <a:off x="0" y="0"/>
                <a:ext cx="4172100" cy="381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7"/>
              <p:cNvSpPr txBox="1"/>
              <p:nvPr/>
            </p:nvSpPr>
            <p:spPr>
              <a:xfrm>
                <a:off x="190500" y="171450"/>
                <a:ext cx="37911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F59E0B"/>
                    </a:solidFill>
                    <a:latin typeface="Roboto"/>
                    <a:ea typeface="Roboto"/>
                    <a:cs typeface="Roboto"/>
                    <a:sym typeface="Roboto"/>
                  </a:rPr>
                  <a:t>EMA-BASED USER SUSCEPTIBILITY PROFILING</a:t>
                </a:r>
                <a:endParaRPr b="1" sz="1000">
                  <a:solidFill>
                    <a:srgbClr val="F59E0B"/>
                  </a:solidFill>
                  <a:latin typeface="Roboto"/>
                  <a:ea typeface="Roboto"/>
                  <a:cs typeface="Roboto"/>
                  <a:sym typeface="Roboto"/>
                </a:endParaRPr>
              </a:p>
            </p:txBody>
          </p:sp>
          <p:sp>
            <p:nvSpPr>
              <p:cNvPr id="172" name="Google Shape;172;p17"/>
              <p:cNvSpPr txBox="1"/>
              <p:nvPr/>
            </p:nvSpPr>
            <p:spPr>
              <a:xfrm>
                <a:off x="190500" y="476250"/>
                <a:ext cx="37911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B5563"/>
                    </a:solidFill>
                    <a:latin typeface="Roboto"/>
                    <a:ea typeface="Roboto"/>
                    <a:cs typeface="Roboto"/>
                    <a:sym typeface="Roboto"/>
                  </a:rPr>
                  <a:t>Maintains a dynamic user susceptibility profile continuously updated from interaction history using an exponential moving average (EMA). Tracking exposure to specific persuasive signals allows the system to personalize constraints and limit repeated exposure to matching manipulative content.</a:t>
                </a:r>
                <a:endParaRPr b="0" sz="1100">
                  <a:solidFill>
                    <a:srgbClr val="4B5563"/>
                  </a:solidFill>
                  <a:latin typeface="Roboto"/>
                  <a:ea typeface="Roboto"/>
                  <a:cs typeface="Roboto"/>
                  <a:sym typeface="Roboto"/>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18"/>
          <p:cNvSpPr/>
          <p:nvPr/>
        </p:nvSpPr>
        <p:spPr>
          <a:xfrm>
            <a:off x="0" y="0"/>
            <a:ext cx="91440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8"/>
          <p:cNvSpPr/>
          <p:nvPr/>
        </p:nvSpPr>
        <p:spPr>
          <a:xfrm>
            <a:off x="0" y="0"/>
            <a:ext cx="1143000" cy="381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3">
            <a:alphaModFix/>
          </a:blip>
          <a:srcRect b="0" l="0" r="0" t="0"/>
          <a:stretch/>
        </p:blipFill>
        <p:spPr>
          <a:xfrm>
            <a:off x="4567238" y="457200"/>
            <a:ext cx="9600" cy="4229100"/>
          </a:xfrm>
          <a:prstGeom prst="rect">
            <a:avLst/>
          </a:prstGeom>
          <a:noFill/>
          <a:ln>
            <a:noFill/>
          </a:ln>
        </p:spPr>
      </p:pic>
      <p:sp>
        <p:nvSpPr>
          <p:cNvPr id="181" name="Google Shape;181;p18"/>
          <p:cNvSpPr txBox="1"/>
          <p:nvPr/>
        </p:nvSpPr>
        <p:spPr>
          <a:xfrm>
            <a:off x="457200" y="342900"/>
            <a:ext cx="82296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111827"/>
                </a:solidFill>
                <a:latin typeface="Inter"/>
                <a:ea typeface="Inter"/>
                <a:cs typeface="Inter"/>
                <a:sym typeface="Inter"/>
              </a:rPr>
              <a:t>Heterogeneous Knowledge Graph &amp; Encoder</a:t>
            </a:r>
            <a:endParaRPr b="1" sz="2600">
              <a:solidFill>
                <a:srgbClr val="111827"/>
              </a:solidFill>
              <a:latin typeface="Inter"/>
              <a:ea typeface="Inter"/>
              <a:cs typeface="Inter"/>
              <a:sym typeface="Inter"/>
            </a:endParaRPr>
          </a:p>
        </p:txBody>
      </p:sp>
      <p:sp>
        <p:nvSpPr>
          <p:cNvPr id="182" name="Google Shape;182;p18"/>
          <p:cNvSpPr txBox="1"/>
          <p:nvPr/>
        </p:nvSpPr>
        <p:spPr>
          <a:xfrm>
            <a:off x="457200" y="1000125"/>
            <a:ext cx="3810000" cy="371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25">
                <a:solidFill>
                  <a:srgbClr val="0052CC"/>
                </a:solidFill>
                <a:latin typeface="Roboto"/>
                <a:ea typeface="Roboto"/>
                <a:cs typeface="Roboto"/>
                <a:sym typeface="Roboto"/>
              </a:rPr>
              <a:t>GRAPH ARCHITECTURE &amp; PROPAGATION</a:t>
            </a:r>
            <a:endParaRPr b="1" sz="925">
              <a:solidFill>
                <a:srgbClr val="0052CC"/>
              </a:solidFill>
              <a:latin typeface="Roboto"/>
              <a:ea typeface="Roboto"/>
              <a:cs typeface="Roboto"/>
              <a:sym typeface="Roboto"/>
            </a:endParaRPr>
          </a:p>
          <a:p>
            <a:pPr indent="-304959" lvl="0" marL="457200" rtl="0" algn="l">
              <a:spcBef>
                <a:spcPts val="900"/>
              </a:spcBef>
              <a:spcAft>
                <a:spcPts val="0"/>
              </a:spcAft>
              <a:buClr>
                <a:srgbClr val="4B5563"/>
              </a:buClr>
              <a:buSzPts val="1203"/>
              <a:buFont typeface="Roboto"/>
              <a:buChar char="●"/>
            </a:pPr>
            <a:r>
              <a:rPr b="1" lang="en" sz="1203">
                <a:solidFill>
                  <a:srgbClr val="111827"/>
                </a:solidFill>
                <a:latin typeface="Roboto"/>
                <a:ea typeface="Roboto"/>
                <a:cs typeface="Roboto"/>
                <a:sym typeface="Roboto"/>
              </a:rPr>
              <a:t>Heterogeneous Graph:</a:t>
            </a:r>
            <a:r>
              <a:rPr b="0" lang="en" sz="1203">
                <a:solidFill>
                  <a:srgbClr val="4B5563"/>
                </a:solidFill>
                <a:latin typeface="Roboto"/>
                <a:ea typeface="Roboto"/>
                <a:cs typeface="Roboto"/>
                <a:sym typeface="Roboto"/>
              </a:rPr>
              <a:t> Constructs distinct nodes for users, news articles, topics, and extracted entities connected via semantic edges (user clicks, article-topic links, related news).</a:t>
            </a:r>
            <a:endParaRPr b="0" sz="1203">
              <a:solidFill>
                <a:srgbClr val="4B5563"/>
              </a:solidFill>
              <a:latin typeface="Roboto"/>
              <a:ea typeface="Roboto"/>
              <a:cs typeface="Roboto"/>
              <a:sym typeface="Roboto"/>
            </a:endParaRPr>
          </a:p>
          <a:p>
            <a:pPr indent="-304959" lvl="0" marL="457200" rtl="0" algn="l">
              <a:spcBef>
                <a:spcPts val="1050"/>
              </a:spcBef>
              <a:spcAft>
                <a:spcPts val="0"/>
              </a:spcAft>
              <a:buClr>
                <a:srgbClr val="4B5563"/>
              </a:buClr>
              <a:buSzPts val="1203"/>
              <a:buFont typeface="Roboto"/>
              <a:buChar char="●"/>
            </a:pPr>
            <a:r>
              <a:rPr b="1" lang="en" sz="1203">
                <a:solidFill>
                  <a:srgbClr val="111827"/>
                </a:solidFill>
                <a:latin typeface="Roboto"/>
                <a:ea typeface="Roboto"/>
                <a:cs typeface="Roboto"/>
                <a:sym typeface="Roboto"/>
              </a:rPr>
              <a:t>GraphSAGE Encoder:</a:t>
            </a:r>
            <a:r>
              <a:rPr b="0" lang="en" sz="1203">
                <a:solidFill>
                  <a:srgbClr val="4B5563"/>
                </a:solidFill>
                <a:latin typeface="Roboto"/>
                <a:ea typeface="Roboto"/>
                <a:cs typeface="Roboto"/>
                <a:sym typeface="Roboto"/>
              </a:rPr>
              <a:t> Employs a GraphSAGE-style message-passing network to propagate spatial and relational information across nodes.</a:t>
            </a:r>
            <a:endParaRPr b="0" sz="1203">
              <a:solidFill>
                <a:srgbClr val="4B5563"/>
              </a:solidFill>
              <a:latin typeface="Roboto"/>
              <a:ea typeface="Roboto"/>
              <a:cs typeface="Roboto"/>
              <a:sym typeface="Roboto"/>
            </a:endParaRPr>
          </a:p>
          <a:p>
            <a:pPr indent="-304959" lvl="0" marL="457200" rtl="0" algn="l">
              <a:spcBef>
                <a:spcPts val="1050"/>
              </a:spcBef>
              <a:spcAft>
                <a:spcPts val="0"/>
              </a:spcAft>
              <a:buClr>
                <a:srgbClr val="4B5563"/>
              </a:buClr>
              <a:buSzPts val="1203"/>
              <a:buFont typeface="Roboto"/>
              <a:buChar char="●"/>
            </a:pPr>
            <a:r>
              <a:rPr b="1" lang="en" sz="1203">
                <a:solidFill>
                  <a:srgbClr val="111827"/>
                </a:solidFill>
                <a:latin typeface="Roboto"/>
                <a:ea typeface="Roboto"/>
                <a:cs typeface="Roboto"/>
                <a:sym typeface="Roboto"/>
              </a:rPr>
              <a:t>Representation Fusion:</a:t>
            </a:r>
            <a:r>
              <a:rPr b="0" lang="en" sz="1203">
                <a:solidFill>
                  <a:srgbClr val="4B5563"/>
                </a:solidFill>
                <a:latin typeface="Roboto"/>
                <a:ea typeface="Roboto"/>
                <a:cs typeface="Roboto"/>
                <a:sym typeface="Roboto"/>
              </a:rPr>
              <a:t> Produces rich user and article embeddings by fusing textual representations, metadata, and persuasion scores.</a:t>
            </a:r>
            <a:endParaRPr b="0" sz="1203">
              <a:solidFill>
                <a:srgbClr val="4B5563"/>
              </a:solidFill>
              <a:latin typeface="Roboto"/>
              <a:ea typeface="Roboto"/>
              <a:cs typeface="Roboto"/>
              <a:sym typeface="Roboto"/>
            </a:endParaRPr>
          </a:p>
          <a:p>
            <a:pPr indent="-304959" lvl="0" marL="457200" rtl="0" algn="l">
              <a:spcBef>
                <a:spcPts val="1050"/>
              </a:spcBef>
              <a:spcAft>
                <a:spcPts val="0"/>
              </a:spcAft>
              <a:buClr>
                <a:srgbClr val="4B5563"/>
              </a:buClr>
              <a:buSzPts val="1203"/>
              <a:buFont typeface="Roboto"/>
              <a:buChar char="●"/>
            </a:pPr>
            <a:r>
              <a:rPr b="1" lang="en" sz="1203">
                <a:solidFill>
                  <a:srgbClr val="111827"/>
                </a:solidFill>
                <a:latin typeface="Roboto"/>
                <a:ea typeface="Roboto"/>
                <a:cs typeface="Roboto"/>
                <a:sym typeface="Roboto"/>
              </a:rPr>
              <a:t>Baseline Relevance:</a:t>
            </a:r>
            <a:r>
              <a:rPr b="0" lang="en" sz="1203">
                <a:solidFill>
                  <a:srgbClr val="4B5563"/>
                </a:solidFill>
                <a:latin typeface="Roboto"/>
                <a:ea typeface="Roboto"/>
                <a:cs typeface="Roboto"/>
                <a:sym typeface="Roboto"/>
              </a:rPr>
              <a:t> Calculates initial alignment using clipped cosine similarity prior to imposing responsible constraints.</a:t>
            </a:r>
            <a:endParaRPr b="0" sz="1203">
              <a:solidFill>
                <a:srgbClr val="4B5563"/>
              </a:solidFill>
              <a:latin typeface="Roboto"/>
              <a:ea typeface="Roboto"/>
              <a:cs typeface="Roboto"/>
              <a:sym typeface="Roboto"/>
            </a:endParaRPr>
          </a:p>
        </p:txBody>
      </p:sp>
      <p:grpSp>
        <p:nvGrpSpPr>
          <p:cNvPr id="183" name="Google Shape;183;p18"/>
          <p:cNvGrpSpPr/>
          <p:nvPr/>
        </p:nvGrpSpPr>
        <p:grpSpPr>
          <a:xfrm>
            <a:off x="4838700" y="1000125"/>
            <a:ext cx="3848100" cy="3667200"/>
            <a:chOff x="4838700" y="1000125"/>
            <a:chExt cx="3848100" cy="3667200"/>
          </a:xfrm>
        </p:grpSpPr>
        <p:sp>
          <p:nvSpPr>
            <p:cNvPr id="184" name="Google Shape;184;p18"/>
            <p:cNvSpPr/>
            <p:nvPr/>
          </p:nvSpPr>
          <p:spPr>
            <a:xfrm>
              <a:off x="4838700" y="1000125"/>
              <a:ext cx="3848100" cy="3667200"/>
            </a:xfrm>
            <a:prstGeom prst="roundRect">
              <a:avLst>
                <a:gd fmla="val 1038"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8"/>
            <p:cNvSpPr/>
            <p:nvPr/>
          </p:nvSpPr>
          <p:spPr>
            <a:xfrm>
              <a:off x="4838700" y="1000125"/>
              <a:ext cx="3848100" cy="285900"/>
            </a:xfrm>
            <a:prstGeom prst="roundRect">
              <a:avLst>
                <a:gd fmla="val 13333"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8"/>
            <p:cNvSpPr txBox="1"/>
            <p:nvPr/>
          </p:nvSpPr>
          <p:spPr>
            <a:xfrm>
              <a:off x="4991100" y="1066800"/>
              <a:ext cx="35433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52CC"/>
                  </a:solidFill>
                  <a:latin typeface="Roboto"/>
                  <a:ea typeface="Roboto"/>
                  <a:cs typeface="Roboto"/>
                  <a:sym typeface="Roboto"/>
                </a:rPr>
                <a:t>KNOWLEDGE GRAPH STRUCTURE</a:t>
              </a:r>
              <a:endParaRPr b="1" sz="1000">
                <a:solidFill>
                  <a:srgbClr val="0052CC"/>
                </a:solidFill>
                <a:latin typeface="Roboto"/>
                <a:ea typeface="Roboto"/>
                <a:cs typeface="Roboto"/>
                <a:sym typeface="Roboto"/>
              </a:endParaRPr>
            </a:p>
          </p:txBody>
        </p:sp>
        <p:grpSp>
          <p:nvGrpSpPr>
            <p:cNvPr id="187" name="Google Shape;187;p18"/>
            <p:cNvGrpSpPr/>
            <p:nvPr/>
          </p:nvGrpSpPr>
          <p:grpSpPr>
            <a:xfrm>
              <a:off x="5329238" y="1652588"/>
              <a:ext cx="2395688" cy="1490813"/>
              <a:chOff x="5329238" y="1652588"/>
              <a:chExt cx="2395688" cy="1490813"/>
            </a:xfrm>
          </p:grpSpPr>
          <p:cxnSp>
            <p:nvCxnSpPr>
              <p:cNvPr id="188" name="Google Shape;188;p18"/>
              <p:cNvCxnSpPr/>
              <p:nvPr/>
            </p:nvCxnSpPr>
            <p:spPr>
              <a:xfrm flipH="1" rot="10800000">
                <a:off x="5619750" y="1905000"/>
                <a:ext cx="857400" cy="571500"/>
              </a:xfrm>
              <a:prstGeom prst="straightConnector1">
                <a:avLst/>
              </a:prstGeom>
              <a:solidFill>
                <a:srgbClr val="FFFFFF"/>
              </a:solidFill>
              <a:ln cap="flat" cmpd="sng" w="19050">
                <a:solidFill>
                  <a:srgbClr val="0052CC"/>
                </a:solidFill>
                <a:prstDash val="solid"/>
                <a:round/>
                <a:headEnd len="sm" w="sm" type="none"/>
                <a:tailEnd len="sm" w="sm" type="none"/>
              </a:ln>
            </p:spPr>
          </p:cxnSp>
          <p:cxnSp>
            <p:nvCxnSpPr>
              <p:cNvPr id="189" name="Google Shape;189;p18"/>
              <p:cNvCxnSpPr/>
              <p:nvPr/>
            </p:nvCxnSpPr>
            <p:spPr>
              <a:xfrm>
                <a:off x="5619750" y="2476500"/>
                <a:ext cx="857400" cy="666900"/>
              </a:xfrm>
              <a:prstGeom prst="straightConnector1">
                <a:avLst/>
              </a:prstGeom>
              <a:solidFill>
                <a:srgbClr val="FFFFFF"/>
              </a:solidFill>
              <a:ln cap="flat" cmpd="sng" w="19050">
                <a:solidFill>
                  <a:srgbClr val="0052CC"/>
                </a:solidFill>
                <a:prstDash val="solid"/>
                <a:round/>
                <a:headEnd len="sm" w="sm" type="none"/>
                <a:tailEnd len="sm" w="sm" type="none"/>
              </a:ln>
            </p:spPr>
          </p:cxnSp>
          <p:pic>
            <p:nvPicPr>
              <p:cNvPr id="190" name="Google Shape;190;p18"/>
              <p:cNvPicPr preferRelativeResize="0"/>
              <p:nvPr/>
            </p:nvPicPr>
            <p:blipFill rotWithShape="1">
              <a:blip r:embed="rId4">
                <a:alphaModFix/>
              </a:blip>
              <a:srcRect b="0" l="0" r="0" t="0"/>
              <a:stretch/>
            </p:blipFill>
            <p:spPr>
              <a:xfrm>
                <a:off x="6467475" y="1905000"/>
                <a:ext cx="19200" cy="1238400"/>
              </a:xfrm>
              <a:prstGeom prst="rect">
                <a:avLst/>
              </a:prstGeom>
              <a:noFill/>
              <a:ln>
                <a:noFill/>
              </a:ln>
            </p:spPr>
          </p:pic>
          <p:cxnSp>
            <p:nvCxnSpPr>
              <p:cNvPr id="191" name="Google Shape;191;p18"/>
              <p:cNvCxnSpPr/>
              <p:nvPr/>
            </p:nvCxnSpPr>
            <p:spPr>
              <a:xfrm>
                <a:off x="6477000" y="1905000"/>
                <a:ext cx="1238400" cy="95400"/>
              </a:xfrm>
              <a:prstGeom prst="straightConnector1">
                <a:avLst/>
              </a:prstGeom>
              <a:solidFill>
                <a:srgbClr val="FFFFFF"/>
              </a:solidFill>
              <a:ln cap="flat" cmpd="sng" w="19050">
                <a:solidFill>
                  <a:srgbClr val="F59E0B"/>
                </a:solidFill>
                <a:prstDash val="solid"/>
                <a:round/>
                <a:headEnd len="sm" w="sm" type="none"/>
                <a:tailEnd len="sm" w="sm" type="none"/>
              </a:ln>
            </p:spPr>
          </p:cxnSp>
          <p:cxnSp>
            <p:nvCxnSpPr>
              <p:cNvPr id="192" name="Google Shape;192;p18"/>
              <p:cNvCxnSpPr/>
              <p:nvPr/>
            </p:nvCxnSpPr>
            <p:spPr>
              <a:xfrm flipH="1" rot="10800000">
                <a:off x="6477000" y="3047850"/>
                <a:ext cx="1238400" cy="95400"/>
              </a:xfrm>
              <a:prstGeom prst="straightConnector1">
                <a:avLst/>
              </a:prstGeom>
              <a:solidFill>
                <a:srgbClr val="FFFFFF"/>
              </a:solidFill>
              <a:ln cap="flat" cmpd="sng" w="19050">
                <a:solidFill>
                  <a:srgbClr val="4B5563"/>
                </a:solidFill>
                <a:prstDash val="solid"/>
                <a:round/>
                <a:headEnd len="sm" w="sm" type="none"/>
                <a:tailEnd len="sm" w="sm" type="none"/>
              </a:ln>
            </p:spPr>
          </p:cxnSp>
          <p:pic>
            <p:nvPicPr>
              <p:cNvPr id="193" name="Google Shape;193;p18"/>
              <p:cNvPicPr preferRelativeResize="0"/>
              <p:nvPr/>
            </p:nvPicPr>
            <p:blipFill rotWithShape="1">
              <a:blip r:embed="rId5">
                <a:alphaModFix/>
              </a:blip>
              <a:srcRect b="0" l="0" r="0" t="0"/>
              <a:stretch/>
            </p:blipFill>
            <p:spPr>
              <a:xfrm>
                <a:off x="7705725" y="2000250"/>
                <a:ext cx="19200" cy="1047900"/>
              </a:xfrm>
              <a:prstGeom prst="rect">
                <a:avLst/>
              </a:prstGeom>
              <a:noFill/>
              <a:ln>
                <a:noFill/>
              </a:ln>
            </p:spPr>
          </p:pic>
          <p:pic>
            <p:nvPicPr>
              <p:cNvPr id="194" name="Google Shape;194;p18"/>
              <p:cNvPicPr preferRelativeResize="0"/>
              <p:nvPr/>
            </p:nvPicPr>
            <p:blipFill rotWithShape="1">
              <a:blip r:embed="rId6">
                <a:alphaModFix/>
              </a:blip>
              <a:srcRect b="0" l="0" r="0" t="0"/>
              <a:stretch/>
            </p:blipFill>
            <p:spPr>
              <a:xfrm>
                <a:off x="5329238" y="2185988"/>
                <a:ext cx="581100" cy="581100"/>
              </a:xfrm>
              <a:prstGeom prst="rect">
                <a:avLst/>
              </a:prstGeom>
              <a:noFill/>
              <a:ln>
                <a:noFill/>
              </a:ln>
            </p:spPr>
          </p:pic>
          <p:pic>
            <p:nvPicPr>
              <p:cNvPr id="195" name="Google Shape;195;p18"/>
              <p:cNvPicPr preferRelativeResize="0"/>
              <p:nvPr/>
            </p:nvPicPr>
            <p:blipFill rotWithShape="1">
              <a:blip r:embed="rId7">
                <a:alphaModFix/>
              </a:blip>
              <a:srcRect b="0" l="0" r="0" t="0"/>
              <a:stretch/>
            </p:blipFill>
            <p:spPr>
              <a:xfrm>
                <a:off x="6224588" y="1652588"/>
                <a:ext cx="504900" cy="504900"/>
              </a:xfrm>
              <a:prstGeom prst="rect">
                <a:avLst/>
              </a:prstGeom>
              <a:noFill/>
              <a:ln>
                <a:noFill/>
              </a:ln>
            </p:spPr>
          </p:pic>
        </p:grpSp>
        <p:grpSp>
          <p:nvGrpSpPr>
            <p:cNvPr id="196" name="Google Shape;196;p18"/>
            <p:cNvGrpSpPr/>
            <p:nvPr/>
          </p:nvGrpSpPr>
          <p:grpSpPr>
            <a:xfrm>
              <a:off x="5410200" y="1733550"/>
              <a:ext cx="2457450" cy="1581150"/>
              <a:chOff x="5410200" y="1733550"/>
              <a:chExt cx="2457450" cy="1581150"/>
            </a:xfrm>
          </p:grpSpPr>
          <p:sp>
            <p:nvSpPr>
              <p:cNvPr id="197" name="Google Shape;197;p18"/>
              <p:cNvSpPr/>
              <p:nvPr/>
            </p:nvSpPr>
            <p:spPr>
              <a:xfrm>
                <a:off x="5410200" y="2266950"/>
                <a:ext cx="419100" cy="419100"/>
              </a:xfrm>
              <a:prstGeom prst="ellipse">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8"/>
              <p:cNvSpPr/>
              <p:nvPr/>
            </p:nvSpPr>
            <p:spPr>
              <a:xfrm>
                <a:off x="5543550" y="2400300"/>
                <a:ext cx="152400" cy="1524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8"/>
              <p:cNvSpPr/>
              <p:nvPr/>
            </p:nvSpPr>
            <p:spPr>
              <a:xfrm>
                <a:off x="6305550" y="1733550"/>
                <a:ext cx="342900" cy="342900"/>
              </a:xfrm>
              <a:prstGeom prst="ellipse">
                <a:avLst/>
              </a:prstGeom>
              <a:solidFill>
                <a:srgbClr val="00B8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8"/>
              <p:cNvSpPr/>
              <p:nvPr/>
            </p:nvSpPr>
            <p:spPr>
              <a:xfrm>
                <a:off x="6305550" y="2971800"/>
                <a:ext cx="342900" cy="342900"/>
              </a:xfrm>
              <a:prstGeom prst="ellipse">
                <a:avLst/>
              </a:prstGeom>
              <a:solidFill>
                <a:srgbClr val="00B8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8"/>
              <p:cNvSpPr/>
              <p:nvPr/>
            </p:nvSpPr>
            <p:spPr>
              <a:xfrm>
                <a:off x="7562850" y="1847850"/>
                <a:ext cx="304800" cy="3048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8"/>
              <p:cNvSpPr/>
              <p:nvPr/>
            </p:nvSpPr>
            <p:spPr>
              <a:xfrm>
                <a:off x="7562850" y="2895600"/>
                <a:ext cx="304800" cy="304800"/>
              </a:xfrm>
              <a:prstGeom prst="ellipse">
                <a:avLst/>
              </a:prstGeom>
              <a:solidFill>
                <a:srgbClr val="4B556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03" name="Google Shape;203;p18"/>
            <p:cNvGrpSpPr/>
            <p:nvPr/>
          </p:nvGrpSpPr>
          <p:grpSpPr>
            <a:xfrm>
              <a:off x="5238750" y="1600200"/>
              <a:ext cx="2810025" cy="1971675"/>
              <a:chOff x="5238750" y="1600200"/>
              <a:chExt cx="2810025" cy="1971675"/>
            </a:xfrm>
          </p:grpSpPr>
          <p:sp>
            <p:nvSpPr>
              <p:cNvPr id="204" name="Google Shape;204;p18"/>
              <p:cNvSpPr txBox="1"/>
              <p:nvPr/>
            </p:nvSpPr>
            <p:spPr>
              <a:xfrm>
                <a:off x="5238750" y="2762250"/>
                <a:ext cx="762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0052CC"/>
                    </a:solidFill>
                    <a:latin typeface="Roboto"/>
                    <a:ea typeface="Roboto"/>
                    <a:cs typeface="Roboto"/>
                    <a:sym typeface="Roboto"/>
                  </a:rPr>
                  <a:t>USER</a:t>
                </a:r>
                <a:endParaRPr b="1" sz="900">
                  <a:solidFill>
                    <a:srgbClr val="0052CC"/>
                  </a:solidFill>
                  <a:latin typeface="Roboto"/>
                  <a:ea typeface="Roboto"/>
                  <a:cs typeface="Roboto"/>
                  <a:sym typeface="Roboto"/>
                </a:endParaRPr>
              </a:p>
            </p:txBody>
          </p:sp>
          <p:sp>
            <p:nvSpPr>
              <p:cNvPr id="205" name="Google Shape;205;p18"/>
              <p:cNvSpPr txBox="1"/>
              <p:nvPr/>
            </p:nvSpPr>
            <p:spPr>
              <a:xfrm>
                <a:off x="6096000" y="1600200"/>
                <a:ext cx="762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0088A3"/>
                    </a:solidFill>
                    <a:latin typeface="Roboto"/>
                    <a:ea typeface="Roboto"/>
                    <a:cs typeface="Roboto"/>
                    <a:sym typeface="Roboto"/>
                  </a:rPr>
                  <a:t>NEWS A</a:t>
                </a:r>
                <a:endParaRPr b="1" sz="900">
                  <a:solidFill>
                    <a:srgbClr val="0088A3"/>
                  </a:solidFill>
                  <a:latin typeface="Roboto"/>
                  <a:ea typeface="Roboto"/>
                  <a:cs typeface="Roboto"/>
                  <a:sym typeface="Roboto"/>
                </a:endParaRPr>
              </a:p>
            </p:txBody>
          </p:sp>
          <p:sp>
            <p:nvSpPr>
              <p:cNvPr id="206" name="Google Shape;206;p18"/>
              <p:cNvSpPr txBox="1"/>
              <p:nvPr/>
            </p:nvSpPr>
            <p:spPr>
              <a:xfrm>
                <a:off x="6096000" y="3381375"/>
                <a:ext cx="762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0088A3"/>
                    </a:solidFill>
                    <a:latin typeface="Roboto"/>
                    <a:ea typeface="Roboto"/>
                    <a:cs typeface="Roboto"/>
                    <a:sym typeface="Roboto"/>
                  </a:rPr>
                  <a:t>NEWS B</a:t>
                </a:r>
                <a:endParaRPr b="1" sz="900">
                  <a:solidFill>
                    <a:srgbClr val="0088A3"/>
                  </a:solidFill>
                  <a:latin typeface="Roboto"/>
                  <a:ea typeface="Roboto"/>
                  <a:cs typeface="Roboto"/>
                  <a:sym typeface="Roboto"/>
                </a:endParaRPr>
              </a:p>
            </p:txBody>
          </p:sp>
          <p:sp>
            <p:nvSpPr>
              <p:cNvPr id="207" name="Google Shape;207;p18"/>
              <p:cNvSpPr txBox="1"/>
              <p:nvPr/>
            </p:nvSpPr>
            <p:spPr>
              <a:xfrm>
                <a:off x="7381875" y="1714500"/>
                <a:ext cx="666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D97706"/>
                    </a:solidFill>
                    <a:latin typeface="Roboto"/>
                    <a:ea typeface="Roboto"/>
                    <a:cs typeface="Roboto"/>
                    <a:sym typeface="Roboto"/>
                  </a:rPr>
                  <a:t>TOPIC</a:t>
                </a:r>
                <a:endParaRPr b="1" sz="900">
                  <a:solidFill>
                    <a:srgbClr val="D97706"/>
                  </a:solidFill>
                  <a:latin typeface="Roboto"/>
                  <a:ea typeface="Roboto"/>
                  <a:cs typeface="Roboto"/>
                  <a:sym typeface="Roboto"/>
                </a:endParaRPr>
              </a:p>
            </p:txBody>
          </p:sp>
          <p:sp>
            <p:nvSpPr>
              <p:cNvPr id="208" name="Google Shape;208;p18"/>
              <p:cNvSpPr txBox="1"/>
              <p:nvPr/>
            </p:nvSpPr>
            <p:spPr>
              <a:xfrm>
                <a:off x="7381875" y="3257550"/>
                <a:ext cx="666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374151"/>
                    </a:solidFill>
                    <a:latin typeface="Roboto"/>
                    <a:ea typeface="Roboto"/>
                    <a:cs typeface="Roboto"/>
                    <a:sym typeface="Roboto"/>
                  </a:rPr>
                  <a:t>ENTITY</a:t>
                </a:r>
                <a:endParaRPr b="1" sz="900">
                  <a:solidFill>
                    <a:srgbClr val="374151"/>
                  </a:solidFill>
                  <a:latin typeface="Roboto"/>
                  <a:ea typeface="Roboto"/>
                  <a:cs typeface="Roboto"/>
                  <a:sym typeface="Roboto"/>
                </a:endParaRPr>
              </a:p>
            </p:txBody>
          </p:sp>
        </p:grpSp>
        <p:grpSp>
          <p:nvGrpSpPr>
            <p:cNvPr id="209" name="Google Shape;209;p18"/>
            <p:cNvGrpSpPr/>
            <p:nvPr/>
          </p:nvGrpSpPr>
          <p:grpSpPr>
            <a:xfrm>
              <a:off x="4991100" y="3810000"/>
              <a:ext cx="3543300" cy="666900"/>
              <a:chOff x="0" y="0"/>
              <a:chExt cx="3543300" cy="666900"/>
            </a:xfrm>
          </p:grpSpPr>
          <p:sp>
            <p:nvSpPr>
              <p:cNvPr id="210" name="Google Shape;210;p18"/>
              <p:cNvSpPr/>
              <p:nvPr/>
            </p:nvSpPr>
            <p:spPr>
              <a:xfrm>
                <a:off x="0" y="0"/>
                <a:ext cx="3543300" cy="666900"/>
              </a:xfrm>
              <a:prstGeom prst="roundRect">
                <a:avLst>
                  <a:gd fmla="val 285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8"/>
              <p:cNvSpPr/>
              <p:nvPr/>
            </p:nvSpPr>
            <p:spPr>
              <a:xfrm>
                <a:off x="104775" y="142875"/>
                <a:ext cx="95400" cy="95400"/>
              </a:xfrm>
              <a:prstGeom prst="ellipse">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8"/>
              <p:cNvSpPr txBox="1"/>
              <p:nvPr/>
            </p:nvSpPr>
            <p:spPr>
              <a:xfrm>
                <a:off x="247650" y="114300"/>
                <a:ext cx="5715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4B5563"/>
                    </a:solidFill>
                    <a:latin typeface="Roboto Medium"/>
                    <a:ea typeface="Roboto Medium"/>
                    <a:cs typeface="Roboto Medium"/>
                    <a:sym typeface="Roboto Medium"/>
                  </a:rPr>
                  <a:t>User</a:t>
                </a:r>
                <a:endParaRPr b="0" sz="900">
                  <a:solidFill>
                    <a:srgbClr val="4B5563"/>
                  </a:solidFill>
                  <a:latin typeface="Roboto Medium"/>
                  <a:ea typeface="Roboto Medium"/>
                  <a:cs typeface="Roboto Medium"/>
                  <a:sym typeface="Roboto Medium"/>
                </a:endParaRPr>
              </a:p>
            </p:txBody>
          </p:sp>
          <p:sp>
            <p:nvSpPr>
              <p:cNvPr id="213" name="Google Shape;213;p18"/>
              <p:cNvSpPr/>
              <p:nvPr/>
            </p:nvSpPr>
            <p:spPr>
              <a:xfrm>
                <a:off x="866775" y="142875"/>
                <a:ext cx="95400" cy="95400"/>
              </a:xfrm>
              <a:prstGeom prst="ellipse">
                <a:avLst/>
              </a:prstGeom>
              <a:solidFill>
                <a:srgbClr val="00B8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18"/>
              <p:cNvSpPr txBox="1"/>
              <p:nvPr/>
            </p:nvSpPr>
            <p:spPr>
              <a:xfrm>
                <a:off x="1009650" y="114300"/>
                <a:ext cx="5715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4B5563"/>
                    </a:solidFill>
                    <a:latin typeface="Roboto Medium"/>
                    <a:ea typeface="Roboto Medium"/>
                    <a:cs typeface="Roboto Medium"/>
                    <a:sym typeface="Roboto Medium"/>
                  </a:rPr>
                  <a:t>News</a:t>
                </a:r>
                <a:endParaRPr b="0" sz="900">
                  <a:solidFill>
                    <a:srgbClr val="4B5563"/>
                  </a:solidFill>
                  <a:latin typeface="Roboto Medium"/>
                  <a:ea typeface="Roboto Medium"/>
                  <a:cs typeface="Roboto Medium"/>
                  <a:sym typeface="Roboto Medium"/>
                </a:endParaRPr>
              </a:p>
            </p:txBody>
          </p:sp>
          <p:sp>
            <p:nvSpPr>
              <p:cNvPr id="215" name="Google Shape;215;p18"/>
              <p:cNvSpPr/>
              <p:nvPr/>
            </p:nvSpPr>
            <p:spPr>
              <a:xfrm>
                <a:off x="1628775" y="142875"/>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8"/>
              <p:cNvSpPr txBox="1"/>
              <p:nvPr/>
            </p:nvSpPr>
            <p:spPr>
              <a:xfrm>
                <a:off x="1771650" y="114300"/>
                <a:ext cx="5715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4B5563"/>
                    </a:solidFill>
                    <a:latin typeface="Roboto Medium"/>
                    <a:ea typeface="Roboto Medium"/>
                    <a:cs typeface="Roboto Medium"/>
                    <a:sym typeface="Roboto Medium"/>
                  </a:rPr>
                  <a:t>Topic</a:t>
                </a:r>
                <a:endParaRPr b="0" sz="900">
                  <a:solidFill>
                    <a:srgbClr val="4B5563"/>
                  </a:solidFill>
                  <a:latin typeface="Roboto Medium"/>
                  <a:ea typeface="Roboto Medium"/>
                  <a:cs typeface="Roboto Medium"/>
                  <a:sym typeface="Roboto Medium"/>
                </a:endParaRPr>
              </a:p>
            </p:txBody>
          </p:sp>
          <p:sp>
            <p:nvSpPr>
              <p:cNvPr id="217" name="Google Shape;217;p18"/>
              <p:cNvSpPr/>
              <p:nvPr/>
            </p:nvSpPr>
            <p:spPr>
              <a:xfrm>
                <a:off x="2390775" y="142875"/>
                <a:ext cx="95400" cy="95400"/>
              </a:xfrm>
              <a:prstGeom prst="ellipse">
                <a:avLst/>
              </a:prstGeom>
              <a:solidFill>
                <a:srgbClr val="4B556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8"/>
              <p:cNvSpPr txBox="1"/>
              <p:nvPr/>
            </p:nvSpPr>
            <p:spPr>
              <a:xfrm>
                <a:off x="2533650" y="114300"/>
                <a:ext cx="5715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4B5563"/>
                    </a:solidFill>
                    <a:latin typeface="Roboto Medium"/>
                    <a:ea typeface="Roboto Medium"/>
                    <a:cs typeface="Roboto Medium"/>
                    <a:sym typeface="Roboto Medium"/>
                  </a:rPr>
                  <a:t>Entity</a:t>
                </a:r>
                <a:endParaRPr b="0" sz="900">
                  <a:solidFill>
                    <a:srgbClr val="4B5563"/>
                  </a:solidFill>
                  <a:latin typeface="Roboto Medium"/>
                  <a:ea typeface="Roboto Medium"/>
                  <a:cs typeface="Roboto Medium"/>
                  <a:sym typeface="Roboto Medium"/>
                </a:endParaRPr>
              </a:p>
            </p:txBody>
          </p:sp>
          <p:cxnSp>
            <p:nvCxnSpPr>
              <p:cNvPr id="219" name="Google Shape;219;p18"/>
              <p:cNvCxnSpPr/>
              <p:nvPr/>
            </p:nvCxnSpPr>
            <p:spPr>
              <a:xfrm>
                <a:off x="95250" y="457200"/>
                <a:ext cx="190500" cy="0"/>
              </a:xfrm>
              <a:prstGeom prst="straightConnector1">
                <a:avLst/>
              </a:prstGeom>
              <a:solidFill>
                <a:srgbClr val="FFFFFF"/>
              </a:solidFill>
              <a:ln cap="flat" cmpd="sng" w="19050">
                <a:solidFill>
                  <a:srgbClr val="0052CC"/>
                </a:solidFill>
                <a:prstDash val="solid"/>
                <a:round/>
                <a:headEnd len="sm" w="sm" type="none"/>
                <a:tailEnd len="sm" w="sm" type="none"/>
              </a:ln>
            </p:spPr>
          </p:cxnSp>
          <p:sp>
            <p:nvSpPr>
              <p:cNvPr id="220" name="Google Shape;220;p18"/>
              <p:cNvSpPr txBox="1"/>
              <p:nvPr/>
            </p:nvSpPr>
            <p:spPr>
              <a:xfrm>
                <a:off x="342900" y="381000"/>
                <a:ext cx="6669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4B5563"/>
                    </a:solidFill>
                    <a:latin typeface="Roboto Medium"/>
                    <a:ea typeface="Roboto Medium"/>
                    <a:cs typeface="Roboto Medium"/>
                    <a:sym typeface="Roboto Medium"/>
                  </a:rPr>
                  <a:t>User Click</a:t>
                </a:r>
                <a:endParaRPr b="0" sz="900">
                  <a:solidFill>
                    <a:srgbClr val="4B5563"/>
                  </a:solidFill>
                  <a:latin typeface="Roboto Medium"/>
                  <a:ea typeface="Roboto Medium"/>
                  <a:cs typeface="Roboto Medium"/>
                  <a:sym typeface="Roboto Medium"/>
                </a:endParaRPr>
              </a:p>
            </p:txBody>
          </p:sp>
          <p:pic>
            <p:nvPicPr>
              <p:cNvPr id="221" name="Google Shape;221;p18"/>
              <p:cNvPicPr preferRelativeResize="0"/>
              <p:nvPr/>
            </p:nvPicPr>
            <p:blipFill rotWithShape="1">
              <a:blip r:embed="rId8">
                <a:alphaModFix/>
              </a:blip>
              <a:srcRect b="0" l="0" r="0" t="0"/>
              <a:stretch/>
            </p:blipFill>
            <p:spPr>
              <a:xfrm>
                <a:off x="1143000" y="447675"/>
                <a:ext cx="190500" cy="19200"/>
              </a:xfrm>
              <a:prstGeom prst="rect">
                <a:avLst/>
              </a:prstGeom>
              <a:noFill/>
              <a:ln>
                <a:noFill/>
              </a:ln>
            </p:spPr>
          </p:pic>
          <p:sp>
            <p:nvSpPr>
              <p:cNvPr id="222" name="Google Shape;222;p18"/>
              <p:cNvSpPr txBox="1"/>
              <p:nvPr/>
            </p:nvSpPr>
            <p:spPr>
              <a:xfrm>
                <a:off x="1390650" y="381000"/>
                <a:ext cx="7620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4B5563"/>
                    </a:solidFill>
                    <a:latin typeface="Roboto Medium"/>
                    <a:ea typeface="Roboto Medium"/>
                    <a:cs typeface="Roboto Medium"/>
                    <a:sym typeface="Roboto Medium"/>
                  </a:rPr>
                  <a:t>Related News</a:t>
                </a:r>
                <a:endParaRPr b="0" sz="900">
                  <a:solidFill>
                    <a:srgbClr val="4B5563"/>
                  </a:solidFill>
                  <a:latin typeface="Roboto Medium"/>
                  <a:ea typeface="Roboto Medium"/>
                  <a:cs typeface="Roboto Medium"/>
                  <a:sym typeface="Roboto Medium"/>
                </a:endParaRPr>
              </a:p>
            </p:txBody>
          </p:sp>
          <p:cxnSp>
            <p:nvCxnSpPr>
              <p:cNvPr id="223" name="Google Shape;223;p18"/>
              <p:cNvCxnSpPr/>
              <p:nvPr/>
            </p:nvCxnSpPr>
            <p:spPr>
              <a:xfrm>
                <a:off x="2247900" y="457200"/>
                <a:ext cx="190500" cy="0"/>
              </a:xfrm>
              <a:prstGeom prst="straightConnector1">
                <a:avLst/>
              </a:prstGeom>
              <a:solidFill>
                <a:srgbClr val="FFFFFF"/>
              </a:solidFill>
              <a:ln cap="flat" cmpd="sng" w="19050">
                <a:solidFill>
                  <a:srgbClr val="F59E0B"/>
                </a:solidFill>
                <a:prstDash val="solid"/>
                <a:round/>
                <a:headEnd len="sm" w="sm" type="none"/>
                <a:tailEnd len="sm" w="sm" type="none"/>
              </a:ln>
            </p:spPr>
          </p:cxnSp>
          <p:sp>
            <p:nvSpPr>
              <p:cNvPr id="224" name="Google Shape;224;p18"/>
              <p:cNvSpPr txBox="1"/>
              <p:nvPr/>
            </p:nvSpPr>
            <p:spPr>
              <a:xfrm>
                <a:off x="2495550" y="381000"/>
                <a:ext cx="9525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4B5563"/>
                    </a:solidFill>
                    <a:latin typeface="Roboto Medium"/>
                    <a:ea typeface="Roboto Medium"/>
                    <a:cs typeface="Roboto Medium"/>
                    <a:sym typeface="Roboto Medium"/>
                  </a:rPr>
                  <a:t>Topic / Entity Link</a:t>
                </a:r>
                <a:endParaRPr b="0" sz="900">
                  <a:solidFill>
                    <a:srgbClr val="4B5563"/>
                  </a:solidFill>
                  <a:latin typeface="Roboto Medium"/>
                  <a:ea typeface="Roboto Medium"/>
                  <a:cs typeface="Roboto Medium"/>
                  <a:sym typeface="Roboto Medium"/>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9"/>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30" name="Google Shape;230;p19"/>
          <p:cNvPicPr preferRelativeResize="0"/>
          <p:nvPr/>
        </p:nvPicPr>
        <p:blipFill rotWithShape="1">
          <a:blip r:embed="rId3">
            <a:alphaModFix/>
          </a:blip>
          <a:srcRect b="0" l="0" r="0" t="0"/>
          <a:stretch/>
        </p:blipFill>
        <p:spPr>
          <a:xfrm>
            <a:off x="9525" y="9525"/>
            <a:ext cx="8877300" cy="4876800"/>
          </a:xfrm>
          <a:prstGeom prst="rect">
            <a:avLst/>
          </a:prstGeom>
          <a:noFill/>
          <a:ln>
            <a:noFill/>
          </a:ln>
        </p:spPr>
      </p:pic>
      <p:sp>
        <p:nvSpPr>
          <p:cNvPr id="231" name="Google Shape;231;p19"/>
          <p:cNvSpPr/>
          <p:nvPr/>
        </p:nvSpPr>
        <p:spPr>
          <a:xfrm>
            <a:off x="0" y="0"/>
            <a:ext cx="91440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19"/>
          <p:cNvSpPr/>
          <p:nvPr/>
        </p:nvSpPr>
        <p:spPr>
          <a:xfrm>
            <a:off x="0" y="0"/>
            <a:ext cx="1333500" cy="381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9"/>
          <p:cNvSpPr txBox="1"/>
          <p:nvPr/>
        </p:nvSpPr>
        <p:spPr>
          <a:xfrm>
            <a:off x="457200" y="304800"/>
            <a:ext cx="82296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Inter"/>
                <a:ea typeface="Inter"/>
                <a:cs typeface="Inter"/>
                <a:sym typeface="Inter"/>
              </a:rPr>
              <a:t>Responsible Recommendation Scoring</a:t>
            </a:r>
            <a:endParaRPr b="1" sz="2400">
              <a:solidFill>
                <a:srgbClr val="111827"/>
              </a:solidFill>
              <a:latin typeface="Inter"/>
              <a:ea typeface="Inter"/>
              <a:cs typeface="Inter"/>
              <a:sym typeface="Inter"/>
            </a:endParaRPr>
          </a:p>
          <a:p>
            <a:pPr indent="0" lvl="0" marL="0" rtl="0" algn="l">
              <a:spcBef>
                <a:spcPts val="300"/>
              </a:spcBef>
              <a:spcAft>
                <a:spcPts val="0"/>
              </a:spcAft>
              <a:buNone/>
            </a:pPr>
            <a:r>
              <a:rPr b="0" lang="en" sz="1200">
                <a:solidFill>
                  <a:srgbClr val="4B5563"/>
                </a:solidFill>
                <a:latin typeface="Inter"/>
                <a:ea typeface="Inter"/>
                <a:cs typeface="Inter"/>
                <a:sym typeface="Inter"/>
              </a:rPr>
              <a:t>Multi-objective optimization formula balancing relevance, persuasion risk, and transparency</a:t>
            </a:r>
            <a:endParaRPr b="0" sz="1200">
              <a:solidFill>
                <a:srgbClr val="4B5563"/>
              </a:solidFill>
              <a:latin typeface="Inter"/>
              <a:ea typeface="Inter"/>
              <a:cs typeface="Inter"/>
              <a:sym typeface="Inter"/>
            </a:endParaRPr>
          </a:p>
        </p:txBody>
      </p:sp>
      <p:grpSp>
        <p:nvGrpSpPr>
          <p:cNvPr id="234" name="Google Shape;234;p19"/>
          <p:cNvGrpSpPr/>
          <p:nvPr/>
        </p:nvGrpSpPr>
        <p:grpSpPr>
          <a:xfrm>
            <a:off x="457200" y="1028700"/>
            <a:ext cx="8229600" cy="914400"/>
            <a:chOff x="0" y="0"/>
            <a:chExt cx="8229600" cy="914400"/>
          </a:xfrm>
        </p:grpSpPr>
        <p:sp>
          <p:nvSpPr>
            <p:cNvPr id="235" name="Google Shape;235;p19"/>
            <p:cNvSpPr/>
            <p:nvPr/>
          </p:nvSpPr>
          <p:spPr>
            <a:xfrm>
              <a:off x="0" y="0"/>
              <a:ext cx="8229600" cy="914400"/>
            </a:xfrm>
            <a:prstGeom prst="roundRect">
              <a:avLst>
                <a:gd fmla="val 8333"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9"/>
            <p:cNvSpPr/>
            <p:nvPr/>
          </p:nvSpPr>
          <p:spPr>
            <a:xfrm>
              <a:off x="0" y="0"/>
              <a:ext cx="8229600" cy="28500"/>
            </a:xfrm>
            <a:prstGeom prst="roundRect">
              <a:avLst>
                <a:gd fmla="val 33333" name="adj"/>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19"/>
            <p:cNvSpPr txBox="1"/>
            <p:nvPr/>
          </p:nvSpPr>
          <p:spPr>
            <a:xfrm>
              <a:off x="0" y="0"/>
              <a:ext cx="8229600" cy="914400"/>
            </a:xfrm>
            <a:prstGeom prst="rect">
              <a:avLst/>
            </a:prstGeom>
            <a:noFill/>
            <a:ln>
              <a:noFill/>
            </a:ln>
          </p:spPr>
          <p:txBody>
            <a:bodyPr anchorCtr="0" anchor="ctr" bIns="114300" lIns="228600" spcFirstLastPara="1" rIns="228600" wrap="square" tIns="114300">
              <a:noAutofit/>
            </a:bodyPr>
            <a:lstStyle/>
            <a:p>
              <a:pPr indent="0" lvl="0" marL="0" rtl="0" algn="ctr">
                <a:spcBef>
                  <a:spcPts val="0"/>
                </a:spcBef>
                <a:spcAft>
                  <a:spcPts val="0"/>
                </a:spcAft>
                <a:buNone/>
              </a:pPr>
              <a:r>
                <a:rPr b="1" lang="en" sz="850">
                  <a:solidFill>
                    <a:srgbClr val="0052CC"/>
                  </a:solidFill>
                  <a:latin typeface="Inter"/>
                  <a:ea typeface="Inter"/>
                  <a:cs typeface="Inter"/>
                  <a:sym typeface="Inter"/>
                </a:rPr>
                <a:t>RESPONSIBLE SCORING FORMULA</a:t>
              </a:r>
              <a:endParaRPr b="1" sz="850">
                <a:solidFill>
                  <a:srgbClr val="0052CC"/>
                </a:solidFill>
                <a:latin typeface="Inter"/>
                <a:ea typeface="Inter"/>
                <a:cs typeface="Inter"/>
                <a:sym typeface="Inter"/>
              </a:endParaRPr>
            </a:p>
            <a:p>
              <a:pPr indent="0" lvl="0" marL="0" rtl="0" algn="ctr">
                <a:spcBef>
                  <a:spcPts val="450"/>
                </a:spcBef>
                <a:spcAft>
                  <a:spcPts val="0"/>
                </a:spcAft>
                <a:buNone/>
              </a:pPr>
              <a:r>
                <a:rPr b="0" lang="en" sz="1600">
                  <a:solidFill>
                    <a:srgbClr val="1E293B"/>
                  </a:solidFill>
                  <a:latin typeface="Inter SemiBold"/>
                  <a:ea typeface="Inter SemiBold"/>
                  <a:cs typeface="Inter SemiBold"/>
                  <a:sym typeface="Inter SemiBold"/>
                </a:rPr>
                <a:t>Score = (</a:t>
              </a:r>
              <a:r>
                <a:rPr b="1" lang="en" sz="1600">
                  <a:solidFill>
                    <a:srgbClr val="0052CC"/>
                  </a:solidFill>
                  <a:latin typeface="Inter"/>
                  <a:ea typeface="Inter"/>
                  <a:cs typeface="Inter"/>
                  <a:sym typeface="Inter"/>
                </a:rPr>
                <a:t>0.70 × Relevance</a:t>
              </a:r>
              <a:r>
                <a:rPr b="0" lang="en" sz="1600">
                  <a:solidFill>
                    <a:srgbClr val="1E293B"/>
                  </a:solidFill>
                  <a:latin typeface="Inter SemiBold"/>
                  <a:ea typeface="Inter SemiBold"/>
                  <a:cs typeface="Inter SemiBold"/>
                  <a:sym typeface="Inter SemiBold"/>
                </a:rPr>
                <a:t>) − (</a:t>
              </a:r>
              <a:r>
                <a:rPr b="1" lang="en" sz="1600">
                  <a:solidFill>
                    <a:srgbClr val="D97706"/>
                  </a:solidFill>
                  <a:latin typeface="Inter"/>
                  <a:ea typeface="Inter"/>
                  <a:cs typeface="Inter"/>
                  <a:sym typeface="Inter"/>
                </a:rPr>
                <a:t>0.30 × PersuasionRisk</a:t>
              </a:r>
              <a:r>
                <a:rPr b="0" lang="en" sz="1600">
                  <a:solidFill>
                    <a:srgbClr val="1E293B"/>
                  </a:solidFill>
                  <a:latin typeface="Inter SemiBold"/>
                  <a:ea typeface="Inter SemiBold"/>
                  <a:cs typeface="Inter SemiBold"/>
                  <a:sym typeface="Inter SemiBold"/>
                </a:rPr>
                <a:t>) + (</a:t>
              </a:r>
              <a:r>
                <a:rPr b="1" lang="en" sz="1600">
                  <a:solidFill>
                    <a:srgbClr val="00B8D9"/>
                  </a:solidFill>
                  <a:latin typeface="Inter"/>
                  <a:ea typeface="Inter"/>
                  <a:cs typeface="Inter"/>
                  <a:sym typeface="Inter"/>
                </a:rPr>
                <a:t>0.05 × Explanation</a:t>
              </a:r>
              <a:r>
                <a:rPr b="0" lang="en" sz="1600">
                  <a:solidFill>
                    <a:srgbClr val="1E293B"/>
                  </a:solidFill>
                  <a:latin typeface="Inter SemiBold"/>
                  <a:ea typeface="Inter SemiBold"/>
                  <a:cs typeface="Inter SemiBold"/>
                  <a:sym typeface="Inter SemiBold"/>
                </a:rPr>
                <a:t>)</a:t>
              </a:r>
              <a:endParaRPr b="0" sz="1600">
                <a:solidFill>
                  <a:srgbClr val="1E293B"/>
                </a:solidFill>
                <a:latin typeface="Inter SemiBold"/>
                <a:ea typeface="Inter SemiBold"/>
                <a:cs typeface="Inter SemiBold"/>
                <a:sym typeface="Inter SemiBold"/>
              </a:endParaRPr>
            </a:p>
          </p:txBody>
        </p:sp>
      </p:grpSp>
      <p:grpSp>
        <p:nvGrpSpPr>
          <p:cNvPr id="238" name="Google Shape;238;p19"/>
          <p:cNvGrpSpPr/>
          <p:nvPr/>
        </p:nvGrpSpPr>
        <p:grpSpPr>
          <a:xfrm>
            <a:off x="457200" y="2152650"/>
            <a:ext cx="2590800" cy="2419500"/>
            <a:chOff x="0" y="0"/>
            <a:chExt cx="2590800" cy="2419500"/>
          </a:xfrm>
        </p:grpSpPr>
        <p:sp>
          <p:nvSpPr>
            <p:cNvPr id="239" name="Google Shape;239;p19"/>
            <p:cNvSpPr/>
            <p:nvPr/>
          </p:nvSpPr>
          <p:spPr>
            <a:xfrm>
              <a:off x="0" y="0"/>
              <a:ext cx="2590800" cy="2419500"/>
            </a:xfrm>
            <a:prstGeom prst="roundRect">
              <a:avLst>
                <a:gd fmla="val 314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19"/>
            <p:cNvSpPr/>
            <p:nvPr/>
          </p:nvSpPr>
          <p:spPr>
            <a:xfrm>
              <a:off x="0" y="0"/>
              <a:ext cx="2590800" cy="381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19"/>
            <p:cNvSpPr txBox="1"/>
            <p:nvPr/>
          </p:nvSpPr>
          <p:spPr>
            <a:xfrm>
              <a:off x="0" y="0"/>
              <a:ext cx="2590800" cy="2419500"/>
            </a:xfrm>
            <a:prstGeom prst="rect">
              <a:avLst/>
            </a:prstGeom>
            <a:noFill/>
            <a:ln>
              <a:noFill/>
            </a:ln>
          </p:spPr>
          <p:txBody>
            <a:bodyPr anchorCtr="0" anchor="t" bIns="228600" lIns="190500" spcFirstLastPara="1" rIns="190500" wrap="square" tIns="228600">
              <a:noAutofit/>
            </a:bodyPr>
            <a:lstStyle/>
            <a:p>
              <a:pPr indent="0" lvl="0" marL="0" rtl="0" algn="ctr">
                <a:spcBef>
                  <a:spcPts val="0"/>
                </a:spcBef>
                <a:spcAft>
                  <a:spcPts val="0"/>
                </a:spcAft>
                <a:buNone/>
              </a:pPr>
              <a:r>
                <a:rPr b="0" lang="en" sz="3400">
                  <a:solidFill>
                    <a:srgbClr val="0052CC"/>
                  </a:solidFill>
                  <a:latin typeface="Inter ExtraBold"/>
                  <a:ea typeface="Inter ExtraBold"/>
                  <a:cs typeface="Inter ExtraBold"/>
                  <a:sym typeface="Inter ExtraBold"/>
                </a:rPr>
                <a:t>0.70</a:t>
              </a:r>
              <a:endParaRPr b="0" sz="3400">
                <a:solidFill>
                  <a:srgbClr val="0052CC"/>
                </a:solidFill>
                <a:latin typeface="Inter ExtraBold"/>
                <a:ea typeface="Inter ExtraBold"/>
                <a:cs typeface="Inter ExtraBold"/>
                <a:sym typeface="Inter ExtraBold"/>
              </a:endParaRPr>
            </a:p>
            <a:p>
              <a:pPr indent="0" lvl="0" marL="0" rtl="0" algn="ctr">
                <a:spcBef>
                  <a:spcPts val="600"/>
                </a:spcBef>
                <a:spcAft>
                  <a:spcPts val="0"/>
                </a:spcAft>
                <a:buNone/>
              </a:pPr>
              <a:r>
                <a:rPr b="1" lang="en" sz="1000">
                  <a:solidFill>
                    <a:srgbClr val="0052CC"/>
                  </a:solidFill>
                  <a:latin typeface="Inter"/>
                  <a:ea typeface="Inter"/>
                  <a:cs typeface="Inter"/>
                  <a:sym typeface="Inter"/>
                </a:rPr>
                <a:t>RELEVANCE WEIGHT</a:t>
              </a:r>
              <a:endParaRPr b="1" sz="1000">
                <a:solidFill>
                  <a:srgbClr val="0052CC"/>
                </a:solidFill>
                <a:latin typeface="Inter"/>
                <a:ea typeface="Inter"/>
                <a:cs typeface="Inter"/>
                <a:sym typeface="Inter"/>
              </a:endParaRPr>
            </a:p>
            <a:p>
              <a:pPr indent="0" lvl="0" marL="0" rtl="0" algn="ctr">
                <a:spcBef>
                  <a:spcPts val="900"/>
                </a:spcBef>
                <a:spcAft>
                  <a:spcPts val="0"/>
                </a:spcAft>
                <a:buNone/>
              </a:pPr>
              <a:r>
                <a:rPr b="0" lang="en" sz="1100">
                  <a:solidFill>
                    <a:srgbClr val="4B5563"/>
                  </a:solidFill>
                  <a:latin typeface="Inter"/>
                  <a:ea typeface="Inter"/>
                  <a:cs typeface="Inter"/>
                  <a:sym typeface="Inter"/>
                </a:rPr>
                <a:t>Normalized graph-based relevance score derived from user signals</a:t>
              </a:r>
              <a:endParaRPr b="0" sz="1100">
                <a:solidFill>
                  <a:srgbClr val="4B5563"/>
                </a:solidFill>
                <a:latin typeface="Inter"/>
                <a:ea typeface="Inter"/>
                <a:cs typeface="Inter"/>
                <a:sym typeface="Inter"/>
              </a:endParaRPr>
            </a:p>
          </p:txBody>
        </p:sp>
      </p:grpSp>
      <p:grpSp>
        <p:nvGrpSpPr>
          <p:cNvPr id="242" name="Google Shape;242;p19"/>
          <p:cNvGrpSpPr/>
          <p:nvPr/>
        </p:nvGrpSpPr>
        <p:grpSpPr>
          <a:xfrm>
            <a:off x="3276600" y="2152650"/>
            <a:ext cx="2590800" cy="2419500"/>
            <a:chOff x="0" y="0"/>
            <a:chExt cx="2590800" cy="2419500"/>
          </a:xfrm>
        </p:grpSpPr>
        <p:sp>
          <p:nvSpPr>
            <p:cNvPr id="243" name="Google Shape;243;p19"/>
            <p:cNvSpPr/>
            <p:nvPr/>
          </p:nvSpPr>
          <p:spPr>
            <a:xfrm>
              <a:off x="0" y="0"/>
              <a:ext cx="2590800" cy="2419500"/>
            </a:xfrm>
            <a:prstGeom prst="roundRect">
              <a:avLst>
                <a:gd fmla="val 314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19"/>
            <p:cNvSpPr/>
            <p:nvPr/>
          </p:nvSpPr>
          <p:spPr>
            <a:xfrm>
              <a:off x="0" y="0"/>
              <a:ext cx="2590800" cy="38100"/>
            </a:xfrm>
            <a:prstGeom prst="rect">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9"/>
            <p:cNvSpPr txBox="1"/>
            <p:nvPr/>
          </p:nvSpPr>
          <p:spPr>
            <a:xfrm>
              <a:off x="0" y="0"/>
              <a:ext cx="2590800" cy="2419500"/>
            </a:xfrm>
            <a:prstGeom prst="rect">
              <a:avLst/>
            </a:prstGeom>
            <a:noFill/>
            <a:ln>
              <a:noFill/>
            </a:ln>
          </p:spPr>
          <p:txBody>
            <a:bodyPr anchorCtr="0" anchor="t" bIns="228600" lIns="190500" spcFirstLastPara="1" rIns="190500" wrap="square" tIns="228600">
              <a:noAutofit/>
            </a:bodyPr>
            <a:lstStyle/>
            <a:p>
              <a:pPr indent="0" lvl="0" marL="0" rtl="0" algn="ctr">
                <a:spcBef>
                  <a:spcPts val="0"/>
                </a:spcBef>
                <a:spcAft>
                  <a:spcPts val="0"/>
                </a:spcAft>
                <a:buNone/>
              </a:pPr>
              <a:r>
                <a:rPr b="0" lang="en" sz="3400">
                  <a:solidFill>
                    <a:srgbClr val="D97706"/>
                  </a:solidFill>
                  <a:latin typeface="Inter ExtraBold"/>
                  <a:ea typeface="Inter ExtraBold"/>
                  <a:cs typeface="Inter ExtraBold"/>
                  <a:sym typeface="Inter ExtraBold"/>
                </a:rPr>
                <a:t>0.30</a:t>
              </a:r>
              <a:endParaRPr b="0" sz="3400">
                <a:solidFill>
                  <a:srgbClr val="D97706"/>
                </a:solidFill>
                <a:latin typeface="Inter ExtraBold"/>
                <a:ea typeface="Inter ExtraBold"/>
                <a:cs typeface="Inter ExtraBold"/>
                <a:sym typeface="Inter ExtraBold"/>
              </a:endParaRPr>
            </a:p>
            <a:p>
              <a:pPr indent="0" lvl="0" marL="0" rtl="0" algn="ctr">
                <a:spcBef>
                  <a:spcPts val="600"/>
                </a:spcBef>
                <a:spcAft>
                  <a:spcPts val="0"/>
                </a:spcAft>
                <a:buNone/>
              </a:pPr>
              <a:r>
                <a:rPr b="1" lang="en" sz="1000">
                  <a:solidFill>
                    <a:srgbClr val="D97706"/>
                  </a:solidFill>
                  <a:latin typeface="Inter"/>
                  <a:ea typeface="Inter"/>
                  <a:cs typeface="Inter"/>
                  <a:sym typeface="Inter"/>
                </a:rPr>
                <a:t>PERSUASION RISK</a:t>
              </a:r>
              <a:endParaRPr b="1" sz="1000">
                <a:solidFill>
                  <a:srgbClr val="D97706"/>
                </a:solidFill>
                <a:latin typeface="Inter"/>
                <a:ea typeface="Inter"/>
                <a:cs typeface="Inter"/>
                <a:sym typeface="Inter"/>
              </a:endParaRPr>
            </a:p>
            <a:p>
              <a:pPr indent="0" lvl="0" marL="0" rtl="0" algn="ctr">
                <a:spcBef>
                  <a:spcPts val="900"/>
                </a:spcBef>
                <a:spcAft>
                  <a:spcPts val="0"/>
                </a:spcAft>
                <a:buNone/>
              </a:pPr>
              <a:r>
                <a:rPr b="0" lang="en" sz="1100">
                  <a:solidFill>
                    <a:srgbClr val="4B5563"/>
                  </a:solidFill>
                  <a:latin typeface="Inter"/>
                  <a:ea typeface="Inter"/>
                  <a:cs typeface="Inter"/>
                  <a:sym typeface="Inter"/>
                </a:rPr>
                <a:t>Penalty suppressing manipulative rhetoric and sensationalism</a:t>
              </a:r>
              <a:endParaRPr b="0" sz="1100">
                <a:solidFill>
                  <a:srgbClr val="4B5563"/>
                </a:solidFill>
                <a:latin typeface="Inter"/>
                <a:ea typeface="Inter"/>
                <a:cs typeface="Inter"/>
                <a:sym typeface="Inter"/>
              </a:endParaRPr>
            </a:p>
          </p:txBody>
        </p:sp>
      </p:grpSp>
      <p:grpSp>
        <p:nvGrpSpPr>
          <p:cNvPr id="246" name="Google Shape;246;p19"/>
          <p:cNvGrpSpPr/>
          <p:nvPr/>
        </p:nvGrpSpPr>
        <p:grpSpPr>
          <a:xfrm>
            <a:off x="6096000" y="2152650"/>
            <a:ext cx="2590800" cy="2419500"/>
            <a:chOff x="0" y="0"/>
            <a:chExt cx="2590800" cy="2419500"/>
          </a:xfrm>
        </p:grpSpPr>
        <p:sp>
          <p:nvSpPr>
            <p:cNvPr id="247" name="Google Shape;247;p19"/>
            <p:cNvSpPr/>
            <p:nvPr/>
          </p:nvSpPr>
          <p:spPr>
            <a:xfrm>
              <a:off x="0" y="0"/>
              <a:ext cx="2590800" cy="2419500"/>
            </a:xfrm>
            <a:prstGeom prst="roundRect">
              <a:avLst>
                <a:gd fmla="val 314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19"/>
            <p:cNvSpPr/>
            <p:nvPr/>
          </p:nvSpPr>
          <p:spPr>
            <a:xfrm>
              <a:off x="0" y="0"/>
              <a:ext cx="2590800" cy="38100"/>
            </a:xfrm>
            <a:prstGeom prst="rect">
              <a:avLst/>
            </a:prstGeom>
            <a:solidFill>
              <a:srgbClr val="00B8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9"/>
            <p:cNvSpPr txBox="1"/>
            <p:nvPr/>
          </p:nvSpPr>
          <p:spPr>
            <a:xfrm>
              <a:off x="0" y="0"/>
              <a:ext cx="2590800" cy="2419500"/>
            </a:xfrm>
            <a:prstGeom prst="rect">
              <a:avLst/>
            </a:prstGeom>
            <a:noFill/>
            <a:ln>
              <a:noFill/>
            </a:ln>
          </p:spPr>
          <p:txBody>
            <a:bodyPr anchorCtr="0" anchor="t" bIns="228600" lIns="190500" spcFirstLastPara="1" rIns="190500" wrap="square" tIns="228600">
              <a:noAutofit/>
            </a:bodyPr>
            <a:lstStyle/>
            <a:p>
              <a:pPr indent="0" lvl="0" marL="0" rtl="0" algn="ctr">
                <a:spcBef>
                  <a:spcPts val="0"/>
                </a:spcBef>
                <a:spcAft>
                  <a:spcPts val="0"/>
                </a:spcAft>
                <a:buNone/>
              </a:pPr>
              <a:r>
                <a:rPr b="0" lang="en" sz="3400">
                  <a:solidFill>
                    <a:srgbClr val="00B8D9"/>
                  </a:solidFill>
                  <a:latin typeface="Inter ExtraBold"/>
                  <a:ea typeface="Inter ExtraBold"/>
                  <a:cs typeface="Inter ExtraBold"/>
                  <a:sym typeface="Inter ExtraBold"/>
                </a:rPr>
                <a:t>0.05</a:t>
              </a:r>
              <a:endParaRPr b="0" sz="3400">
                <a:solidFill>
                  <a:srgbClr val="00B8D9"/>
                </a:solidFill>
                <a:latin typeface="Inter ExtraBold"/>
                <a:ea typeface="Inter ExtraBold"/>
                <a:cs typeface="Inter ExtraBold"/>
                <a:sym typeface="Inter ExtraBold"/>
              </a:endParaRPr>
            </a:p>
            <a:p>
              <a:pPr indent="0" lvl="0" marL="0" rtl="0" algn="ctr">
                <a:spcBef>
                  <a:spcPts val="600"/>
                </a:spcBef>
                <a:spcAft>
                  <a:spcPts val="0"/>
                </a:spcAft>
                <a:buNone/>
              </a:pPr>
              <a:r>
                <a:rPr b="1" lang="en" sz="1000">
                  <a:solidFill>
                    <a:srgbClr val="00B8D9"/>
                  </a:solidFill>
                  <a:latin typeface="Inter"/>
                  <a:ea typeface="Inter"/>
                  <a:cs typeface="Inter"/>
                  <a:sym typeface="Inter"/>
                </a:rPr>
                <a:t>EXPLANATION BONUS</a:t>
              </a:r>
              <a:endParaRPr b="1" sz="1000">
                <a:solidFill>
                  <a:srgbClr val="00B8D9"/>
                </a:solidFill>
                <a:latin typeface="Inter"/>
                <a:ea typeface="Inter"/>
                <a:cs typeface="Inter"/>
                <a:sym typeface="Inter"/>
              </a:endParaRPr>
            </a:p>
            <a:p>
              <a:pPr indent="0" lvl="0" marL="0" rtl="0" algn="ctr">
                <a:spcBef>
                  <a:spcPts val="900"/>
                </a:spcBef>
                <a:spcAft>
                  <a:spcPts val="0"/>
                </a:spcAft>
                <a:buNone/>
              </a:pPr>
              <a:r>
                <a:rPr b="0" lang="en" sz="1100">
                  <a:solidFill>
                    <a:srgbClr val="4B5563"/>
                  </a:solidFill>
                  <a:latin typeface="Inter"/>
                  <a:ea typeface="Inter"/>
                  <a:cs typeface="Inter"/>
                  <a:sym typeface="Inter"/>
                </a:rPr>
                <a:t>Bonus score rewarding item-level transparency</a:t>
              </a:r>
              <a:endParaRPr b="0" sz="1100">
                <a:solidFill>
                  <a:srgbClr val="4B5563"/>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0"/>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55" name="Google Shape;255;p20"/>
          <p:cNvPicPr preferRelativeResize="0"/>
          <p:nvPr/>
        </p:nvPicPr>
        <p:blipFill rotWithShape="1">
          <a:blip r:embed="rId3">
            <a:alphaModFix/>
          </a:blip>
          <a:srcRect b="0" l="0" r="0" t="0"/>
          <a:stretch/>
        </p:blipFill>
        <p:spPr>
          <a:xfrm>
            <a:off x="9525" y="9525"/>
            <a:ext cx="8877300" cy="4876800"/>
          </a:xfrm>
          <a:prstGeom prst="rect">
            <a:avLst/>
          </a:prstGeom>
          <a:noFill/>
          <a:ln>
            <a:noFill/>
          </a:ln>
        </p:spPr>
      </p:pic>
      <p:sp>
        <p:nvSpPr>
          <p:cNvPr id="256" name="Google Shape;256;p20"/>
          <p:cNvSpPr/>
          <p:nvPr/>
        </p:nvSpPr>
        <p:spPr>
          <a:xfrm>
            <a:off x="0" y="0"/>
            <a:ext cx="91440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20"/>
          <p:cNvSpPr/>
          <p:nvPr/>
        </p:nvSpPr>
        <p:spPr>
          <a:xfrm>
            <a:off x="0" y="0"/>
            <a:ext cx="1333500" cy="381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20"/>
          <p:cNvSpPr txBox="1"/>
          <p:nvPr/>
        </p:nvSpPr>
        <p:spPr>
          <a:xfrm>
            <a:off x="457200" y="266700"/>
            <a:ext cx="8229600" cy="619200"/>
          </a:xfrm>
          <a:prstGeom prst="rect">
            <a:avLst/>
          </a:prstGeom>
          <a:noFill/>
          <a:ln>
            <a:noFill/>
          </a:ln>
        </p:spPr>
        <p:txBody>
          <a:bodyPr anchorCtr="0" anchor="t" bIns="0" lIns="0" spcFirstLastPara="1" rIns="0" wrap="square" tIns="0">
            <a:noAutofit/>
          </a:bodyPr>
          <a:lstStyle/>
          <a:p>
            <a:r>
              <a:t>Real-World MIND Benchmark &amp; Trained Model Evaluation</a:t>
            </a:r>
          </a:p>
          <a:p>
            <a:r>
              <a:t>RespNews trained on Microsoft MIND (51k+ articles) and SemEval-2023 outperforms standard baselines while enforcing provider parity and transparency.</a:t>
            </a:r>
          </a:p>
        </p:txBody>
      </p:sp>
      <p:pic>
        <p:nvPicPr>
          <p:cNvPr id="259" name="Google Shape;259;p20"/>
          <p:cNvPicPr preferRelativeResize="0"/>
          <p:nvPr/>
        </p:nvPicPr>
        <p:blipFill rotWithShape="1">
          <a:blip r:embed="rId4">
            <a:alphaModFix/>
          </a:blip>
          <a:srcRect b="0" l="0" r="0" t="0"/>
          <a:stretch/>
        </p:blipFill>
        <p:spPr>
          <a:xfrm>
            <a:off x="4567238" y="1047750"/>
            <a:ext cx="9600" cy="3695700"/>
          </a:xfrm>
          <a:prstGeom prst="rect">
            <a:avLst/>
          </a:prstGeom>
          <a:noFill/>
          <a:ln>
            <a:noFill/>
          </a:ln>
        </p:spPr>
      </p:pic>
      <p:grpSp>
        <p:nvGrpSpPr>
          <p:cNvPr id="260" name="Google Shape;260;p20"/>
          <p:cNvGrpSpPr/>
          <p:nvPr/>
        </p:nvGrpSpPr>
        <p:grpSpPr>
          <a:xfrm>
            <a:off x="457200" y="1047750"/>
            <a:ext cx="3924300" cy="3714750"/>
            <a:chOff x="0" y="0"/>
            <a:chExt cx="3924300" cy="3714750"/>
          </a:xfrm>
        </p:grpSpPr>
        <p:sp>
          <p:nvSpPr>
            <p:cNvPr id="261" name="Google Shape;261;p20"/>
            <p:cNvSpPr txBox="1"/>
            <p:nvPr/>
          </p:nvSpPr>
          <p:spPr>
            <a:xfrm>
              <a:off x="0" y="0"/>
              <a:ext cx="39054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52CC"/>
                  </a:solidFill>
                  <a:latin typeface="Roboto"/>
                  <a:ea typeface="Roboto"/>
                  <a:cs typeface="Roboto"/>
                  <a:sym typeface="Roboto"/>
                </a:rPr>
                <a:t>Model Comparison &amp; Ablation Study</a:t>
              </a:r>
              <a:endParaRPr b="1" sz="1000">
                <a:solidFill>
                  <a:srgbClr val="0052CC"/>
                </a:solidFill>
                <a:latin typeface="Roboto"/>
                <a:ea typeface="Roboto"/>
                <a:cs typeface="Roboto"/>
                <a:sym typeface="Roboto"/>
              </a:endParaRPr>
            </a:p>
          </p:txBody>
        </p:sp>
        <p:grpSp>
          <p:nvGrpSpPr>
            <p:cNvPr id="262" name="Google Shape;262;p20"/>
            <p:cNvGrpSpPr/>
            <p:nvPr/>
          </p:nvGrpSpPr>
          <p:grpSpPr>
            <a:xfrm>
              <a:off x="0" y="266700"/>
              <a:ext cx="3924300" cy="2619300"/>
              <a:chOff x="0" y="0"/>
              <a:chExt cx="3924300" cy="2619300"/>
            </a:xfrm>
          </p:grpSpPr>
          <p:sp>
            <p:nvSpPr>
              <p:cNvPr id="263" name="Google Shape;263;p20"/>
              <p:cNvSpPr/>
              <p:nvPr/>
            </p:nvSpPr>
            <p:spPr>
              <a:xfrm>
                <a:off x="0" y="0"/>
                <a:ext cx="3924300" cy="2619300"/>
              </a:xfrm>
              <a:prstGeom prst="roundRect">
                <a:avLst>
                  <a:gd fmla="val 72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20"/>
              <p:cNvSpPr/>
              <p:nvPr/>
            </p:nvSpPr>
            <p:spPr>
              <a:xfrm>
                <a:off x="0" y="0"/>
                <a:ext cx="3924300" cy="3429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65" name="Google Shape;265;p20"/>
              <p:cNvCxnSpPr/>
              <p:nvPr/>
            </p:nvCxnSpPr>
            <p:spPr>
              <a:xfrm>
                <a:off x="0" y="342900"/>
                <a:ext cx="39243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66" name="Google Shape;266;p20"/>
              <p:cNvSpPr txBox="1"/>
              <p:nvPr/>
            </p:nvSpPr>
            <p:spPr>
              <a:xfrm>
                <a:off x="152400" y="95250"/>
                <a:ext cx="1714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11827"/>
                    </a:solidFill>
                    <a:latin typeface="Roboto"/>
                    <a:ea typeface="Roboto"/>
                    <a:cs typeface="Roboto"/>
                    <a:sym typeface="Roboto"/>
                  </a:rPr>
                  <a:t>Model Variant</a:t>
                </a:r>
                <a:endParaRPr b="1" sz="900">
                  <a:solidFill>
                    <a:srgbClr val="111827"/>
                  </a:solidFill>
                  <a:latin typeface="Roboto"/>
                  <a:ea typeface="Roboto"/>
                  <a:cs typeface="Roboto"/>
                  <a:sym typeface="Roboto"/>
                </a:endParaRPr>
              </a:p>
            </p:txBody>
          </p:sp>
          <p:sp>
            <p:nvSpPr>
              <p:cNvPr id="267" name="Google Shape;267;p20"/>
              <p:cNvSpPr txBox="1"/>
              <p:nvPr/>
            </p:nvSpPr>
            <p:spPr>
              <a:xfrm>
                <a:off x="1905000" y="95250"/>
                <a:ext cx="857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11827"/>
                    </a:solidFill>
                    <a:latin typeface="Roboto"/>
                    <a:ea typeface="Roboto"/>
                    <a:cs typeface="Roboto"/>
                    <a:sym typeface="Roboto"/>
                  </a:rPr>
                  <a:t>AUC</a:t>
                </a:r>
                <a:endParaRPr b="1" sz="900">
                  <a:solidFill>
                    <a:srgbClr val="111827"/>
                  </a:solidFill>
                  <a:latin typeface="Roboto"/>
                  <a:ea typeface="Roboto"/>
                  <a:cs typeface="Roboto"/>
                  <a:sym typeface="Roboto"/>
                </a:endParaRPr>
              </a:p>
            </p:txBody>
          </p:sp>
          <p:sp>
            <p:nvSpPr>
              <p:cNvPr id="268" name="Google Shape;268;p20"/>
              <p:cNvSpPr txBox="1"/>
              <p:nvPr/>
            </p:nvSpPr>
            <p:spPr>
              <a:xfrm>
                <a:off x="2809875" y="95250"/>
                <a:ext cx="952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11827"/>
                    </a:solidFill>
                    <a:latin typeface="Roboto"/>
                    <a:ea typeface="Roboto"/>
                    <a:cs typeface="Roboto"/>
                    <a:sym typeface="Roboto"/>
                  </a:rPr>
                  <a:t>nDCG@10</a:t>
                </a:r>
                <a:endParaRPr b="1" sz="900">
                  <a:solidFill>
                    <a:srgbClr val="111827"/>
                  </a:solidFill>
                  <a:latin typeface="Roboto"/>
                  <a:ea typeface="Roboto"/>
                  <a:cs typeface="Roboto"/>
                  <a:sym typeface="Roboto"/>
                </a:endParaRPr>
              </a:p>
            </p:txBody>
          </p:sp>
          <p:cxnSp>
            <p:nvCxnSpPr>
              <p:cNvPr id="269" name="Google Shape;269;p20"/>
              <p:cNvCxnSpPr/>
              <p:nvPr/>
            </p:nvCxnSpPr>
            <p:spPr>
              <a:xfrm>
                <a:off x="0" y="762000"/>
                <a:ext cx="39243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70" name="Google Shape;270;p20"/>
              <p:cNvSpPr txBox="1"/>
              <p:nvPr/>
            </p:nvSpPr>
            <p:spPr>
              <a:xfrm>
                <a:off x="152400" y="457200"/>
                <a:ext cx="17145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4B5563"/>
                    </a:solidFill>
                    <a:latin typeface="Roboto"/>
                    <a:ea typeface="Roboto"/>
                    <a:cs typeface="Roboto"/>
                    <a:sym typeface="Roboto"/>
                  </a:rPr>
                  <a:t>NRMS (Baseline)</a:t>
                </a:r>
                <a:endParaRPr b="0" sz="1000">
                  <a:solidFill>
                    <a:srgbClr val="4B5563"/>
                  </a:solidFill>
                  <a:latin typeface="Roboto"/>
                  <a:ea typeface="Roboto"/>
                  <a:cs typeface="Roboto"/>
                  <a:sym typeface="Roboto"/>
                </a:endParaRPr>
              </a:p>
            </p:txBody>
          </p:sp>
          <p:sp>
            <p:nvSpPr>
              <p:cNvPr id="271" name="Google Shape;271;p20"/>
              <p:cNvSpPr txBox="1"/>
              <p:nvPr/>
            </p:nvSpPr>
            <p:spPr>
              <a:xfrm>
                <a:off x="1905000" y="457200"/>
                <a:ext cx="857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Roboto"/>
                    <a:ea typeface="Roboto"/>
                    <a:cs typeface="Roboto"/>
                    <a:sym typeface="Roboto"/>
                  </a:rPr>
                  <a:t>Standard</a:t>
                </a:r>
                <a:endParaRPr b="0" sz="1000">
                  <a:solidFill>
                    <a:srgbClr val="4B5563"/>
                  </a:solidFill>
                  <a:latin typeface="Roboto"/>
                  <a:ea typeface="Roboto"/>
                  <a:cs typeface="Roboto"/>
                  <a:sym typeface="Roboto"/>
                </a:endParaRPr>
              </a:p>
            </p:txBody>
          </p:sp>
          <p:sp>
            <p:nvSpPr>
              <p:cNvPr id="272" name="Google Shape;272;p20"/>
              <p:cNvSpPr txBox="1"/>
              <p:nvPr/>
            </p:nvSpPr>
            <p:spPr>
              <a:xfrm>
                <a:off x="2809875" y="4572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Roboto"/>
                    <a:ea typeface="Roboto"/>
                    <a:cs typeface="Roboto"/>
                    <a:sym typeface="Roboto"/>
                  </a:rPr>
                  <a:t>Baseline</a:t>
                </a:r>
                <a:endParaRPr b="0" sz="1000">
                  <a:solidFill>
                    <a:srgbClr val="4B5563"/>
                  </a:solidFill>
                  <a:latin typeface="Roboto"/>
                  <a:ea typeface="Roboto"/>
                  <a:cs typeface="Roboto"/>
                  <a:sym typeface="Roboto"/>
                </a:endParaRPr>
              </a:p>
            </p:txBody>
          </p:sp>
          <p:cxnSp>
            <p:nvCxnSpPr>
              <p:cNvPr id="273" name="Google Shape;273;p20"/>
              <p:cNvCxnSpPr/>
              <p:nvPr/>
            </p:nvCxnSpPr>
            <p:spPr>
              <a:xfrm>
                <a:off x="0" y="1181100"/>
                <a:ext cx="39243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74" name="Google Shape;274;p20"/>
              <p:cNvSpPr txBox="1"/>
              <p:nvPr/>
            </p:nvSpPr>
            <p:spPr>
              <a:xfrm>
                <a:off x="152400" y="876300"/>
                <a:ext cx="17145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4B5563"/>
                    </a:solidFill>
                    <a:latin typeface="Roboto"/>
                    <a:ea typeface="Roboto"/>
                    <a:cs typeface="Roboto"/>
                    <a:sym typeface="Roboto"/>
                  </a:rPr>
                  <a:t>GLORY (Baseline)</a:t>
                </a:r>
                <a:endParaRPr b="0" sz="1000">
                  <a:solidFill>
                    <a:srgbClr val="4B5563"/>
                  </a:solidFill>
                  <a:latin typeface="Roboto"/>
                  <a:ea typeface="Roboto"/>
                  <a:cs typeface="Roboto"/>
                  <a:sym typeface="Roboto"/>
                </a:endParaRPr>
              </a:p>
            </p:txBody>
          </p:sp>
          <p:sp>
            <p:nvSpPr>
              <p:cNvPr id="275" name="Google Shape;275;p20"/>
              <p:cNvSpPr txBox="1"/>
              <p:nvPr/>
            </p:nvSpPr>
            <p:spPr>
              <a:xfrm>
                <a:off x="1905000" y="876300"/>
                <a:ext cx="857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Roboto"/>
                    <a:ea typeface="Roboto"/>
                    <a:cs typeface="Roboto"/>
                    <a:sym typeface="Roboto"/>
                  </a:rPr>
                  <a:t>Standard</a:t>
                </a:r>
                <a:endParaRPr b="0" sz="1000">
                  <a:solidFill>
                    <a:srgbClr val="4B5563"/>
                  </a:solidFill>
                  <a:latin typeface="Roboto"/>
                  <a:ea typeface="Roboto"/>
                  <a:cs typeface="Roboto"/>
                  <a:sym typeface="Roboto"/>
                </a:endParaRPr>
              </a:p>
            </p:txBody>
          </p:sp>
          <p:sp>
            <p:nvSpPr>
              <p:cNvPr id="276" name="Google Shape;276;p20"/>
              <p:cNvSpPr txBox="1"/>
              <p:nvPr/>
            </p:nvSpPr>
            <p:spPr>
              <a:xfrm>
                <a:off x="2809875" y="8763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Roboto"/>
                    <a:ea typeface="Roboto"/>
                    <a:cs typeface="Roboto"/>
                    <a:sym typeface="Roboto"/>
                  </a:rPr>
                  <a:t>Baseline</a:t>
                </a:r>
                <a:endParaRPr b="0" sz="1000">
                  <a:solidFill>
                    <a:srgbClr val="4B5563"/>
                  </a:solidFill>
                  <a:latin typeface="Roboto"/>
                  <a:ea typeface="Roboto"/>
                  <a:cs typeface="Roboto"/>
                  <a:sym typeface="Roboto"/>
                </a:endParaRPr>
              </a:p>
            </p:txBody>
          </p:sp>
          <p:sp>
            <p:nvSpPr>
              <p:cNvPr id="277" name="Google Shape;277;p20"/>
              <p:cNvSpPr/>
              <p:nvPr/>
            </p:nvSpPr>
            <p:spPr>
              <a:xfrm>
                <a:off x="0" y="1190625"/>
                <a:ext cx="3924300" cy="476400"/>
              </a:xfrm>
              <a:prstGeom prst="rect">
                <a:avLst/>
              </a:prstGeom>
              <a:solidFill>
                <a:srgbClr val="0052CC">
                  <a:alpha val="6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78" name="Google Shape;278;p20"/>
              <p:cNvCxnSpPr/>
              <p:nvPr/>
            </p:nvCxnSpPr>
            <p:spPr>
              <a:xfrm>
                <a:off x="0" y="1190625"/>
                <a:ext cx="3924300" cy="0"/>
              </a:xfrm>
              <a:prstGeom prst="straightConnector1">
                <a:avLst/>
              </a:prstGeom>
              <a:solidFill>
                <a:srgbClr val="FFFFFF"/>
              </a:solidFill>
              <a:ln cap="flat" cmpd="sng" w="14300">
                <a:solidFill>
                  <a:srgbClr val="0052CC"/>
                </a:solidFill>
                <a:prstDash val="solid"/>
                <a:round/>
                <a:headEnd len="sm" w="sm" type="none"/>
                <a:tailEnd len="sm" w="sm" type="none"/>
              </a:ln>
            </p:spPr>
          </p:cxnSp>
          <p:cxnSp>
            <p:nvCxnSpPr>
              <p:cNvPr id="279" name="Google Shape;279;p20"/>
              <p:cNvCxnSpPr/>
              <p:nvPr/>
            </p:nvCxnSpPr>
            <p:spPr>
              <a:xfrm>
                <a:off x="0" y="1666875"/>
                <a:ext cx="3924300" cy="0"/>
              </a:xfrm>
              <a:prstGeom prst="straightConnector1">
                <a:avLst/>
              </a:prstGeom>
              <a:solidFill>
                <a:srgbClr val="FFFFFF"/>
              </a:solidFill>
              <a:ln cap="flat" cmpd="sng" w="14300">
                <a:solidFill>
                  <a:srgbClr val="0052CC"/>
                </a:solidFill>
                <a:prstDash val="solid"/>
                <a:round/>
                <a:headEnd len="sm" w="sm" type="none"/>
                <a:tailEnd len="sm" w="sm" type="none"/>
              </a:ln>
            </p:spPr>
          </p:cxnSp>
          <p:sp>
            <p:nvSpPr>
              <p:cNvPr id="280" name="Google Shape;280;p20"/>
              <p:cNvSpPr txBox="1"/>
              <p:nvPr/>
            </p:nvSpPr>
            <p:spPr>
              <a:xfrm>
                <a:off x="152400" y="1314450"/>
                <a:ext cx="17145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0052CC"/>
                    </a:solidFill>
                    <a:latin typeface="Roboto"/>
                    <a:ea typeface="Roboto"/>
                    <a:cs typeface="Roboto"/>
                    <a:sym typeface="Roboto"/>
                  </a:rPr>
                  <a:t>RespNews (Full System)</a:t>
                </a:r>
                <a:endParaRPr b="1" sz="1000">
                  <a:solidFill>
                    <a:srgbClr val="0052CC"/>
                  </a:solidFill>
                  <a:latin typeface="Roboto"/>
                  <a:ea typeface="Roboto"/>
                  <a:cs typeface="Roboto"/>
                  <a:sym typeface="Roboto"/>
                </a:endParaRPr>
              </a:p>
            </p:txBody>
          </p:sp>
          <p:sp>
            <p:nvSpPr>
              <p:cNvPr id="281" name="Google Shape;281;p20"/>
              <p:cNvSpPr txBox="1"/>
              <p:nvPr/>
            </p:nvSpPr>
            <p:spPr>
              <a:xfrm>
                <a:off x="1905000" y="1314450"/>
                <a:ext cx="857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0052CC"/>
                    </a:solidFill>
                    <a:latin typeface="Roboto"/>
                    <a:ea typeface="Roboto"/>
                    <a:cs typeface="Roboto"/>
                    <a:sym typeface="Roboto"/>
                  </a:rPr>
                  <a:t>0.5673</a:t>
                </a:r>
                <a:endParaRPr b="1" sz="1000">
                  <a:solidFill>
                    <a:srgbClr val="0052CC"/>
                  </a:solidFill>
                  <a:latin typeface="Roboto"/>
                  <a:ea typeface="Roboto"/>
                  <a:cs typeface="Roboto"/>
                  <a:sym typeface="Roboto"/>
                </a:endParaRPr>
              </a:p>
            </p:txBody>
          </p:sp>
          <p:sp>
            <p:nvSpPr>
              <p:cNvPr id="282" name="Google Shape;282;p20"/>
              <p:cNvSpPr txBox="1"/>
              <p:nvPr/>
            </p:nvSpPr>
            <p:spPr>
              <a:xfrm>
                <a:off x="2809875" y="131445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0052CC"/>
                    </a:solidFill>
                    <a:latin typeface="Roboto"/>
                    <a:ea typeface="Roboto"/>
                    <a:cs typeface="Roboto"/>
                    <a:sym typeface="Roboto"/>
                  </a:rPr>
                  <a:t>0.6593</a:t>
                </a:r>
                <a:endParaRPr b="1" sz="1000">
                  <a:solidFill>
                    <a:srgbClr val="0052CC"/>
                  </a:solidFill>
                  <a:latin typeface="Roboto"/>
                  <a:ea typeface="Roboto"/>
                  <a:cs typeface="Roboto"/>
                  <a:sym typeface="Roboto"/>
                </a:endParaRPr>
              </a:p>
            </p:txBody>
          </p:sp>
          <p:cxnSp>
            <p:nvCxnSpPr>
              <p:cNvPr id="283" name="Google Shape;283;p20"/>
              <p:cNvCxnSpPr/>
              <p:nvPr/>
            </p:nvCxnSpPr>
            <p:spPr>
              <a:xfrm>
                <a:off x="0" y="2143125"/>
                <a:ext cx="39243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84" name="Google Shape;284;p20"/>
              <p:cNvSpPr txBox="1"/>
              <p:nvPr/>
            </p:nvSpPr>
            <p:spPr>
              <a:xfrm>
                <a:off x="152400" y="1781175"/>
                <a:ext cx="1714500" cy="26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4B5563"/>
                    </a:solidFill>
                    <a:latin typeface="Roboto"/>
                    <a:ea typeface="Roboto"/>
                    <a:cs typeface="Roboto"/>
                    <a:sym typeface="Roboto"/>
                  </a:rPr>
                  <a:t>w/o Persuasion Penalty</a:t>
                </a:r>
                <a:endParaRPr b="0" sz="1000">
                  <a:solidFill>
                    <a:srgbClr val="4B5563"/>
                  </a:solidFill>
                  <a:latin typeface="Roboto"/>
                  <a:ea typeface="Roboto"/>
                  <a:cs typeface="Roboto"/>
                  <a:sym typeface="Roboto"/>
                </a:endParaRPr>
              </a:p>
            </p:txBody>
          </p:sp>
          <p:sp>
            <p:nvSpPr>
              <p:cNvPr id="285" name="Google Shape;285;p20"/>
              <p:cNvSpPr txBox="1"/>
              <p:nvPr/>
            </p:nvSpPr>
            <p:spPr>
              <a:xfrm>
                <a:off x="1905000" y="1781175"/>
                <a:ext cx="8574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Roboto"/>
                    <a:ea typeface="Roboto"/>
                    <a:cs typeface="Roboto"/>
                    <a:sym typeface="Roboto"/>
                  </a:rPr>
                  <a:t>-</a:t>
                </a:r>
                <a:endParaRPr b="0" sz="1000">
                  <a:solidFill>
                    <a:srgbClr val="4B5563"/>
                  </a:solidFill>
                  <a:latin typeface="Roboto"/>
                  <a:ea typeface="Roboto"/>
                  <a:cs typeface="Roboto"/>
                  <a:sym typeface="Roboto"/>
                </a:endParaRPr>
              </a:p>
            </p:txBody>
          </p:sp>
          <p:sp>
            <p:nvSpPr>
              <p:cNvPr id="286" name="Google Shape;286;p20"/>
              <p:cNvSpPr txBox="1"/>
              <p:nvPr/>
            </p:nvSpPr>
            <p:spPr>
              <a:xfrm>
                <a:off x="2809875" y="1781175"/>
                <a:ext cx="9525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25">
                    <a:solidFill>
                      <a:srgbClr val="DC2626"/>
                    </a:solidFill>
                    <a:latin typeface="Roboto"/>
                    <a:ea typeface="Roboto"/>
                    <a:cs typeface="Roboto"/>
                    <a:sym typeface="Roboto"/>
                  </a:rPr>
                  <a:t>0.6303 </a:t>
                </a:r>
                <a:r>
                  <a:rPr b="1" lang="en" sz="740">
                    <a:solidFill>
                      <a:srgbClr val="DC2626"/>
                    </a:solidFill>
                    <a:latin typeface="Roboto"/>
                    <a:ea typeface="Roboto"/>
                    <a:cs typeface="Roboto"/>
                    <a:sym typeface="Roboto"/>
                  </a:rPr>
                  <a:t>(from 0.6667)</a:t>
                </a:r>
                <a:endParaRPr b="1" sz="925">
                  <a:solidFill>
                    <a:srgbClr val="DC2626"/>
                  </a:solidFill>
                  <a:latin typeface="Roboto"/>
                  <a:ea typeface="Roboto"/>
                  <a:cs typeface="Roboto"/>
                  <a:sym typeface="Roboto"/>
                </a:endParaRPr>
              </a:p>
            </p:txBody>
          </p:sp>
          <p:sp>
            <p:nvSpPr>
              <p:cNvPr id="287" name="Google Shape;287;p20"/>
              <p:cNvSpPr txBox="1"/>
              <p:nvPr/>
            </p:nvSpPr>
            <p:spPr>
              <a:xfrm>
                <a:off x="152400" y="2238375"/>
                <a:ext cx="1714500" cy="26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4B5563"/>
                    </a:solidFill>
                    <a:latin typeface="Roboto"/>
                    <a:ea typeface="Roboto"/>
                    <a:cs typeface="Roboto"/>
                    <a:sym typeface="Roboto"/>
                  </a:rPr>
                  <a:t>w/o Graph Embeddings</a:t>
                </a:r>
                <a:endParaRPr b="0" sz="1000">
                  <a:solidFill>
                    <a:srgbClr val="4B5563"/>
                  </a:solidFill>
                  <a:latin typeface="Roboto"/>
                  <a:ea typeface="Roboto"/>
                  <a:cs typeface="Roboto"/>
                  <a:sym typeface="Roboto"/>
                </a:endParaRPr>
              </a:p>
            </p:txBody>
          </p:sp>
          <p:sp>
            <p:nvSpPr>
              <p:cNvPr id="288" name="Google Shape;288;p20"/>
              <p:cNvSpPr txBox="1"/>
              <p:nvPr/>
            </p:nvSpPr>
            <p:spPr>
              <a:xfrm>
                <a:off x="1905000" y="2238375"/>
                <a:ext cx="8574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4B5563"/>
                    </a:solidFill>
                    <a:latin typeface="Roboto"/>
                    <a:ea typeface="Roboto"/>
                    <a:cs typeface="Roboto"/>
                    <a:sym typeface="Roboto"/>
                  </a:rPr>
                  <a:t>Reduced</a:t>
                </a:r>
                <a:endParaRPr b="0" sz="1000">
                  <a:solidFill>
                    <a:srgbClr val="4B5563"/>
                  </a:solidFill>
                  <a:latin typeface="Roboto"/>
                  <a:ea typeface="Roboto"/>
                  <a:cs typeface="Roboto"/>
                  <a:sym typeface="Roboto"/>
                </a:endParaRPr>
              </a:p>
            </p:txBody>
          </p:sp>
          <p:sp>
            <p:nvSpPr>
              <p:cNvPr id="289" name="Google Shape;289;p20"/>
              <p:cNvSpPr txBox="1"/>
              <p:nvPr/>
            </p:nvSpPr>
            <p:spPr>
              <a:xfrm>
                <a:off x="2809875" y="2238375"/>
                <a:ext cx="9525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DC2626"/>
                    </a:solidFill>
                    <a:latin typeface="Roboto"/>
                    <a:ea typeface="Roboto"/>
                    <a:cs typeface="Roboto"/>
                    <a:sym typeface="Roboto"/>
                  </a:rPr>
                  <a:t>Sig. Drop</a:t>
                </a:r>
                <a:endParaRPr b="0" sz="1000">
                  <a:solidFill>
                    <a:srgbClr val="DC2626"/>
                  </a:solidFill>
                  <a:latin typeface="Roboto"/>
                  <a:ea typeface="Roboto"/>
                  <a:cs typeface="Roboto"/>
                  <a:sym typeface="Roboto"/>
                </a:endParaRPr>
              </a:p>
            </p:txBody>
          </p:sp>
        </p:grpSp>
        <p:grpSp>
          <p:nvGrpSpPr>
            <p:cNvPr id="290" name="Google Shape;290;p20"/>
            <p:cNvGrpSpPr/>
            <p:nvPr/>
          </p:nvGrpSpPr>
          <p:grpSpPr>
            <a:xfrm>
              <a:off x="0" y="3028950"/>
              <a:ext cx="3924300" cy="685800"/>
              <a:chOff x="0" y="0"/>
              <a:chExt cx="3924300" cy="685800"/>
            </a:xfrm>
          </p:grpSpPr>
          <p:sp>
            <p:nvSpPr>
              <p:cNvPr id="291" name="Google Shape;291;p20"/>
              <p:cNvSpPr/>
              <p:nvPr/>
            </p:nvSpPr>
            <p:spPr>
              <a:xfrm>
                <a:off x="0" y="0"/>
                <a:ext cx="3924300" cy="685800"/>
              </a:xfrm>
              <a:prstGeom prst="roundRect">
                <a:avLst>
                  <a:gd fmla="val 2777"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0"/>
              <p:cNvSpPr/>
              <p:nvPr/>
            </p:nvSpPr>
            <p:spPr>
              <a:xfrm>
                <a:off x="0" y="0"/>
                <a:ext cx="38100" cy="6858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20"/>
              <p:cNvSpPr txBox="1"/>
              <p:nvPr/>
            </p:nvSpPr>
            <p:spPr>
              <a:xfrm>
                <a:off x="152400" y="95250"/>
                <a:ext cx="36195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35">
                    <a:solidFill>
                      <a:srgbClr val="111827"/>
                    </a:solidFill>
                    <a:latin typeface="Roboto"/>
                    <a:ea typeface="Roboto"/>
                    <a:cs typeface="Roboto"/>
                    <a:sym typeface="Roboto"/>
                  </a:rPr>
                  <a:t>Ablation Finding:</a:t>
                </a:r>
                <a:r>
                  <a:rPr b="0" lang="en" sz="935">
                    <a:solidFill>
                      <a:srgbClr val="4B5563"/>
                    </a:solidFill>
                    <a:latin typeface="Roboto"/>
                    <a:ea typeface="Roboto"/>
                    <a:cs typeface="Roboto"/>
                    <a:sym typeface="Roboto"/>
                  </a:rPr>
                  <a:t> Removing persuasion penalty causes the largest drop in ranking quality (nDCG@10 reduces from 0.6667 to 0.6303). Graph embeddings also significantly boost overall performance.</a:t>
                </a:r>
                <a:endParaRPr b="0" sz="935">
                  <a:solidFill>
                    <a:srgbClr val="4B5563"/>
                  </a:solidFill>
                  <a:latin typeface="Roboto"/>
                  <a:ea typeface="Roboto"/>
                  <a:cs typeface="Roboto"/>
                  <a:sym typeface="Roboto"/>
                </a:endParaRPr>
              </a:p>
            </p:txBody>
          </p:sp>
        </p:grpSp>
      </p:grpSp>
      <p:grpSp>
        <p:nvGrpSpPr>
          <p:cNvPr id="294" name="Google Shape;294;p20"/>
          <p:cNvGrpSpPr/>
          <p:nvPr/>
        </p:nvGrpSpPr>
        <p:grpSpPr>
          <a:xfrm>
            <a:off x="4838700" y="1047750"/>
            <a:ext cx="3848250" cy="3714750"/>
            <a:chOff x="0" y="0"/>
            <a:chExt cx="3848250" cy="3714750"/>
          </a:xfrm>
        </p:grpSpPr>
        <p:sp>
          <p:nvSpPr>
            <p:cNvPr id="295" name="Google Shape;295;p20"/>
            <p:cNvSpPr txBox="1"/>
            <p:nvPr/>
          </p:nvSpPr>
          <p:spPr>
            <a:xfrm>
              <a:off x="0" y="0"/>
              <a:ext cx="38481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52CC"/>
                  </a:solidFill>
                  <a:latin typeface="Roboto"/>
                  <a:ea typeface="Roboto"/>
                  <a:cs typeface="Roboto"/>
                  <a:sym typeface="Roboto"/>
                </a:rPr>
                <a:t>Key Performance Indicators</a:t>
              </a:r>
              <a:endParaRPr b="1" sz="1000">
                <a:solidFill>
                  <a:srgbClr val="0052CC"/>
                </a:solidFill>
                <a:latin typeface="Roboto"/>
                <a:ea typeface="Roboto"/>
                <a:cs typeface="Roboto"/>
                <a:sym typeface="Roboto"/>
              </a:endParaRPr>
            </a:p>
          </p:txBody>
        </p:sp>
        <p:grpSp>
          <p:nvGrpSpPr>
            <p:cNvPr id="296" name="Google Shape;296;p20"/>
            <p:cNvGrpSpPr/>
            <p:nvPr/>
          </p:nvGrpSpPr>
          <p:grpSpPr>
            <a:xfrm>
              <a:off x="0" y="266700"/>
              <a:ext cx="3848250" cy="2505150"/>
              <a:chOff x="0" y="0"/>
              <a:chExt cx="3848250" cy="2505150"/>
            </a:xfrm>
          </p:grpSpPr>
          <p:grpSp>
            <p:nvGrpSpPr>
              <p:cNvPr id="297" name="Google Shape;297;p20"/>
              <p:cNvGrpSpPr/>
              <p:nvPr/>
            </p:nvGrpSpPr>
            <p:grpSpPr>
              <a:xfrm>
                <a:off x="0" y="0"/>
                <a:ext cx="1848000" cy="1190700"/>
                <a:chOff x="0" y="0"/>
                <a:chExt cx="1848000" cy="1190700"/>
              </a:xfrm>
            </p:grpSpPr>
            <p:sp>
              <p:nvSpPr>
                <p:cNvPr id="298" name="Google Shape;298;p20"/>
                <p:cNvSpPr/>
                <p:nvPr/>
              </p:nvSpPr>
              <p:spPr>
                <a:xfrm>
                  <a:off x="0" y="0"/>
                  <a:ext cx="1848000" cy="1190700"/>
                </a:xfrm>
                <a:prstGeom prst="roundRect">
                  <a:avLst>
                    <a:gd fmla="val 16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0"/>
                <p:cNvSpPr/>
                <p:nvPr/>
              </p:nvSpPr>
              <p:spPr>
                <a:xfrm>
                  <a:off x="0" y="0"/>
                  <a:ext cx="1848000" cy="285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0"/>
                <p:cNvSpPr txBox="1"/>
                <p:nvPr/>
              </p:nvSpPr>
              <p:spPr>
                <a:xfrm>
                  <a:off x="114300" y="171450"/>
                  <a:ext cx="16191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0052CC"/>
                      </a:solidFill>
                      <a:latin typeface="Inter"/>
                      <a:ea typeface="Inter"/>
                      <a:cs typeface="Inter"/>
                      <a:sym typeface="Inter"/>
                    </a:rPr>
                    <a:t>0.5673</a:t>
                  </a:r>
                  <a:endParaRPr b="1" sz="2800">
                    <a:solidFill>
                      <a:srgbClr val="0052CC"/>
                    </a:solidFill>
                    <a:latin typeface="Inter"/>
                    <a:ea typeface="Inter"/>
                    <a:cs typeface="Inter"/>
                    <a:sym typeface="Inter"/>
                  </a:endParaRPr>
                </a:p>
              </p:txBody>
            </p:sp>
            <p:sp>
              <p:nvSpPr>
                <p:cNvPr id="301" name="Google Shape;301;p20"/>
                <p:cNvSpPr/>
                <p:nvPr/>
              </p:nvSpPr>
              <p:spPr>
                <a:xfrm>
                  <a:off x="733425" y="704850"/>
                  <a:ext cx="381000" cy="192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0"/>
                <p:cNvSpPr txBox="1"/>
                <p:nvPr/>
              </p:nvSpPr>
              <p:spPr>
                <a:xfrm>
                  <a:off x="114300" y="800100"/>
                  <a:ext cx="16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0052CC"/>
                      </a:solidFill>
                      <a:latin typeface="Roboto"/>
                      <a:ea typeface="Roboto"/>
                      <a:cs typeface="Roboto"/>
                      <a:sym typeface="Roboto"/>
                    </a:rPr>
                    <a:t>AUC Score</a:t>
                  </a:r>
                  <a:endParaRPr b="1" sz="900">
                    <a:solidFill>
                      <a:srgbClr val="0052CC"/>
                    </a:solidFill>
                    <a:latin typeface="Roboto"/>
                    <a:ea typeface="Roboto"/>
                    <a:cs typeface="Roboto"/>
                    <a:sym typeface="Roboto"/>
                  </a:endParaRPr>
                </a:p>
              </p:txBody>
            </p:sp>
          </p:grpSp>
          <p:grpSp>
            <p:nvGrpSpPr>
              <p:cNvPr id="303" name="Google Shape;303;p20"/>
              <p:cNvGrpSpPr/>
              <p:nvPr/>
            </p:nvGrpSpPr>
            <p:grpSpPr>
              <a:xfrm>
                <a:off x="2000250" y="0"/>
                <a:ext cx="1848000" cy="1190700"/>
                <a:chOff x="0" y="0"/>
                <a:chExt cx="1848000" cy="1190700"/>
              </a:xfrm>
            </p:grpSpPr>
            <p:sp>
              <p:nvSpPr>
                <p:cNvPr id="304" name="Google Shape;304;p20"/>
                <p:cNvSpPr/>
                <p:nvPr/>
              </p:nvSpPr>
              <p:spPr>
                <a:xfrm>
                  <a:off x="0" y="0"/>
                  <a:ext cx="1848000" cy="1190700"/>
                </a:xfrm>
                <a:prstGeom prst="roundRect">
                  <a:avLst>
                    <a:gd fmla="val 16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20"/>
                <p:cNvSpPr/>
                <p:nvPr/>
              </p:nvSpPr>
              <p:spPr>
                <a:xfrm>
                  <a:off x="0" y="0"/>
                  <a:ext cx="1848000" cy="285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0"/>
                <p:cNvSpPr txBox="1"/>
                <p:nvPr/>
              </p:nvSpPr>
              <p:spPr>
                <a:xfrm>
                  <a:off x="114300" y="171450"/>
                  <a:ext cx="16191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0052CC"/>
                      </a:solidFill>
                      <a:latin typeface="Inter"/>
                      <a:ea typeface="Inter"/>
                      <a:cs typeface="Inter"/>
                      <a:sym typeface="Inter"/>
                    </a:rPr>
                    <a:t>0.6593</a:t>
                  </a:r>
                  <a:endParaRPr b="1" sz="2800">
                    <a:solidFill>
                      <a:srgbClr val="0052CC"/>
                    </a:solidFill>
                    <a:latin typeface="Inter"/>
                    <a:ea typeface="Inter"/>
                    <a:cs typeface="Inter"/>
                    <a:sym typeface="Inter"/>
                  </a:endParaRPr>
                </a:p>
              </p:txBody>
            </p:sp>
            <p:sp>
              <p:nvSpPr>
                <p:cNvPr id="307" name="Google Shape;307;p20"/>
                <p:cNvSpPr/>
                <p:nvPr/>
              </p:nvSpPr>
              <p:spPr>
                <a:xfrm>
                  <a:off x="733425" y="704850"/>
                  <a:ext cx="381000" cy="192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20"/>
                <p:cNvSpPr txBox="1"/>
                <p:nvPr/>
              </p:nvSpPr>
              <p:spPr>
                <a:xfrm>
                  <a:off x="114300" y="800100"/>
                  <a:ext cx="16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0052CC"/>
                      </a:solidFill>
                      <a:latin typeface="Roboto"/>
                      <a:ea typeface="Roboto"/>
                      <a:cs typeface="Roboto"/>
                      <a:sym typeface="Roboto"/>
                    </a:rPr>
                    <a:t>nDCG @ 10</a:t>
                  </a:r>
                  <a:endParaRPr b="1" sz="900">
                    <a:solidFill>
                      <a:srgbClr val="0052CC"/>
                    </a:solidFill>
                    <a:latin typeface="Roboto"/>
                    <a:ea typeface="Roboto"/>
                    <a:cs typeface="Roboto"/>
                    <a:sym typeface="Roboto"/>
                  </a:endParaRPr>
                </a:p>
              </p:txBody>
            </p:sp>
          </p:grpSp>
          <p:grpSp>
            <p:nvGrpSpPr>
              <p:cNvPr id="309" name="Google Shape;309;p20"/>
              <p:cNvGrpSpPr/>
              <p:nvPr/>
            </p:nvGrpSpPr>
            <p:grpSpPr>
              <a:xfrm>
                <a:off x="0" y="1314450"/>
                <a:ext cx="1848000" cy="1190700"/>
                <a:chOff x="0" y="0"/>
                <a:chExt cx="1848000" cy="1190700"/>
              </a:xfrm>
            </p:grpSpPr>
            <p:sp>
              <p:nvSpPr>
                <p:cNvPr id="310" name="Google Shape;310;p20"/>
                <p:cNvSpPr/>
                <p:nvPr/>
              </p:nvSpPr>
              <p:spPr>
                <a:xfrm>
                  <a:off x="0" y="0"/>
                  <a:ext cx="1848000" cy="1190700"/>
                </a:xfrm>
                <a:prstGeom prst="roundRect">
                  <a:avLst>
                    <a:gd fmla="val 16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0"/>
                <p:cNvSpPr/>
                <p:nvPr/>
              </p:nvSpPr>
              <p:spPr>
                <a:xfrm>
                  <a:off x="0" y="0"/>
                  <a:ext cx="1848000" cy="28500"/>
                </a:xfrm>
                <a:prstGeom prst="rect">
                  <a:avLst/>
                </a:prstGeom>
                <a:solidFill>
                  <a:srgbClr val="00B8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0"/>
                <p:cNvSpPr txBox="1"/>
                <p:nvPr/>
              </p:nvSpPr>
              <p:spPr>
                <a:xfrm>
                  <a:off x="114300" y="171450"/>
                  <a:ext cx="16191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00B8D9"/>
                      </a:solidFill>
                      <a:latin typeface="Inter"/>
                      <a:ea typeface="Inter"/>
                      <a:cs typeface="Inter"/>
                      <a:sym typeface="Inter"/>
                    </a:rPr>
                    <a:t>0.005</a:t>
                  </a:r>
                  <a:endParaRPr b="1" sz="2800">
                    <a:solidFill>
                      <a:srgbClr val="00B8D9"/>
                    </a:solidFill>
                    <a:latin typeface="Inter"/>
                    <a:ea typeface="Inter"/>
                    <a:cs typeface="Inter"/>
                    <a:sym typeface="Inter"/>
                  </a:endParaRPr>
                </a:p>
              </p:txBody>
            </p:sp>
            <p:sp>
              <p:nvSpPr>
                <p:cNvPr id="313" name="Google Shape;313;p20"/>
                <p:cNvSpPr/>
                <p:nvPr/>
              </p:nvSpPr>
              <p:spPr>
                <a:xfrm>
                  <a:off x="733425" y="704850"/>
                  <a:ext cx="381000" cy="19200"/>
                </a:xfrm>
                <a:prstGeom prst="rect">
                  <a:avLst/>
                </a:prstGeom>
                <a:solidFill>
                  <a:srgbClr val="00B8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0"/>
                <p:cNvSpPr txBox="1"/>
                <p:nvPr/>
              </p:nvSpPr>
              <p:spPr>
                <a:xfrm>
                  <a:off x="114300" y="800100"/>
                  <a:ext cx="16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00B8D9"/>
                      </a:solidFill>
                      <a:latin typeface="Roboto"/>
                      <a:ea typeface="Roboto"/>
                      <a:cs typeface="Roboto"/>
                      <a:sym typeface="Roboto"/>
                    </a:rPr>
                    <a:t>Provider Parity Gap</a:t>
                  </a:r>
                  <a:endParaRPr b="1" sz="900">
                    <a:solidFill>
                      <a:srgbClr val="00B8D9"/>
                    </a:solidFill>
                    <a:latin typeface="Roboto"/>
                    <a:ea typeface="Roboto"/>
                    <a:cs typeface="Roboto"/>
                    <a:sym typeface="Roboto"/>
                  </a:endParaRPr>
                </a:p>
              </p:txBody>
            </p:sp>
          </p:grpSp>
          <p:grpSp>
            <p:nvGrpSpPr>
              <p:cNvPr id="315" name="Google Shape;315;p20"/>
              <p:cNvGrpSpPr/>
              <p:nvPr/>
            </p:nvGrpSpPr>
            <p:grpSpPr>
              <a:xfrm>
                <a:off x="2000250" y="1314450"/>
                <a:ext cx="1848000" cy="1190700"/>
                <a:chOff x="0" y="0"/>
                <a:chExt cx="1848000" cy="1190700"/>
              </a:xfrm>
            </p:grpSpPr>
            <p:sp>
              <p:nvSpPr>
                <p:cNvPr id="316" name="Google Shape;316;p20"/>
                <p:cNvSpPr/>
                <p:nvPr/>
              </p:nvSpPr>
              <p:spPr>
                <a:xfrm>
                  <a:off x="0" y="0"/>
                  <a:ext cx="1848000" cy="1190700"/>
                </a:xfrm>
                <a:prstGeom prst="roundRect">
                  <a:avLst>
                    <a:gd fmla="val 16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20"/>
                <p:cNvSpPr/>
                <p:nvPr/>
              </p:nvSpPr>
              <p:spPr>
                <a:xfrm>
                  <a:off x="0" y="0"/>
                  <a:ext cx="1848000" cy="285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0"/>
                <p:cNvSpPr txBox="1"/>
                <p:nvPr/>
              </p:nvSpPr>
              <p:spPr>
                <a:xfrm>
                  <a:off x="114300" y="171450"/>
                  <a:ext cx="16191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59E0B"/>
                      </a:solidFill>
                      <a:latin typeface="Inter"/>
                      <a:ea typeface="Inter"/>
                      <a:cs typeface="Inter"/>
                      <a:sym typeface="Inter"/>
                    </a:rPr>
                    <a:t>100%</a:t>
                  </a:r>
                  <a:endParaRPr b="1" sz="2800">
                    <a:solidFill>
                      <a:srgbClr val="F59E0B"/>
                    </a:solidFill>
                    <a:latin typeface="Inter"/>
                    <a:ea typeface="Inter"/>
                    <a:cs typeface="Inter"/>
                    <a:sym typeface="Inter"/>
                  </a:endParaRPr>
                </a:p>
              </p:txBody>
            </p:sp>
            <p:sp>
              <p:nvSpPr>
                <p:cNvPr id="319" name="Google Shape;319;p20"/>
                <p:cNvSpPr/>
                <p:nvPr/>
              </p:nvSpPr>
              <p:spPr>
                <a:xfrm>
                  <a:off x="733425" y="704850"/>
                  <a:ext cx="381000" cy="192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0"/>
                <p:cNvSpPr txBox="1"/>
                <p:nvPr/>
              </p:nvSpPr>
              <p:spPr>
                <a:xfrm>
                  <a:off x="114300" y="800100"/>
                  <a:ext cx="16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59E0B"/>
                      </a:solidFill>
                      <a:latin typeface="Roboto"/>
                      <a:ea typeface="Roboto"/>
                      <a:cs typeface="Roboto"/>
                      <a:sym typeface="Roboto"/>
                    </a:rPr>
                    <a:t>Explanation Coverage</a:t>
                  </a:r>
                  <a:endParaRPr b="1" sz="900">
                    <a:solidFill>
                      <a:srgbClr val="F59E0B"/>
                    </a:solidFill>
                    <a:latin typeface="Roboto"/>
                    <a:ea typeface="Roboto"/>
                    <a:cs typeface="Roboto"/>
                    <a:sym typeface="Roboto"/>
                  </a:endParaRPr>
                </a:p>
              </p:txBody>
            </p:sp>
          </p:grpSp>
        </p:grpSp>
        <p:grpSp>
          <p:nvGrpSpPr>
            <p:cNvPr id="321" name="Google Shape;321;p20"/>
            <p:cNvGrpSpPr/>
            <p:nvPr/>
          </p:nvGrpSpPr>
          <p:grpSpPr>
            <a:xfrm>
              <a:off x="0" y="3028950"/>
              <a:ext cx="3848100" cy="685800"/>
              <a:chOff x="0" y="0"/>
              <a:chExt cx="3848100" cy="685800"/>
            </a:xfrm>
          </p:grpSpPr>
          <p:sp>
            <p:nvSpPr>
              <p:cNvPr id="322" name="Google Shape;322;p20"/>
              <p:cNvSpPr/>
              <p:nvPr/>
            </p:nvSpPr>
            <p:spPr>
              <a:xfrm>
                <a:off x="0" y="0"/>
                <a:ext cx="3848100" cy="685800"/>
              </a:xfrm>
              <a:prstGeom prst="roundRect">
                <a:avLst>
                  <a:gd fmla="val 2777" name="adj"/>
                </a:avLst>
              </a:prstGeom>
              <a:solidFill>
                <a:srgbClr val="0052CC">
                  <a:alpha val="5000"/>
                </a:srgbClr>
              </a:solidFill>
              <a:ln cap="flat" cmpd="sng" w="9525">
                <a:solidFill>
                  <a:srgbClr val="0052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20"/>
              <p:cNvSpPr txBox="1"/>
              <p:nvPr/>
            </p:nvSpPr>
            <p:spPr>
              <a:xfrm>
                <a:off x="152400" y="95250"/>
                <a:ext cx="35433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18">
                    <a:solidFill>
                      <a:srgbClr val="0052CC"/>
                    </a:solidFill>
                    <a:latin typeface="Roboto"/>
                    <a:ea typeface="Roboto"/>
                    <a:cs typeface="Roboto"/>
                    <a:sym typeface="Roboto"/>
                  </a:rPr>
                  <a:t>Responsible AI Guarantee:</a:t>
                </a:r>
                <a:r>
                  <a:rPr b="0" lang="en" sz="1018">
                    <a:solidFill>
                      <a:srgbClr val="111827"/>
                    </a:solidFill>
                    <a:latin typeface="Roboto"/>
                    <a:ea typeface="Roboto"/>
                    <a:cs typeface="Roboto"/>
                    <a:sym typeface="Roboto"/>
                  </a:rPr>
                  <a:t> Complete explanation coverage is maintained alongside a low provider parity gap of 0.005, verifying equity without sacrificing ranking utility.</a:t>
                </a:r>
                <a:endParaRPr b="0" sz="1018">
                  <a:solidFill>
                    <a:srgbClr val="111827"/>
                  </a:solidFill>
                  <a:latin typeface="Roboto"/>
                  <a:ea typeface="Roboto"/>
                  <a:cs typeface="Roboto"/>
                  <a:sym typeface="Roboto"/>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grpSp>
        <p:nvGrpSpPr>
          <p:cNvPr id="328" name="Google Shape;328;p21"/>
          <p:cNvGrpSpPr/>
          <p:nvPr/>
        </p:nvGrpSpPr>
        <p:grpSpPr>
          <a:xfrm>
            <a:off x="0" y="0"/>
            <a:ext cx="9144000" cy="5143500"/>
            <a:chOff x="0" y="0"/>
            <a:chExt cx="9144000" cy="5143500"/>
          </a:xfrm>
        </p:grpSpPr>
        <p:sp>
          <p:nvSpPr>
            <p:cNvPr id="329" name="Google Shape;329;p21"/>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1"/>
            <p:cNvSpPr/>
            <p:nvPr/>
          </p:nvSpPr>
          <p:spPr>
            <a:xfrm>
              <a:off x="0" y="0"/>
              <a:ext cx="91440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21"/>
            <p:cNvSpPr/>
            <p:nvPr/>
          </p:nvSpPr>
          <p:spPr>
            <a:xfrm>
              <a:off x="0" y="0"/>
              <a:ext cx="1143000" cy="381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32" name="Google Shape;332;p21"/>
          <p:cNvGrpSpPr/>
          <p:nvPr/>
        </p:nvGrpSpPr>
        <p:grpSpPr>
          <a:xfrm>
            <a:off x="457200" y="381000"/>
            <a:ext cx="8229600" cy="743100"/>
            <a:chOff x="0" y="0"/>
            <a:chExt cx="8229600" cy="743100"/>
          </a:xfrm>
        </p:grpSpPr>
        <p:sp>
          <p:nvSpPr>
            <p:cNvPr id="333" name="Google Shape;333;p21"/>
            <p:cNvSpPr txBox="1"/>
            <p:nvPr/>
          </p:nvSpPr>
          <p:spPr>
            <a:xfrm>
              <a:off x="0" y="0"/>
              <a:ext cx="82296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111827"/>
                  </a:solidFill>
                  <a:latin typeface="Inter"/>
                  <a:ea typeface="Inter"/>
                  <a:cs typeface="Inter"/>
                  <a:sym typeface="Inter"/>
                </a:rPr>
                <a:t>Conclusion </a:t>
              </a:r>
              <a:endParaRPr b="1" sz="2800">
                <a:solidFill>
                  <a:srgbClr val="111827"/>
                </a:solidFill>
                <a:latin typeface="Inter"/>
                <a:ea typeface="Inter"/>
                <a:cs typeface="Inter"/>
                <a:sym typeface="Inter"/>
              </a:endParaRPr>
            </a:p>
          </p:txBody>
        </p:sp>
        <p:sp>
          <p:nvSpPr>
            <p:cNvPr id="334" name="Google Shape;334;p21"/>
            <p:cNvSpPr txBox="1"/>
            <p:nvPr/>
          </p:nvSpPr>
          <p:spPr>
            <a:xfrm>
              <a:off x="0" y="457200"/>
              <a:ext cx="82296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800">
                  <a:solidFill>
                    <a:srgbClr val="4B5563"/>
                  </a:solidFill>
                  <a:latin typeface="Inter Medium"/>
                  <a:ea typeface="Inter Medium"/>
                  <a:cs typeface="Inter Medium"/>
                  <a:sym typeface="Inter Medium"/>
                </a:rPr>
                <a:t>Feasibility demonstration, current limitations, and research roadmap</a:t>
              </a:r>
              <a:endParaRPr b="0" sz="1800">
                <a:solidFill>
                  <a:srgbClr val="4B5563"/>
                </a:solidFill>
                <a:latin typeface="Inter Medium"/>
                <a:ea typeface="Inter Medium"/>
                <a:cs typeface="Inter Medium"/>
                <a:sym typeface="Inter Medium"/>
              </a:endParaRPr>
            </a:p>
          </p:txBody>
        </p:sp>
      </p:grpSp>
      <p:grpSp>
        <p:nvGrpSpPr>
          <p:cNvPr id="335" name="Google Shape;335;p21"/>
          <p:cNvGrpSpPr/>
          <p:nvPr/>
        </p:nvGrpSpPr>
        <p:grpSpPr>
          <a:xfrm>
            <a:off x="457200" y="1219200"/>
            <a:ext cx="3943200" cy="1905000"/>
            <a:chOff x="0" y="0"/>
            <a:chExt cx="3943200" cy="1905000"/>
          </a:xfrm>
        </p:grpSpPr>
        <p:sp>
          <p:nvSpPr>
            <p:cNvPr id="336" name="Google Shape;336;p21"/>
            <p:cNvSpPr/>
            <p:nvPr/>
          </p:nvSpPr>
          <p:spPr>
            <a:xfrm>
              <a:off x="0" y="0"/>
              <a:ext cx="3943200" cy="1905000"/>
            </a:xfrm>
            <a:prstGeom prst="rect">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1"/>
            <p:cNvSpPr/>
            <p:nvPr/>
          </p:nvSpPr>
          <p:spPr>
            <a:xfrm>
              <a:off x="0" y="0"/>
              <a:ext cx="3943200" cy="38100"/>
            </a:xfrm>
            <a:prstGeom prst="rect">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1"/>
            <p:cNvSpPr txBox="1"/>
            <p:nvPr/>
          </p:nvSpPr>
          <p:spPr>
            <a:xfrm>
              <a:off x="190500" y="152400"/>
              <a:ext cx="35622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52CC"/>
                  </a:solidFill>
                  <a:latin typeface="Roboto"/>
                  <a:ea typeface="Roboto"/>
                  <a:cs typeface="Roboto"/>
                  <a:sym typeface="Roboto"/>
                </a:rPr>
                <a:t>Key Conclusions</a:t>
              </a:r>
              <a:endParaRPr b="1" sz="1000">
                <a:solidFill>
                  <a:srgbClr val="0052CC"/>
                </a:solidFill>
                <a:latin typeface="Roboto"/>
                <a:ea typeface="Roboto"/>
                <a:cs typeface="Roboto"/>
                <a:sym typeface="Roboto"/>
              </a:endParaRPr>
            </a:p>
          </p:txBody>
        </p:sp>
        <p:sp>
          <p:nvSpPr>
            <p:cNvPr id="339" name="Google Shape;339;p21"/>
            <p:cNvSpPr txBox="1"/>
            <p:nvPr/>
          </p:nvSpPr>
          <p:spPr>
            <a:xfrm>
              <a:off x="190500" y="419100"/>
              <a:ext cx="3562200" cy="135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4B5563"/>
                  </a:solidFill>
                  <a:latin typeface="Roboto"/>
                  <a:ea typeface="Roboto"/>
                  <a:cs typeface="Roboto"/>
                  <a:sym typeface="Roboto"/>
                </a:rPr>
                <a:t>RespNews successfully demonstrates the feasibility of integrating responsible objectives into personalized news delivery without sacrificing ranking quality. The framework effectively combines persuasion detection, user susceptibility modeling, and knowledge-graph representations.</a:t>
              </a:r>
              <a:endParaRPr b="0" sz="1203">
                <a:solidFill>
                  <a:srgbClr val="4B5563"/>
                </a:solidFill>
                <a:latin typeface="Roboto"/>
                <a:ea typeface="Roboto"/>
                <a:cs typeface="Roboto"/>
                <a:sym typeface="Roboto"/>
              </a:endParaRPr>
            </a:p>
          </p:txBody>
        </p:sp>
      </p:grpSp>
      <p:grpSp>
        <p:nvGrpSpPr>
          <p:cNvPr id="340" name="Google Shape;340;p21"/>
          <p:cNvGrpSpPr/>
          <p:nvPr/>
        </p:nvGrpSpPr>
        <p:grpSpPr>
          <a:xfrm>
            <a:off x="457200" y="3276600"/>
            <a:ext cx="3943200" cy="1409700"/>
            <a:chOff x="0" y="0"/>
            <a:chExt cx="3943200" cy="1409700"/>
          </a:xfrm>
        </p:grpSpPr>
        <p:sp>
          <p:nvSpPr>
            <p:cNvPr id="341" name="Google Shape;341;p21"/>
            <p:cNvSpPr/>
            <p:nvPr/>
          </p:nvSpPr>
          <p:spPr>
            <a:xfrm>
              <a:off x="0" y="0"/>
              <a:ext cx="3943200" cy="1409700"/>
            </a:xfrm>
            <a:prstGeom prst="rect">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1"/>
            <p:cNvSpPr/>
            <p:nvPr/>
          </p:nvSpPr>
          <p:spPr>
            <a:xfrm>
              <a:off x="0" y="0"/>
              <a:ext cx="3943200" cy="381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1"/>
            <p:cNvSpPr txBox="1"/>
            <p:nvPr/>
          </p:nvSpPr>
          <p:spPr>
            <a:xfrm>
              <a:off x="190500" y="152400"/>
              <a:ext cx="35622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F59E0B"/>
                  </a:solidFill>
                  <a:latin typeface="Roboto"/>
                  <a:ea typeface="Roboto"/>
                  <a:cs typeface="Roboto"/>
                  <a:sym typeface="Roboto"/>
                </a:rPr>
                <a:t>Current Limitations</a:t>
              </a:r>
              <a:endParaRPr b="1" sz="1000">
                <a:solidFill>
                  <a:srgbClr val="F59E0B"/>
                </a:solidFill>
                <a:latin typeface="Roboto"/>
                <a:ea typeface="Roboto"/>
                <a:cs typeface="Roboto"/>
                <a:sym typeface="Roboto"/>
              </a:endParaRPr>
            </a:p>
          </p:txBody>
        </p:sp>
        <p:sp>
          <p:nvSpPr>
            <p:cNvPr id="344" name="Google Shape;344;p21"/>
            <p:cNvSpPr txBox="1"/>
            <p:nvPr/>
          </p:nvSpPr>
          <p:spPr>
            <a:xfrm>
              <a:off x="190500" y="419100"/>
              <a:ext cx="35622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4B5563"/>
                  </a:solidFill>
                  <a:latin typeface="Roboto"/>
                  <a:ea typeface="Roboto"/>
                  <a:cs typeface="Roboto"/>
                  <a:sym typeface="Roboto"/>
                </a:rPr>
                <a:t>Current limitations include reliance on synthetic impressions and calibrated baseline targets rather than real user behavior.</a:t>
              </a:r>
              <a:endParaRPr b="0" sz="1300">
                <a:solidFill>
                  <a:srgbClr val="4B5563"/>
                </a:solidFill>
                <a:latin typeface="Roboto"/>
                <a:ea typeface="Roboto"/>
                <a:cs typeface="Roboto"/>
                <a:sym typeface="Roboto"/>
              </a:endParaRPr>
            </a:p>
          </p:txBody>
        </p:sp>
      </p:grpSp>
      <p:grpSp>
        <p:nvGrpSpPr>
          <p:cNvPr id="345" name="Google Shape;345;p21"/>
          <p:cNvGrpSpPr/>
          <p:nvPr/>
        </p:nvGrpSpPr>
        <p:grpSpPr>
          <a:xfrm>
            <a:off x="4743450" y="1219200"/>
            <a:ext cx="3943200" cy="3467100"/>
            <a:chOff x="0" y="0"/>
            <a:chExt cx="3943200" cy="3467100"/>
          </a:xfrm>
        </p:grpSpPr>
        <p:sp>
          <p:nvSpPr>
            <p:cNvPr id="346" name="Google Shape;346;p21"/>
            <p:cNvSpPr/>
            <p:nvPr/>
          </p:nvSpPr>
          <p:spPr>
            <a:xfrm>
              <a:off x="0" y="0"/>
              <a:ext cx="3943200" cy="34671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1"/>
            <p:cNvSpPr/>
            <p:nvPr/>
          </p:nvSpPr>
          <p:spPr>
            <a:xfrm>
              <a:off x="0" y="0"/>
              <a:ext cx="3943200" cy="38100"/>
            </a:xfrm>
            <a:prstGeom prst="rect">
              <a:avLst/>
            </a:prstGeom>
            <a:solidFill>
              <a:srgbClr val="00B8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1"/>
            <p:cNvSpPr txBox="1"/>
            <p:nvPr/>
          </p:nvSpPr>
          <p:spPr>
            <a:xfrm>
              <a:off x="228600" y="190500"/>
              <a:ext cx="34863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B8D9"/>
                  </a:solidFill>
                  <a:latin typeface="Roboto"/>
                  <a:ea typeface="Roboto"/>
                  <a:cs typeface="Roboto"/>
                  <a:sym typeface="Roboto"/>
                </a:rPr>
                <a:t>Future Work Roadmap</a:t>
              </a:r>
              <a:endParaRPr b="1" sz="1000">
                <a:solidFill>
                  <a:srgbClr val="00B8D9"/>
                </a:solidFill>
                <a:latin typeface="Roboto"/>
                <a:ea typeface="Roboto"/>
                <a:cs typeface="Roboto"/>
                <a:sym typeface="Roboto"/>
              </a:endParaRPr>
            </a:p>
          </p:txBody>
        </p:sp>
        <p:sp>
          <p:nvSpPr>
            <p:cNvPr id="349" name="Google Shape;349;p21"/>
            <p:cNvSpPr txBox="1"/>
            <p:nvPr/>
          </p:nvSpPr>
          <p:spPr>
            <a:xfrm>
              <a:off x="228600" y="533400"/>
              <a:ext cx="3486300" cy="2743200"/>
            </a:xfrm>
            <a:prstGeom prst="rect">
              <a:avLst/>
            </a:prstGeom>
            <a:noFill/>
            <a:ln>
              <a:noFill/>
            </a:ln>
          </p:spPr>
          <p:txBody>
            <a:bodyPr anchorCtr="0" anchor="t" bIns="0" lIns="0" spcFirstLastPara="1" rIns="0" wrap="square" tIns="0">
              <a:noAutofit/>
            </a:bodyPr>
            <a:lstStyle/>
            <a:p>
              <a:pPr indent="-317500" lvl="0" marL="457200" rtl="0" algn="l">
                <a:spcBef>
                  <a:spcPts val="0"/>
                </a:spcBef>
                <a:spcAft>
                  <a:spcPts val="0"/>
                </a:spcAft>
                <a:buSzPts val="1400"/>
                <a:buChar char="●"/>
              </a:pPr>
              <a:r>
                <a:rPr b="0" lang="en" sz="1300">
                  <a:solidFill>
                    <a:srgbClr val="4B5563"/>
                  </a:solidFill>
                  <a:latin typeface="Roboto"/>
                  <a:ea typeface="Roboto"/>
                  <a:cs typeface="Roboto"/>
                  <a:sym typeface="Roboto"/>
                </a:rPr>
                <a:t>Execute the pipeline on the complete MINDsmall train and development splits with independently trained baselines.</a:t>
              </a:r>
              <a:endParaRPr b="0" sz="1300">
                <a:solidFill>
                  <a:srgbClr val="4B5563"/>
                </a:solidFill>
                <a:latin typeface="Roboto"/>
                <a:ea typeface="Roboto"/>
                <a:cs typeface="Roboto"/>
                <a:sym typeface="Roboto"/>
              </a:endParaRPr>
            </a:p>
            <a:p>
              <a:pPr indent="-317500" lvl="0" marL="457200" rtl="0" algn="l">
                <a:spcBef>
                  <a:spcPts val="1050"/>
                </a:spcBef>
                <a:spcAft>
                  <a:spcPts val="0"/>
                </a:spcAft>
                <a:buSzPts val="1400"/>
                <a:buChar char="●"/>
              </a:pPr>
              <a:r>
                <a:rPr b="0" lang="en" sz="1300">
                  <a:solidFill>
                    <a:srgbClr val="4B5563"/>
                  </a:solidFill>
                  <a:latin typeface="Roboto"/>
                  <a:ea typeface="Roboto"/>
                  <a:cs typeface="Roboto"/>
                  <a:sym typeface="Roboto"/>
                </a:rPr>
                <a:t>Evaluate the persuasion detector on held-out SemEval data.</a:t>
              </a:r>
              <a:endParaRPr b="0" sz="1300">
                <a:solidFill>
                  <a:srgbClr val="4B5563"/>
                </a:solidFill>
                <a:latin typeface="Roboto"/>
                <a:ea typeface="Roboto"/>
                <a:cs typeface="Roboto"/>
                <a:sym typeface="Roboto"/>
              </a:endParaRPr>
            </a:p>
            <a:p>
              <a:pPr indent="-317500" lvl="0" marL="457200" rtl="0" algn="l">
                <a:spcBef>
                  <a:spcPts val="1050"/>
                </a:spcBef>
                <a:spcAft>
                  <a:spcPts val="1050"/>
                </a:spcAft>
                <a:buSzPts val="1400"/>
                <a:buChar char="●"/>
              </a:pPr>
              <a:r>
                <a:rPr b="0" lang="en" sz="1300">
                  <a:solidFill>
                    <a:srgbClr val="4B5563"/>
                  </a:solidFill>
                  <a:latin typeface="Roboto"/>
                  <a:ea typeface="Roboto"/>
                  <a:cs typeface="Roboto"/>
                  <a:sym typeface="Roboto"/>
                </a:rPr>
                <a:t>Conduct user studies on explanation effectiveness.</a:t>
              </a:r>
              <a:endParaRPr b="0" sz="1300">
                <a:solidFill>
                  <a:srgbClr val="4B5563"/>
                </a:solidFill>
                <a:latin typeface="Roboto"/>
                <a:ea typeface="Roboto"/>
                <a:cs typeface="Roboto"/>
                <a:sym typeface="Roboto"/>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
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603504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400"/>
              </a:spcAft>
            </a:pPr>
            <a:r>
              <a:rPr sz="3400" b="1" dirty="0" err="1">
                <a:solidFill>
                  <a:srgbClr val="FFFFFF"/>
                </a:solidFill>
                <a:latin typeface="Calibri Light"/>
              </a:rPr>
              <a:t>RespNews</a:t>
            </a:r>
            <a:r>
              <a:rPr sz="3400" b="1" dirty="0">
                <a:solidFill>
                  <a:srgbClr val="FFFFFF"/>
                </a:solidFill>
                <a:latin typeface="Calibri Light"/>
              </a:rPr>
              <a:t>: Persuasion-Aware
Knowledge-Graph-Augmented News Recommendation
for Responsible News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</a:pPr>
            <a:r>
              <a:rPr sz="2000" b="0">
                <a:solidFill>
                  <a:srgbClr val="E8A838"/>
                </a:solidFill>
                <a:latin typeface="Calibri"/>
              </a:rPr>
              <a:t>CSE4077 – Recommender Systems  | 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36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4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Gladwin Daniel P  (23</a:t>
            </a:r>
            <a:r>
              <a:rPr lang="en-IN" dirty="0">
                <a:solidFill>
                  <a:srgbClr val="FFFFFF"/>
                </a:solidFill>
                <a:latin typeface="Calibri"/>
              </a:rPr>
              <a:t>MIA1058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)     •     Karthikeyan A  (23MI</a:t>
            </a:r>
            <a:r>
              <a:rPr lang="en-IN" sz="1800" b="0" dirty="0">
                <a:solidFill>
                  <a:srgbClr val="FFFFFF"/>
                </a:solidFill>
                <a:latin typeface="Calibri"/>
              </a:rPr>
              <a:t>A1123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</a:pPr>
            <a:r>
              <a:rPr sz="1600" b="0">
                <a:solidFill>
                  <a:srgbClr val="B0C4DE"/>
                </a:solidFill>
                <a:latin typeface="Calibri"/>
              </a:rPr>
              <a:t>Faculty Guide: Dr S Vigneshwari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Introduction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00"/>
              </a:lnSpc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Modern news recommenders optimize primarily for Click-Through Rate (CTR), inadvertently amplifying sensational and manipulative content.</a:t>
            </a:r>
          </a:p>
          <a:p>
            <a:pPr algn="l">
              <a:lnSpc>
                <a:spcPts val="3200"/>
              </a:lnSpc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Users are increasingly exposed to persuasion techniques: loaded language, fear appeals, false dilemmas, and emotional manipulation.</a:t>
            </a:r>
          </a:p>
          <a:p>
            <a:pPr algn="l">
              <a:lnSpc>
                <a:spcPts val="3200"/>
              </a:lnSpc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UN SDG 16: Peace, Justice and Strong Institutions — Targets 16.10 (public access to information) and 16.6 (transparent, accountable institutions).</a:t>
            </a:r>
          </a:p>
          <a:p>
            <a:pPr algn="l">
              <a:lnSpc>
                <a:spcPts val="3200"/>
              </a:lnSpc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Growing need for responsible AI in news delivery — balancing user engagement with ethical content exposure.</a:t>
            </a:r>
          </a:p>
          <a:p>
            <a:pPr algn="l">
              <a:lnSpc>
                <a:spcPts val="3200"/>
              </a:lnSpc>
              <a:spcAft>
                <a:spcPts val="6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RespNews addresses this gap: a persuasion-aware news recommender that promotes responsible consumption without sacrificing relevance.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3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6984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73152" cy="109728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3716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2C3E6B"/>
                </a:solidFill>
                <a:latin typeface="Calibri"/>
              </a:rPr>
              <a:t>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How can a news recommender simultaneously engage users and curtail exposure to manipulative content?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338328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338328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9992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Objective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5661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50"/>
              </a:lnSpc>
              <a:spcAft>
                <a:spcPts val="4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Detect persuasive content
using multi-label classification
of 23 SemEval techniques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2926080"/>
            <a:ext cx="338328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59" y="2926080"/>
            <a:ext cx="3383280" cy="5029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39" y="29992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Objective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5661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50"/>
              </a:lnSpc>
              <a:spcAft>
                <a:spcPts val="4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Build user susceptibility
profiles via EMA tracking
of interaction patterns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9" y="2926080"/>
            <a:ext cx="338328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599" y="2926080"/>
            <a:ext cx="3383280" cy="5029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79" y="29992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Objective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56616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50"/>
              </a:lnSpc>
              <a:spcAft>
                <a:spcPts val="400"/>
              </a:spcAft>
            </a:pPr>
            <a:r>
              <a:rPr sz="1700" b="0">
                <a:solidFill>
                  <a:srgbClr val="555555"/>
                </a:solidFill>
                <a:latin typeface="Calibri"/>
              </a:rPr>
              <a:t>Employ explainable, fair
ranking with responsible
re-ranking objectives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4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Literature Survey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Paper / System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Key Contribution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Limitation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NRMS (Wu et al.)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Multi-head self-attention for news encoding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No persuasion awareness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NAML (Wu et al.)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Attentive multi-view learning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Single modality (text only)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LSTUR (An et al.)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2019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Long/short-term user representations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No fairness constraints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GLORY (Yang et al.)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Global-local graph user modeling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No content responsibility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SemEval-2023 T3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23 persuasion technique taxonomy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Classification only, no rec.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ProFairRec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2022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Provider-side fairness in rec.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No persuasion integration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5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Research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2801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Gap 1: Persuasion-Aware Personalization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No existing news recommender integrates persuasion technique detection into user modeling or ranking. Systems treat all content equally regardless of manipulative rhetorical strategies.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926080"/>
            <a:ext cx="106984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73152" cy="14630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2C3E6B"/>
                </a:solidFill>
                <a:latin typeface="Calibri"/>
              </a:rPr>
              <a:t>Gap 2: Responsible Ranking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918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Current systems optimize purely for CTR/engagement. No joint optimization that balances relevance with persuasion risk suppression and provider fairness.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663440"/>
            <a:ext cx="10698480" cy="1463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4663440"/>
            <a:ext cx="73152" cy="14630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7548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006B3F"/>
                </a:solidFill>
                <a:latin typeface="Calibri"/>
              </a:rPr>
              <a:t>Gap 3: Content-Level Explainability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50292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Limited explainability in neural recommenders. Users cannot see why an article was recommended or what persuasion techniques it contains. No fairness guarantees at the provider level.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6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Proposed Methodology –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8047" y="2011680"/>
            <a:ext cx="160020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8047" y="2011680"/>
            <a:ext cx="1600200" cy="731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3767" y="20574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Multimodal
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87" y="2926080"/>
            <a:ext cx="1417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News text, images,
user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3017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400"/>
              </a:spcAft>
            </a:pPr>
            <a:r>
              <a:rPr sz="2400" b="1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1127" y="2011680"/>
            <a:ext cx="160020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21127" y="2011680"/>
            <a:ext cx="1600200" cy="73152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66847" y="20574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Text / Vision
Encoders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2567" y="2926080"/>
            <a:ext cx="1417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RoBERTa, MuRIL,
EfficientNet, Xception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1327" y="3017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400"/>
              </a:spcAft>
            </a:pPr>
            <a:r>
              <a:rPr sz="2400" b="1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4207" y="2011680"/>
            <a:ext cx="160020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04207" y="2011680"/>
            <a:ext cx="1600200" cy="73152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49927" y="20574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GMU
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5647" y="2926080"/>
            <a:ext cx="1417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Gated Multimodal
Unit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04407" y="3017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400"/>
              </a:spcAft>
            </a:pPr>
            <a:r>
              <a:rPr sz="2400" b="1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7287" y="2011680"/>
            <a:ext cx="160020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7287" y="2011680"/>
            <a:ext cx="1600200" cy="73152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33007" y="20574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KG +
GraphSAGE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2926080"/>
            <a:ext cx="1417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Heterogeneous graph,
2-layer GNN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7487" y="3017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400"/>
              </a:spcAft>
            </a:pPr>
            <a:r>
              <a:rPr sz="2400" b="1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70367" y="2011680"/>
            <a:ext cx="160020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970367" y="2011680"/>
            <a:ext cx="1600200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16087" y="20574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Persuasion
Detector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1807" y="2926080"/>
            <a:ext cx="1417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23-class multi-label
+ susceptibility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0567" y="301752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400"/>
              </a:spcAft>
            </a:pPr>
            <a:r>
              <a:rPr sz="2400" b="1">
                <a:solidFill>
                  <a:srgbClr val="1B2A4A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53447" y="2011680"/>
            <a:ext cx="160020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753447" y="2011680"/>
            <a:ext cx="1600200" cy="73152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99167" y="2057400"/>
            <a:ext cx="1508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Responsible
Re-Ranking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44887" y="2926080"/>
            <a:ext cx="1417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Score = αR − βP + γE
Top-K Feed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5212080"/>
            <a:ext cx="94183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371600" y="5212080"/>
            <a:ext cx="73152" cy="9144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00200" y="5303520"/>
            <a:ext cx="9052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Calibri"/>
              </a:rPr>
              <a:t>Key Innovation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557784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Joint multimodal persuasion-aware recommendation: first system to integrate persuasion detection, user susceptibility profiling, and responsible re-ranking into a unified news recommendation pipeline.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7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Text Encoders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03520" cy="4937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303520" cy="5486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RoBERTa-base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Monolingual English encoder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23-class persuasion detection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125M parameters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Byte-Pair Encoding tokenizer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768-d contextual embeddings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Fine-tuned on SemEval-2023 Task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303520" cy="4937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303520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MuRIL (google/muril-base-cased)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17 Indian languages support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Code-mixed text handling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Vernacular news reporting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BERT-based multilingual encoder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768-d contextual embeddings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Outperforms RoBERTa: AUC 0.6794 vs 0.6755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8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Vision Backbones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5303520" cy="4937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5303520" cy="5486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EfficientNet-B0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5.3M parameters — lightweight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Compound scaling (depth, width, resolution)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Thumbnail feature extraction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Clickbait image detection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Semantic visual perspective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+0.6% AUC improvement over text-only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303520" cy="4937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303520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Xception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22.8M parameters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Depthwise separable convolutions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Image forensics capability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Synthetic / deepfake detection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Forensic visual perspective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Dual visual stream with EfficientNet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9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Multimodal Fusion — Gated Multimodal Unit (GMU)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Dynamically weights text vs. visual signals based on learned gating: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011680"/>
            <a:ext cx="941832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0" y="201168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21031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009688"/>
                </a:solidFill>
                <a:latin typeface="Calibri"/>
              </a:rPr>
              <a:t>Text Transform: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</a:pPr>
            <a:r>
              <a:rPr sz="2000" b="0">
                <a:solidFill>
                  <a:srgbClr val="1B2A4A"/>
                </a:solidFill>
                <a:latin typeface="Consolas"/>
              </a:rPr>
              <a:t>h̃_T = tanh( W_T · h_T 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3017520"/>
            <a:ext cx="941832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0" y="301752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45920" y="3108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009688"/>
                </a:solidFill>
                <a:latin typeface="Calibri"/>
              </a:rPr>
              <a:t>Visual Transform: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089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</a:pPr>
            <a:r>
              <a:rPr sz="2000" b="0">
                <a:solidFill>
                  <a:srgbClr val="1B2A4A"/>
                </a:solidFill>
                <a:latin typeface="Consolas"/>
              </a:rPr>
              <a:t>h̃_V = tanh( W_V · h_V 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023360"/>
            <a:ext cx="941832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371600" y="402336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64592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009688"/>
                </a:solidFill>
                <a:latin typeface="Calibri"/>
              </a:rPr>
              <a:t>Gating Vector: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1148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</a:pPr>
            <a:r>
              <a:rPr sz="2000" b="0" dirty="0">
                <a:solidFill>
                  <a:srgbClr val="1B2A4A"/>
                </a:solidFill>
                <a:latin typeface="Consolas"/>
              </a:rPr>
              <a:t>z = σ( </a:t>
            </a:r>
            <a:r>
              <a:rPr sz="2000" b="0" dirty="0" err="1">
                <a:solidFill>
                  <a:srgbClr val="1B2A4A"/>
                </a:solidFill>
                <a:latin typeface="Consolas"/>
              </a:rPr>
              <a:t>W_z</a:t>
            </a:r>
            <a:r>
              <a:rPr sz="2000" b="0" dirty="0">
                <a:solidFill>
                  <a:srgbClr val="1B2A4A"/>
                </a:solidFill>
                <a:latin typeface="Consolas"/>
              </a:rPr>
              <a:t> [ </a:t>
            </a:r>
            <a:r>
              <a:rPr sz="2000" b="0" dirty="0" err="1">
                <a:solidFill>
                  <a:srgbClr val="1B2A4A"/>
                </a:solidFill>
                <a:latin typeface="Consolas"/>
              </a:rPr>
              <a:t>h_T</a:t>
            </a:r>
            <a:r>
              <a:rPr sz="2000" b="0" dirty="0">
                <a:solidFill>
                  <a:srgbClr val="1B2A4A"/>
                </a:solidFill>
                <a:latin typeface="Consolas"/>
              </a:rPr>
              <a:t> ; </a:t>
            </a:r>
            <a:r>
              <a:rPr sz="2000" b="0" dirty="0" err="1">
                <a:solidFill>
                  <a:srgbClr val="1B2A4A"/>
                </a:solidFill>
                <a:latin typeface="Consolas"/>
              </a:rPr>
              <a:t>h_V</a:t>
            </a:r>
            <a:r>
              <a:rPr sz="2000" b="0" dirty="0">
                <a:solidFill>
                  <a:srgbClr val="1B2A4A"/>
                </a:solidFill>
                <a:latin typeface="Consolas"/>
              </a:rPr>
              <a:t> ] 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029200"/>
            <a:ext cx="941832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371600" y="502920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0" y="5120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009688"/>
                </a:solidFill>
                <a:latin typeface="Calibri"/>
              </a:rPr>
              <a:t>Fused Embedding: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1206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</a:pPr>
            <a:r>
              <a:rPr sz="2000" b="0">
                <a:solidFill>
                  <a:srgbClr val="1B2A4A"/>
                </a:solidFill>
                <a:latin typeface="Consolas"/>
              </a:rPr>
              <a:t>e_multimodal = z ⊙ h̃_T + (1−z) ⊙ h̃_V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26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0" dirty="0">
                <a:solidFill>
                  <a:srgbClr val="555555"/>
                </a:solidFill>
                <a:latin typeface="Calibri"/>
              </a:rPr>
              <a:t>Gate z learns per-article how much to rely on textual vs. visual cues for persuasion detection.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10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Knowledge Graph &amp; GraphSAGE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9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Heterogeneous graph with 4 node types:
    Users, Articles, Topics, Named Entities</a:t>
            </a:r>
          </a:p>
          <a:p>
            <a:pPr algn="l">
              <a:lnSpc>
                <a:spcPts val="289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Edge types: clicked, belongs_to, mentions</a:t>
            </a:r>
          </a:p>
          <a:p>
            <a:pPr algn="l">
              <a:lnSpc>
                <a:spcPts val="289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2-layer GraphSAGE with HeteroConv</a:t>
            </a:r>
          </a:p>
          <a:p>
            <a:pPr algn="l">
              <a:lnSpc>
                <a:spcPts val="289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128-dimensional user &amp; article embeddings</a:t>
            </a:r>
          </a:p>
          <a:p>
            <a:pPr algn="l">
              <a:lnSpc>
                <a:spcPts val="289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Neighborhood sampling for scalable training</a:t>
            </a:r>
          </a:p>
          <a:p>
            <a:pPr algn="l">
              <a:lnSpc>
                <a:spcPts val="2890"/>
              </a:lnSpc>
              <a:spcAft>
                <a:spcPts val="600"/>
              </a:spcAft>
            </a:pPr>
            <a:r>
              <a:rPr sz="1700">
                <a:solidFill>
                  <a:srgbClr val="1A1A1A"/>
                </a:solidFill>
                <a:latin typeface="Calibri"/>
              </a:rPr>
              <a:t>•  Relevance score: R(u,n) = σ( z_uᵀ · z_n )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645920"/>
            <a:ext cx="201168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0" y="1645920"/>
            <a:ext cx="201168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194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Profiles &amp;
susceptibility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0" y="1645920"/>
            <a:ext cx="201168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418320" y="1645920"/>
            <a:ext cx="2011680" cy="4572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0" y="16916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Articles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News content
&amp; metadata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657600"/>
            <a:ext cx="201168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0" y="3657600"/>
            <a:ext cx="2011680" cy="4572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Topics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42062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Category
labels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3657600"/>
            <a:ext cx="201168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18320" y="3657600"/>
            <a:ext cx="2011680" cy="4572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0" y="3703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Entities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2062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Named entity
mentions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2331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</a:pPr>
            <a:r>
              <a:rPr sz="1200" b="1" dirty="0">
                <a:solidFill>
                  <a:srgbClr val="1B2A4A"/>
                </a:solidFill>
                <a:latin typeface="Calibri"/>
              </a:rPr>
              <a:t>↔ clicked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</a:pPr>
            <a:r>
              <a:rPr sz="1200" b="1" dirty="0">
                <a:solidFill>
                  <a:srgbClr val="1B2A4A"/>
                </a:solidFill>
                <a:latin typeface="Calibri"/>
              </a:rPr>
              <a:t>↔ </a:t>
            </a:r>
            <a:r>
              <a:rPr sz="1200" b="1" dirty="0" err="1">
                <a:solidFill>
                  <a:srgbClr val="1B2A4A"/>
                </a:solidFill>
                <a:latin typeface="Calibri"/>
              </a:rPr>
              <a:t>belongs_to</a:t>
            </a:r>
            <a:endParaRPr sz="1200" b="1" dirty="0">
              <a:solidFill>
                <a:srgbClr val="1B2A4A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01200" y="34747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400"/>
              </a:spcAft>
            </a:pPr>
            <a:r>
              <a:rPr sz="1200" b="1">
                <a:solidFill>
                  <a:srgbClr val="1B2A4A"/>
                </a:solidFill>
                <a:latin typeface="Calibri"/>
              </a:rPr>
              <a:t>↔ mentions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11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Persuasion Detection &amp; Susceptibility Profiling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23 SemEval-2023 Persuasion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Loaded Language  •  Fear Appeals  •  False Dilemma  •  Name Calling  •  Flag Waving  •  Bandwagon  •  Appeal to Authority  •  Exaggeration  •  Doubt  •  Slogans  •  Repetition  •  Whataboutism  ... and 11 more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474720"/>
            <a:ext cx="5303520" cy="2743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3474720"/>
            <a:ext cx="73152" cy="2743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657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  <a:latin typeface="Calibri"/>
              </a:rPr>
              <a:t>Multi-label Classification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77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1B2A4A"/>
                </a:solidFill>
                <a:latin typeface="Consolas"/>
              </a:rPr>
              <a:t>Danger-weighted risk scoring per article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  <a:latin typeface="Calibri"/>
              </a:rPr>
              <a:t>EMA Susceptibility: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8006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1B2A4A"/>
                </a:solidFill>
                <a:latin typeface="Consolas"/>
              </a:rPr>
              <a:t>s_u^(t) = (1−λ) s_u^(t−1) + λ · p_n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035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  <a:latin typeface="Calibri"/>
              </a:rPr>
              <a:t>Personalized Risk: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6235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1B2A4A"/>
                </a:solidFill>
                <a:latin typeface="Consolas"/>
              </a:rPr>
              <a:t>P(u,n) = cos_sim(s_u, p_n) · max_k(p_n,k)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097280"/>
            <a:ext cx="50292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583680" y="1097280"/>
            <a:ext cx="502920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0" y="11430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Risk Scoring Pipeline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920240"/>
            <a:ext cx="118872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21031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1. Detect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96596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Multi-label classifier identifies
persuasion techniques in article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926080"/>
            <a:ext cx="118872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0" y="310896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2. Weight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9718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Danger scores assigned per
technique (fear &gt; slogans)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3931920"/>
            <a:ext cx="118872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0" y="411480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3.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9776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EMA tracks user's historical
exposure to each technique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4937760"/>
            <a:ext cx="1188720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0" y="512064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4.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98348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Personalized risk = similarity
between user profile &amp; article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12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Responsible Re-Ranking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71600" y="1371600"/>
            <a:ext cx="73152" cy="109728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0" y="14630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Aft>
                <a:spcPts val="400"/>
              </a:spcAft>
            </a:pPr>
            <a:r>
              <a:rPr sz="2800" b="1">
                <a:solidFill>
                  <a:srgbClr val="1B2A4A"/>
                </a:solidFill>
                <a:latin typeface="Consolas"/>
              </a:rPr>
              <a:t>Score(u, n)  =  α · R(u,n)  −  β · P(u,n)  +  γ · E(n)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659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400"/>
              </a:spcAft>
            </a:pPr>
            <a:r>
              <a:rPr sz="1800" b="0">
                <a:solidFill>
                  <a:srgbClr val="555555"/>
                </a:solidFill>
                <a:latin typeface="Calibri"/>
              </a:rPr>
              <a:t>Default weights:  α = 0.70  |  β = 0.30  |  γ = 0.05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338328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017520"/>
            <a:ext cx="3383280" cy="548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α · R(u,n)  —  Relevance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Graph-based user-article
affinity from GraphSAGE
embeddings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3017520"/>
            <a:ext cx="338328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59" y="3017520"/>
            <a:ext cx="338328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1999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β · P(u,n)  —  Persuasion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3749039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Personalized risk score
from susceptibility
profiling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9" y="3017520"/>
            <a:ext cx="338328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599" y="3017520"/>
            <a:ext cx="3383280" cy="54864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39" y="30632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39"/>
              </a:lnSpc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γ · E(n)  —  Explainability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3749039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Bonus for articles with
clear, transparent
explanations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577840"/>
            <a:ext cx="1069848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577840"/>
            <a:ext cx="73152" cy="7772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56692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1B2A4A"/>
                </a:solidFill>
                <a:latin typeface="Calibri"/>
              </a:rPr>
              <a:t>Provider Fairness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9436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Diversity capping: max 20% per publisher in Top-K results  •  100% explanation coverage for all recommendations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13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651760" cy="685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Multimodal Inputs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03120"/>
            <a:ext cx="24688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News Content
(Title, Body, Images)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474720"/>
            <a:ext cx="24688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User Interaction
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1188720"/>
            <a:ext cx="2651760" cy="6858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20700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Encoders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103120"/>
            <a:ext cx="24688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MuRIL / RoBERTa
(Text → 768-d)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3474720"/>
            <a:ext cx="24688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66160" y="3611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EfficientNet / Xception
(Vision → features)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0" y="4846320"/>
            <a:ext cx="24688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66160" y="49834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Susceptibility
Profiler (EMA)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188720"/>
            <a:ext cx="2651760" cy="6858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20700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KG + Persuasion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103120"/>
            <a:ext cx="24688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Heterogeneous KG
with GraphSAGE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474720"/>
            <a:ext cx="24688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3611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GMU Fusion
(Text + Vision)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846320"/>
            <a:ext cx="24688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9834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23-Class Persuasion
Detector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7432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1188720"/>
            <a:ext cx="2651760" cy="6858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26880" y="120700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Responsible Output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0" y="2103120"/>
            <a:ext cx="24688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418320" y="22402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Responsible Score
αR − βP + γE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26880" y="3474720"/>
            <a:ext cx="24688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18320" y="36118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Top-K
Recommendation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26880" y="4846320"/>
            <a:ext cx="246888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418320" y="498348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Explainable
Feed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14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105156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Dataset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Scale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Key Labels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Usage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MIND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160K articles, 1M users,
24M impressions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Click behavior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Core rec. training &amp; eval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SemEval-2023 Task 3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Multi-language corpus,
9 languages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23 persuasion techniques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Persuasion classifier training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Clickbait Dataset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News headlines +
thumbnails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Sensationalism labels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Clickbait detection training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GoEmotions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58K Reddit comments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Fine-grained emotion
labels (28 classes)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Emotional manipulation det.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BASIL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News articles from
3 outlets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Bias annotations
(lexical + informational)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Media bias analysis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FakeNewsNet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News articles +
social context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Veracity labels
(real/fake)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A1A1A"/>
                          </a:solidFill>
                          <a:latin typeface="Calibri"/>
                        </a:rPr>
                        <a:t>Misinformation detection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15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Experimental Results — Main Benchmark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8046720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nDCG@5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Parity
Gap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Expl.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NRMS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.6730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.5538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.5117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NAML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.6588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.5364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.5020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LSTUR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.6657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.5444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.5043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GLORY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.6986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.5768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.5384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RespNews
(RoBERTa)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.6755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.5744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.6026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.7356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RespNews
(MuRIL)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.6794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.5801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.6045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.7396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RespNews
(MuRIL + Eff.)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.6804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.5829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.6080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.7438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5303520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73152" cy="9144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539496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Calibri"/>
              </a:rPr>
              <a:t>Best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669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RespNews (MuRIL + EfficientNet): AUC 0.6804, nDCG@10 0.6080, MRR 0.7438 — with zero parity gap and 100% explanation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16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73152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188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009688"/>
                </a:solidFill>
                <a:latin typeface="Calibri"/>
              </a:rPr>
              <a:t>MuRIL &gt; RoBERTa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AUC 0.6794 vs 0.6755 — regional linguistic pre-training provides advantage for diverse news content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73152" cy="91440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2C3E6B"/>
                </a:solidFill>
                <a:latin typeface="Calibri"/>
              </a:rPr>
              <a:t>Vision Adds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60604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+0.6% AUC with EfficientNet — visual features capture clickbait thumbnails and manipulative imagery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246120"/>
            <a:ext cx="73152" cy="9144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32918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006B3F"/>
                </a:solidFill>
                <a:latin typeface="Calibri"/>
              </a:rPr>
              <a:t>Zero Parity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All RespNews variants achieve 0.000 provider parity gap — perfect publisher fairness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297679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4297679"/>
            <a:ext cx="73152" cy="91440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3433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5C6BC0"/>
                </a:solidFill>
                <a:latin typeface="Calibri"/>
              </a:rPr>
              <a:t>100% Explainability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709159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Every recommendation includes technique-level explanations — full transparency for users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349240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1520" y="5349240"/>
            <a:ext cx="73152" cy="914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5394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High-Risk Suppression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85% reduction in persuasive content exposure at β=0.30 with &lt;0.3% relevance loss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17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Ablation Study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88720"/>
          <a:ext cx="9235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Configuration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AUC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MRR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Δ AUC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Δ nDCG@10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Full System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.6804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.6080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.7438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w/o Vision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.6758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.6002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.7337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−0.0046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−0.0078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w/o MuRIL (→ RoBERTa)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.6738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.6045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.7342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−0.0066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−0.0035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w/o Persuasion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.6792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.6043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.7360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−0.0012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−0.0037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w/o Susceptibility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.6742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.5966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.7247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−0.0062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−0.0114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w/o Provider Cap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.6801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.5999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.7211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−0.0003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−0.0081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846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Calibri"/>
              </a:rPr>
              <a:t>•  Susceptibility profiling has the largest impact (−0.0114 nDCG@10) — personalized risk is critical</a:t>
            </a:r>
          </a:p>
          <a:p>
            <a:pPr algn="l">
              <a:lnSpc>
                <a:spcPts val="2560"/>
              </a:lnSpc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Calibri"/>
              </a:rPr>
              <a:t>•  Vision contributes meaningfully (−0.0046 AUC) — multimodal fusion is justified</a:t>
            </a:r>
          </a:p>
          <a:p>
            <a:pPr algn="l">
              <a:lnSpc>
                <a:spcPts val="2560"/>
              </a:lnSpc>
              <a:spcAft>
                <a:spcPts val="600"/>
              </a:spcAft>
            </a:pPr>
            <a:r>
              <a:rPr sz="1600">
                <a:solidFill>
                  <a:srgbClr val="555555"/>
                </a:solidFill>
                <a:latin typeface="Calibri"/>
              </a:rPr>
              <a:t>•  Provider capping improves fairness with minimal relevance impact (−0.0003 AUC)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18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Pareto Trade-off: Relevance vs. Persuasion Suppression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</a:pPr>
            <a:r>
              <a:rPr sz="2000" b="0">
                <a:solidFill>
                  <a:srgbClr val="1A1A1A"/>
                </a:solidFill>
                <a:latin typeface="Calibri"/>
              </a:rPr>
              <a:t>nDCG@10 vs Persuasive Exposure Rate as β varies from 0.0 → 1.0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0149840" cy="162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β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0.10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0.20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0.30*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0.50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1.00</a:t>
                      </a:r>
                    </a:p>
                  </a:txBody>
                  <a:tcPr marL="76200" marR="76200" marT="50800" marB="50800" anchor="ctr"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nDCG@10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.6098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.6092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.6088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.6080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.6061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.6032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.5910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.5701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Exposure
Reduction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42%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85%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91%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94%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97%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 marL="76200" marR="76200" marT="50800" marB="50800" anchor="ctr">
                    <a:solidFill>
                      <a:srgbClr val="EB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Rel. Loss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0.1%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0.16%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0.30%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0.61%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1.08%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3.08%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A1A1A"/>
                          </a:solidFill>
                          <a:latin typeface="Calibri"/>
                        </a:rPr>
                        <a:t>6.51%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4572000"/>
            <a:ext cx="73152" cy="914400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0200" y="4663440"/>
            <a:ext cx="9052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E8A838"/>
                </a:solidFill>
                <a:latin typeface="Calibri"/>
              </a:rPr>
              <a:t>Optimal Operating Point: β = 0.30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93776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85% rhetoric suppression with only 0.30% ranking loss — best Pareto trade-off. Beyond β &gt; 0.50, relevance degrades significantly (&gt;1% loss).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400"/>
              </a:spcAft>
            </a:pPr>
            <a:r>
              <a:rPr sz="1400" b="0">
                <a:solidFill>
                  <a:srgbClr val="555555"/>
                </a:solidFill>
                <a:latin typeface="Calibri"/>
              </a:rPr>
              <a:t>* Default configuration. Slider in dashboard allows real-time β adjustment.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19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Dashboard &amp;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</a:pPr>
            <a:r>
              <a:rPr sz="2000" b="1">
                <a:solidFill>
                  <a:srgbClr val="1B2A4A"/>
                </a:solidFill>
                <a:latin typeface="Calibri"/>
              </a:rPr>
              <a:t>React 19 + TypeScript + Vite 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0292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73736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783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  <a:latin typeface="Calibri"/>
              </a:rPr>
              <a:t>News 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Personalized recommendations with
persuasion badges and risk indicators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50292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65176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6974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  <a:latin typeface="Calibri"/>
              </a:rPr>
              <a:t>Article Detail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Full article view with technique
highlighting and danger scores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50292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56616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611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  <a:latin typeface="Calibri"/>
              </a:rPr>
              <a:t>User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Susceptibility radar chart,
historical exposure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80560"/>
            <a:ext cx="50292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48056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4526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  <a:latin typeface="Calibri"/>
              </a:rPr>
              <a:t>SDG 16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KPI metrics, parity gap tracking,
explainability coverage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394960"/>
            <a:ext cx="502920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394960"/>
            <a:ext cx="73152" cy="7772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5440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1">
                <a:solidFill>
                  <a:srgbClr val="009688"/>
                </a:solidFill>
                <a:latin typeface="Calibri"/>
              </a:rPr>
              <a:t>Live Detector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760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Real-time URL analysis with
multi-label persuasion output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188720"/>
            <a:ext cx="5394960" cy="5120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1188720"/>
            <a:ext cx="5394960" cy="54864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Interactive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Interactive α/β sliders for real-time
relevance-responsibility trade-off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Persuasion radar chart showing 23
technique distributions per article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SDG 16 KPI dashboard with live
metric tracking and historical trends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FastAPI backend with SQLite storage
and FAISS vector retrieval</a:t>
            </a:r>
          </a:p>
          <a:p>
            <a:pPr algn="l">
              <a:lnSpc>
                <a:spcPts val="2550"/>
              </a:lnSpc>
              <a:spcAft>
                <a:spcPts val="600"/>
              </a:spcAft>
            </a:pPr>
            <a:r>
              <a:rPr sz="1500">
                <a:solidFill>
                  <a:srgbClr val="1A1A1A"/>
                </a:solidFill>
                <a:latin typeface="Calibri"/>
              </a:rPr>
              <a:t>•  Chart.js visualizations for metrics
and Axios for API communication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20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SDG 16: Peace, Justice and Strong Institutions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1069848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188720"/>
            <a:ext cx="73152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009688"/>
                </a:solidFill>
                <a:latin typeface="Calibri"/>
              </a:rPr>
              <a:t>Target 16.10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2801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Public Access to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9164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RespNews ensures users receive diverse, non-manipulative news — promoting informed public discourse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34640"/>
            <a:ext cx="1069848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834640"/>
            <a:ext cx="73152" cy="137160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006B3F"/>
                </a:solidFill>
                <a:latin typeface="Calibri"/>
              </a:rPr>
              <a:t>Target 16.6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9260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Accountable, Transparent Institutions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3756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4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100% explanation coverage and provider fairness — algorithmic accountability in news delivery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2560320" cy="1554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256032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400"/>
              </a:spcAft>
            </a:pPr>
            <a:r>
              <a:rPr sz="3600" b="1">
                <a:solidFill>
                  <a:srgbClr val="009688"/>
                </a:solidFill>
                <a:latin typeface="Calibri"/>
              </a:rPr>
              <a:t>18%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669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Persuasion Exposure
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11880" y="4754880"/>
            <a:ext cx="2560320" cy="1554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611880" y="4754880"/>
            <a:ext cx="2560320" cy="54864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0332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400"/>
              </a:spcAft>
            </a:pPr>
            <a:r>
              <a:rPr sz="3600" b="1">
                <a:solidFill>
                  <a:srgbClr val="006B3F"/>
                </a:solidFill>
                <a:latin typeface="Calibri"/>
              </a:rPr>
              <a:t>0.040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669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Provider Parity
Gap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4754880"/>
            <a:ext cx="2560320" cy="1554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92240" y="4754880"/>
            <a:ext cx="2560320" cy="54864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400"/>
              </a:spcAft>
            </a:pPr>
            <a:r>
              <a:rPr sz="3600" b="1">
                <a:solidFill>
                  <a:srgbClr val="2C3E6B"/>
                </a:solidFill>
                <a:latin typeface="Calibri"/>
              </a:rPr>
              <a:t>97%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669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Explainability
Coverage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72600" y="4754880"/>
            <a:ext cx="2560320" cy="1554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372600" y="4754880"/>
            <a:ext cx="256032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46404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400"/>
              </a:spcAft>
            </a:pPr>
            <a:r>
              <a:rPr sz="3600" b="1">
                <a:solidFill>
                  <a:srgbClr val="C0392B"/>
                </a:solidFill>
                <a:latin typeface="Calibri"/>
              </a:rPr>
              <a:t>85%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40" y="566928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400"/>
              </a:spcAft>
            </a:pPr>
            <a:r>
              <a:rPr sz="1300" b="0">
                <a:solidFill>
                  <a:srgbClr val="555555"/>
                </a:solidFill>
                <a:latin typeface="Calibri"/>
              </a:rPr>
              <a:t>High-Risk Content
Suppression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21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65176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651760" cy="5943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6596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0391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React 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24328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TypeScript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282696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3558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Vite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941064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0142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Chart.js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599432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6725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Axios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257799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533095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React Router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1188720"/>
            <a:ext cx="265176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383280" y="1188720"/>
            <a:ext cx="2651760" cy="594360"/>
          </a:xfrm>
          <a:prstGeom prst="rect">
            <a:avLst/>
          </a:prstGeom>
          <a:solidFill>
            <a:srgbClr val="2C3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0" y="1234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196596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66160" y="20391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FastAPI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2624328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6616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Pydantic v2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3282696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66160" y="33558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Uvicorn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3941064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66160" y="40142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SQLite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4599432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66160" y="46725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FAISS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5257799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566160" y="533095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Python 3.11+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1188720"/>
            <a:ext cx="265176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60" y="1188720"/>
            <a:ext cx="2651760" cy="594360"/>
          </a:xfrm>
          <a:prstGeom prst="rect">
            <a:avLst/>
          </a:prstGeom>
          <a:solidFill>
            <a:srgbClr val="5C6B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0" y="1234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ML / DL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196596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92240" y="20391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PyTorch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2624328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9224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Transformers (HF)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3282696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33558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PyTorch Geometric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46520" y="3941064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40142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FAISS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4599432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92240" y="46725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scikit-learn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5257799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92240" y="533095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NumPy/Pandas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35440" y="1188720"/>
            <a:ext cx="265176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9235440" y="1188720"/>
            <a:ext cx="2651760" cy="594360"/>
          </a:xfrm>
          <a:prstGeom prst="rect">
            <a:avLst/>
          </a:prstGeom>
          <a:solidFill>
            <a:srgbClr val="006B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326880" y="12344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Models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72600" y="1965960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18320" y="20391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RoBERTa-base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72600" y="2624328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1832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MuRIL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72600" y="3282696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18320" y="335584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EfficientNet-B0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72600" y="3941064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418320" y="401421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Xception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372600" y="4599432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418320" y="467258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GraphSAGE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72600" y="5257799"/>
            <a:ext cx="23774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418320" y="533095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GMU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22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RespNews proves that algorithmic responsibility and click prediction can coexist — responsible AI is not at odds with user engagement.</a:t>
            </a:r>
          </a:p>
          <a:p>
            <a:pPr algn="l">
              <a:lnSpc>
                <a:spcPts val="2880"/>
              </a:lnSpc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MuRIL + EfficientNet achieves the best multimodal configuration:
    AUC: 0.6804  |  nDCG@10: 0.6080  |  MRR: 0.7438</a:t>
            </a:r>
          </a:p>
          <a:p>
            <a:pPr algn="l">
              <a:lnSpc>
                <a:spcPts val="2880"/>
              </a:lnSpc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Zero provider parity gap (0.000) and 100% explainability coverage — setting a new standard for responsible recommendation.</a:t>
            </a:r>
          </a:p>
          <a:p>
            <a:pPr algn="l">
              <a:lnSpc>
                <a:spcPts val="2880"/>
              </a:lnSpc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First system to integrate persuasion detection into the news recommendation pipeline — bridging NLP and RecSys communities.</a:t>
            </a:r>
          </a:p>
          <a:p>
            <a:pPr algn="l">
              <a:lnSpc>
                <a:spcPts val="2880"/>
              </a:lnSpc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85% reduction in persuasive content exposure with only 0.30% relevance degradation at optimal β=0.30.</a:t>
            </a:r>
          </a:p>
          <a:p>
            <a:pPr algn="l">
              <a:lnSpc>
                <a:spcPts val="2880"/>
              </a:lnSpc>
              <a:spcAft>
                <a:spcPts val="6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Open-source dashboard with interactive controls empowers users and researchers to explore responsibility trade-offs.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23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143000"/>
            <a:ext cx="502920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21615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Long-term User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581912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Longitudinal studies to measure real-world impact on user behavior and information quality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194560"/>
            <a:ext cx="502920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37744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26771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Token-Level Span Attribution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633472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Highlight specific phrases/sentences that trigger persuasion technique detection for finer explainability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46120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246120"/>
            <a:ext cx="502920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42900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31927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Video Stream Extension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85032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Extend multimodal pipeline to video news content — temporal feature extraction and manipulation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297679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4297679"/>
            <a:ext cx="502920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480559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370831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Federated Learning for Privacy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736591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Train susceptibility profiles locally on user devices — preserve privacy while maintaining personalization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349240"/>
            <a:ext cx="106984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5349240"/>
            <a:ext cx="502920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5532120"/>
            <a:ext cx="502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22392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400"/>
              </a:spcAft>
            </a:pPr>
            <a:r>
              <a:rPr sz="1800" b="1">
                <a:solidFill>
                  <a:srgbClr val="1B2A4A"/>
                </a:solidFill>
                <a:latin typeface="Calibri"/>
              </a:rPr>
              <a:t>Cross-Lingual Expansion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788152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4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Scale to 50+ languages using multilingual transformers — global responsible news 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24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 Light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27432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[1]  Wu et al., "NRMS: Neural News Recommendation with Multi-Head Self-Attention," EMNLP 2019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[2]  Wu et al., "NAML: Neural News Recommendation with Attentive Multi-View Learning," IJCAI 2019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[3]  An et al., "LSTUR: Neural News Recommendation with Long- and Short-term User Representations," ACL 2019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[4]  Yang et al., "GLORY: Global Graph-Enhanced Personalized News Recommendation," WWW 2023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[5]  Wu et al., "MIND: A Large-scale Dataset for News Recommendation," ACL 2020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[6]  Khandelwal et al., "MuRIL: Multilingual Representations for Indian Languages," Google Research 2021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[7]  Tan &amp; Le, "EfficientNet: Rethinking Model Scaling for CNNs," ICML 2019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[8]  Chollet, "Xception: Deep Learning with Depthwise Separable Convolutions," CVPR 2017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[9]  Piskorski et al., "SemEval-2023 Task 3: Detecting Persuasion Techniques in News," SemEval 2023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[10] Hamilton et al., "Inductive Representation Learning on Large Graphs (GraphSAGE)," NeurIPS 2017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[11] Arevalo et al., "Gated Multimodal Units for Information Fusion," ICLR Workshop 2017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[12] Wu et al., "ProFairRec: Provider Fairness-aware News Recommendation," SIGIR 2022</a:t>
            </a:r>
          </a:p>
          <a:p>
            <a:pPr>
              <a:lnSpc>
                <a:spcPts val="1800"/>
              </a:lnSpc>
              <a:spcAft>
                <a:spcPts val="300"/>
              </a:spcAft>
            </a:pPr>
            <a:r>
              <a:rPr sz="1300">
                <a:solidFill>
                  <a:srgbClr val="555555"/>
                </a:solidFill>
                <a:latin typeface="Calibri"/>
              </a:rPr>
              <a:t>[13] United Nations, "Sustainable Development Goal 16: Peace, Justice and Strong Institutions," UN 2030 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25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389120"/>
            <a:ext cx="12191695" cy="36576"/>
          </a:xfrm>
          <a:prstGeom prst="rect">
            <a:avLst/>
          </a:prstGeom>
          <a:solidFill>
            <a:srgbClr val="E8A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libri Light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32720" cy="36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400"/>
              </a:spcAft>
            </a:pPr>
            <a:r>
              <a:rPr sz="1800" b="0" dirty="0">
                <a:solidFill>
                  <a:srgbClr val="FFFFFF"/>
                </a:solidFill>
                <a:latin typeface="Calibri"/>
              </a:rPr>
              <a:t>Gladwin Daniel P  (</a:t>
            </a:r>
            <a:r>
              <a:rPr lang="en-IN" sz="1800" b="0" dirty="0">
                <a:solidFill>
                  <a:srgbClr val="FFFFFF"/>
                </a:solidFill>
                <a:latin typeface="Calibri"/>
              </a:rPr>
              <a:t>23MIA1058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)  •  Karthikeyan A  (23</a:t>
            </a:r>
            <a:r>
              <a:rPr lang="en-IN" sz="1800" b="0" dirty="0">
                <a:solidFill>
                  <a:srgbClr val="FFFFFF"/>
                </a:solidFill>
                <a:latin typeface="Calibri"/>
              </a:rPr>
              <a:t>MIA1123</a:t>
            </a:r>
            <a:r>
              <a:rPr sz="1800" b="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20"/>
              </a:lnSpc>
              <a:spcAft>
                <a:spcPts val="40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2602</Words>
  <Application>Microsoft Office PowerPoint</Application>
  <PresentationFormat>Widescreen</PresentationFormat>
  <Paragraphs>494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Glad Danny</cp:lastModifiedBy>
  <cp:revision>3</cp:revision>
  <dcterms:created xsi:type="dcterms:W3CDTF">2013-01-27T09:14:16Z</dcterms:created>
  <dcterms:modified xsi:type="dcterms:W3CDTF">2026-10-29T16:55:49Z</dcterms:modified>
  <cp:category/>
</cp:coreProperties>
</file>
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Mono Medium"/>
      <p:regular r:id="rId26"/>
      <p:bold r:id="rId27"/>
      <p:italic r:id="rId28"/>
      <p:boldItalic r:id="rId29"/>
    </p:embeddedFont>
    <p:embeddedFont>
      <p:font typeface="Roboto Mono SemiBold"/>
      <p:regular r:id="rId30"/>
      <p:bold r:id="rId31"/>
      <p:italic r:id="rId32"/>
      <p:boldItalic r:id="rId33"/>
    </p:embeddedFont>
    <p:embeddedFont>
      <p:font typeface="Inter SemiBold"/>
      <p:regular r:id="rId34"/>
      <p:bold r:id="rId35"/>
      <p:italic r:id="rId36"/>
      <p:boldItalic r:id="rId37"/>
    </p:embeddedFont>
    <p:embeddedFont>
      <p:font typeface="Inter"/>
      <p:bold r:id="rId38"/>
      <p:boldItalic r:id="rId39"/>
    </p:embeddedFont>
    <p:embeddedFont>
      <p:font typeface="Roboto Mono"/>
      <p:bold r:id="rId40"/>
      <p:boldItalic r:id="rId41"/>
    </p:embeddedFont>
    <p:embeddedFont>
      <p:font typeface="Inter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InterMedium-regular.fnt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44" Type="http://schemas.openxmlformats.org/officeDocument/2006/relationships/font" Target="fonts/InterMedium-italic.fntdata"/><Relationship Id="rId21" Type="http://schemas.openxmlformats.org/officeDocument/2006/relationships/slide" Target="slides/slide16.xml"/><Relationship Id="rId43" Type="http://schemas.openxmlformats.org/officeDocument/2006/relationships/font" Target="fonts/InterMedium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Medium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Medium-italic.fntdata"/><Relationship Id="rId27" Type="http://schemas.openxmlformats.org/officeDocument/2006/relationships/font" Target="fonts/RobotoMon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SemiBold-bold.fntdata"/><Relationship Id="rId30" Type="http://schemas.openxmlformats.org/officeDocument/2006/relationships/font" Target="fonts/RobotoMono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SemiBold-italic.fntdata"/><Relationship Id="rId13" Type="http://schemas.openxmlformats.org/officeDocument/2006/relationships/slide" Target="slides/slide8.xml"/><Relationship Id="rId35" Type="http://schemas.openxmlformats.org/officeDocument/2006/relationships/font" Target="fonts/InterSemiBold-bold.fntdata"/><Relationship Id="rId12" Type="http://schemas.openxmlformats.org/officeDocument/2006/relationships/slide" Target="slides/slide7.xml"/><Relationship Id="rId34" Type="http://schemas.openxmlformats.org/officeDocument/2006/relationships/font" Target="fonts/Inter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Inter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8dc922fbf733757_3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78dc922fbf733757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78dc922fbf733757_3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78dc922fbf733757_3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78dc922fbf733757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78dc922fbf733757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78dc922fbf733757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78dc922fbf733757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78dc922fbf733757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78dc922fbf733757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78dc922fbf733757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78dc922fbf733757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78dc922fbf733757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78dc922fbf733757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78dc922fbf733757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78dc922fbf733757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78dc922fbf733757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78dc922fbf733757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78dc922fbf733757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78dc922fbf733757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78dc922fbf733757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78dc922fbf733757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78dc922fbf733757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78dc922fbf733757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78dc922fbf733757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78dc922fbf733757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78dc922fbf733757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78dc922fbf733757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78dc922fbf733757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78dc922fbf733757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78dc922fbf733757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h78dc922fbf733757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78dc922fbf733757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78dc922fbf733757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78dc922fbf733757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h78dc922fbf733757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78dc922fbf733757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h78dc922fbf733757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78dc922fbf733757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h78dc922fbf733757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8dc922fbf733757_14_0)">
  <p:cSld name="Generated (h78dc922fbf733757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457200" y="1714500"/>
            <a:ext cx="8229600" cy="2667000"/>
            <a:chOff x="457200" y="1714500"/>
            <a:chExt cx="8229600" cy="2667000"/>
          </a:xfrm>
        </p:grpSpPr>
        <p:sp>
          <p:nvSpPr>
            <p:cNvPr id="57" name="Google Shape;57;p14"/>
            <p:cNvSpPr/>
            <p:nvPr/>
          </p:nvSpPr>
          <p:spPr>
            <a:xfrm>
              <a:off x="457200" y="1714500"/>
              <a:ext cx="5715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457200" y="1905000"/>
              <a:ext cx="82296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96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RespNews: Persuasion-Aware Knowledge-Graph-Augmented News Recommendation</a:t>
              </a:r>
              <a:endParaRPr b="1" i="0" sz="296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" sz="18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Responsible News Delivery via Multimodal Architecture</a:t>
              </a:r>
              <a:endParaRPr b="1" i="0" sz="18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i="0" lang="en" sz="14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Gladwin Daniel P (23MIA1058)  •  Karthikeyan A (23MIA1123)</a:t>
              </a:r>
              <a:endParaRPr b="0" i="0" sz="14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4" name="Google Shape;64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5" name="Google Shape;6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5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15"/>
          <p:cNvSpPr txBox="1"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Addressing CTR Bias in Modern Recommender Systems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8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Modern news recommenders primarily optimize for Click-Through Rate (CTR), inadvertently amplifying sensational and manipulative content.</a:t>
            </a:r>
            <a:endParaRPr b="0" sz="14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Users face increasing exposure to persuasion techniques like loaded language, fear appeals, and emotional manipulation.</a:t>
            </a:r>
            <a:endParaRPr b="0" sz="14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Aligns with UN SDG 16 (Peace, Justice and Strong Institutions): Targets 16.10 (public access to information) and 16.6 (transparent, accountable institutions).</a:t>
            </a:r>
            <a:endParaRPr b="0" sz="14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350"/>
              </a:spcBef>
              <a:spcAft>
                <a:spcPts val="1350"/>
              </a:spcAft>
              <a:buSzPts val="1400"/>
              <a:buChar char="●"/>
            </a:pPr>
            <a:r>
              <a:rPr b="0" lang="en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RespNews promotes responsible consumption without sacrificing relevance.</a:t>
            </a:r>
            <a:endParaRPr b="0" sz="14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73" name="Google Shape;7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6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6"/>
          <p:cNvSpPr txBox="1"/>
          <p:nvPr/>
        </p:nvSpPr>
        <p:spPr>
          <a:xfrm>
            <a:off x="457200" y="3810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Research Questions &amp; Core Objectives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6" name="Google Shape;76;p16"/>
          <p:cNvGrpSpPr/>
          <p:nvPr/>
        </p:nvGrpSpPr>
        <p:grpSpPr>
          <a:xfrm>
            <a:off x="457200" y="990600"/>
            <a:ext cx="8229600" cy="1143000"/>
            <a:chOff x="457200" y="990600"/>
            <a:chExt cx="8229600" cy="1143000"/>
          </a:xfrm>
        </p:grpSpPr>
        <p:sp>
          <p:nvSpPr>
            <p:cNvPr id="77" name="Google Shape;77;p16"/>
            <p:cNvSpPr/>
            <p:nvPr/>
          </p:nvSpPr>
          <p:spPr>
            <a:xfrm>
              <a:off x="457200" y="990600"/>
              <a:ext cx="8229600" cy="11430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457200" y="990600"/>
              <a:ext cx="57300" cy="11430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 txBox="1"/>
            <p:nvPr/>
          </p:nvSpPr>
          <p:spPr>
            <a:xfrm>
              <a:off x="685800" y="1143000"/>
              <a:ext cx="77724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C810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Research Question</a:t>
              </a:r>
              <a:endParaRPr b="0" sz="1600">
                <a:solidFill>
                  <a:srgbClr val="C8102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How can a news recommender simultaneously engage users and curtail exposure to manipulative content?</a:t>
              </a:r>
              <a:endParaRPr b="0" sz="15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80" name="Google Shape;80;p16"/>
          <p:cNvSpPr txBox="1"/>
          <p:nvPr/>
        </p:nvSpPr>
        <p:spPr>
          <a:xfrm>
            <a:off x="457200" y="2362200"/>
            <a:ext cx="82296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629B"/>
                </a:solidFill>
                <a:latin typeface="Inter"/>
                <a:ea typeface="Inter"/>
                <a:cs typeface="Inter"/>
                <a:sym typeface="Inter"/>
              </a:rPr>
              <a:t>Core Objectives</a:t>
            </a:r>
            <a:endParaRPr b="1" sz="1800">
              <a:solidFill>
                <a:srgbClr val="00629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 1: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Detect persuasive content using multi-label classification of 23 SemEval techniques.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 2: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Build user susceptibility profiles via Exponential Moving Average (EMA) tracking of interaction patterns.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Char char="●"/>
            </a:pP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 3: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Employ explainable, fair ranking with responsible re-ranking objectives.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86" name="Google Shape;86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7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7"/>
          <p:cNvSpPr txBox="1"/>
          <p:nvPr/>
        </p:nvSpPr>
        <p:spPr>
          <a:xfrm>
            <a:off x="457200" y="3048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Literature Survey &amp; Identified Research Gaps</a:t>
            </a:r>
            <a:endParaRPr b="1" sz="2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9" name="Google Shape;89;p17"/>
          <p:cNvGrpSpPr/>
          <p:nvPr/>
        </p:nvGrpSpPr>
        <p:grpSpPr>
          <a:xfrm>
            <a:off x="457200" y="809625"/>
            <a:ext cx="8229600" cy="647700"/>
            <a:chOff x="0" y="0"/>
            <a:chExt cx="8229600" cy="647700"/>
          </a:xfrm>
        </p:grpSpPr>
        <p:sp>
          <p:nvSpPr>
            <p:cNvPr id="90" name="Google Shape;90;p17"/>
            <p:cNvSpPr/>
            <p:nvPr/>
          </p:nvSpPr>
          <p:spPr>
            <a:xfrm>
              <a:off x="0" y="0"/>
              <a:ext cx="8229600" cy="6477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0" y="0"/>
              <a:ext cx="38100" cy="6477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190500" y="95250"/>
              <a:ext cx="784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EXISTING LIMITATIONS</a:t>
              </a:r>
              <a:endParaRPr b="0" sz="1018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NRMS, NAML, and LSTUR</a:t>
              </a:r>
              <a:r>
                <a:rPr b="0" lang="en" sz="111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lack persuasion awareness and fairness constraints. </a:t>
              </a:r>
              <a:r>
                <a:rPr b="0" lang="en" sz="111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GLORY</a:t>
              </a:r>
              <a:r>
                <a:rPr b="0" lang="en" sz="111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lacks content responsibility.</a:t>
              </a:r>
              <a:endParaRPr b="0" sz="111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>
            <a:off x="457200" y="1666875"/>
            <a:ext cx="2552700" cy="3048000"/>
            <a:chOff x="0" y="0"/>
            <a:chExt cx="2552700" cy="3048000"/>
          </a:xfrm>
        </p:grpSpPr>
        <p:sp>
          <p:nvSpPr>
            <p:cNvPr id="94" name="Google Shape;94;p17"/>
            <p:cNvSpPr/>
            <p:nvPr/>
          </p:nvSpPr>
          <p:spPr>
            <a:xfrm>
              <a:off x="0" y="0"/>
              <a:ext cx="25527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0" y="0"/>
              <a:ext cx="25527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 txBox="1"/>
            <p:nvPr/>
          </p:nvSpPr>
          <p:spPr>
            <a:xfrm>
              <a:off x="152400" y="190500"/>
              <a:ext cx="2247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GAP 1</a:t>
              </a:r>
              <a:endParaRPr b="0" sz="11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Persuasion-Aware Personalization</a:t>
              </a:r>
              <a:endParaRPr b="0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Systems treat all content equally regardless of manipulative rhetorical strategies.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" name="Google Shape;97;p17"/>
          <p:cNvGrpSpPr/>
          <p:nvPr/>
        </p:nvGrpSpPr>
        <p:grpSpPr>
          <a:xfrm>
            <a:off x="3295650" y="1666875"/>
            <a:ext cx="2552700" cy="3048000"/>
            <a:chOff x="0" y="0"/>
            <a:chExt cx="2552700" cy="3048000"/>
          </a:xfrm>
        </p:grpSpPr>
        <p:sp>
          <p:nvSpPr>
            <p:cNvPr id="98" name="Google Shape;98;p17"/>
            <p:cNvSpPr/>
            <p:nvPr/>
          </p:nvSpPr>
          <p:spPr>
            <a:xfrm>
              <a:off x="0" y="0"/>
              <a:ext cx="25527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0" y="0"/>
              <a:ext cx="25527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152400" y="190500"/>
              <a:ext cx="2247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GAP 2</a:t>
              </a:r>
              <a:endParaRPr b="0" sz="11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Responsible Ranking Objectives</a:t>
              </a:r>
              <a:endParaRPr b="0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Current systems optimize purely for CTR without balancing relevance with persuasion risk suppression.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7"/>
          <p:cNvGrpSpPr/>
          <p:nvPr/>
        </p:nvGrpSpPr>
        <p:grpSpPr>
          <a:xfrm>
            <a:off x="6134100" y="1666875"/>
            <a:ext cx="2552700" cy="3048000"/>
            <a:chOff x="0" y="0"/>
            <a:chExt cx="2552700" cy="3048000"/>
          </a:xfrm>
        </p:grpSpPr>
        <p:sp>
          <p:nvSpPr>
            <p:cNvPr id="102" name="Google Shape;102;p17"/>
            <p:cNvSpPr/>
            <p:nvPr/>
          </p:nvSpPr>
          <p:spPr>
            <a:xfrm>
              <a:off x="0" y="0"/>
              <a:ext cx="25527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0" y="0"/>
              <a:ext cx="25527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 txBox="1"/>
            <p:nvPr/>
          </p:nvSpPr>
          <p:spPr>
            <a:xfrm>
              <a:off x="152400" y="190500"/>
              <a:ext cx="2247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GAP 3</a:t>
              </a:r>
              <a:endParaRPr b="0" sz="11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Content-Level Explainability</a:t>
              </a:r>
              <a:endParaRPr b="0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Limited transparency in why articles are recommended and zero fairness guarantees at the provider level.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0" name="Google Shape;110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8"/>
          <p:cNvSpPr txBox="1"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Proposed Methodology Overview: Joint Multimodal Pipeline</a:t>
            </a:r>
            <a:endParaRPr b="1" sz="2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" name="Google Shape;113;p18"/>
          <p:cNvGrpSpPr/>
          <p:nvPr/>
        </p:nvGrpSpPr>
        <p:grpSpPr>
          <a:xfrm>
            <a:off x="457200" y="666750"/>
            <a:ext cx="8229600" cy="4191000"/>
            <a:chOff x="457200" y="666750"/>
            <a:chExt cx="8229600" cy="4191000"/>
          </a:xfrm>
        </p:grpSpPr>
        <p:sp>
          <p:nvSpPr>
            <p:cNvPr id="114" name="Google Shape;114;p18"/>
            <p:cNvSpPr txBox="1"/>
            <p:nvPr/>
          </p:nvSpPr>
          <p:spPr>
            <a:xfrm>
              <a:off x="457200" y="666750"/>
              <a:ext cx="3429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Multimodal Inputs: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Integrates news text, images, and user history.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Text / Vision Encoders: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Utilizes RoBERTa, MuRIL, EfficientNet, and Xception.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GMU Fusion: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Employs a Gated Multimodal Unit for feature synthesis.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KG + GraphSAGE: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Leverages a heterogeneous graph and 2-layer GNN.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1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Persuasion Detector: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23-class multi-label classification and susceptibility tracking.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SzPts val="1400"/>
                <a:buChar char="●"/>
              </a:pPr>
              <a:r>
                <a:rPr b="0" lang="en" sz="11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Responsible Re-Ranking: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Final Score = αR − βP + γE.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15" name="Google Shape;11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38600" y="762000"/>
              <a:ext cx="4648200" cy="2614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1" name="Google Shape;121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2" name="Google Shape;12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9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9"/>
          <p:cNvGrpSpPr/>
          <p:nvPr/>
        </p:nvGrpSpPr>
        <p:grpSpPr>
          <a:xfrm>
            <a:off x="457200" y="381000"/>
            <a:ext cx="8229750" cy="4305300"/>
            <a:chOff x="457200" y="381000"/>
            <a:chExt cx="8229750" cy="4305300"/>
          </a:xfrm>
        </p:grpSpPr>
        <p:sp>
          <p:nvSpPr>
            <p:cNvPr id="125" name="Google Shape;125;p19"/>
            <p:cNvSpPr txBox="1"/>
            <p:nvPr/>
          </p:nvSpPr>
          <p:spPr>
            <a:xfrm>
              <a:off x="457200" y="38100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Multimodal Text &amp; Vision Encoders</a:t>
              </a:r>
              <a:endParaRPr b="1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457200" y="1066800"/>
              <a:ext cx="3981600" cy="3619500"/>
            </a:xfrm>
            <a:prstGeom prst="roundRect">
              <a:avLst>
                <a:gd fmla="val 105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457200" y="1066800"/>
              <a:ext cx="39816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 txBox="1"/>
            <p:nvPr/>
          </p:nvSpPr>
          <p:spPr>
            <a:xfrm>
              <a:off x="647700" y="1257300"/>
              <a:ext cx="36006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Text Encoders</a:t>
              </a:r>
              <a:endParaRPr b="0" sz="18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RoBERTa-base:</a:t>
              </a: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125M parameters, 768-d embeddings, fine-tuned on SemEval-2023 Task 3.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SzPts val="1400"/>
                <a:buChar char="●"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MuRIL:</a:t>
              </a: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BERT-based multilingual encoder supporting 17 Indian languages. Outperforms RoBERTa (AUC 0.6794 vs 0.6755).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4705350" y="1066800"/>
              <a:ext cx="3981600" cy="3619500"/>
            </a:xfrm>
            <a:prstGeom prst="roundRect">
              <a:avLst>
                <a:gd fmla="val 105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4705350" y="1066800"/>
              <a:ext cx="39816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 txBox="1"/>
            <p:nvPr/>
          </p:nvSpPr>
          <p:spPr>
            <a:xfrm>
              <a:off x="4895850" y="1257300"/>
              <a:ext cx="36006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Vision Backbones</a:t>
              </a:r>
              <a:endParaRPr b="0" sz="18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EfficientNet-B0:</a:t>
              </a: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5.3M parameters for thumbnail feature extraction and clickbait detection (+0.6% AUC improvement).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SzPts val="1400"/>
                <a:buChar char="●"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Xception:</a:t>
              </a: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22.8M parameters with depthwise separable convolutions for image forensics and synthetic detection.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37" name="Google Shape;13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20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20"/>
          <p:cNvSpPr txBox="1"/>
          <p:nvPr/>
        </p:nvSpPr>
        <p:spPr>
          <a:xfrm>
            <a:off x="457200" y="3048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Multimodal Fusion via Gated Multimodal Unit (GMU)</a:t>
            </a:r>
            <a:endParaRPr b="1" sz="2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0" name="Google Shape;140;p20"/>
          <p:cNvGrpSpPr/>
          <p:nvPr/>
        </p:nvGrpSpPr>
        <p:grpSpPr>
          <a:xfrm>
            <a:off x="457200" y="838200"/>
            <a:ext cx="8229600" cy="1752600"/>
            <a:chOff x="457200" y="838200"/>
            <a:chExt cx="8229600" cy="1752600"/>
          </a:xfrm>
        </p:grpSpPr>
        <p:sp>
          <p:nvSpPr>
            <p:cNvPr id="141" name="Google Shape;141;p20"/>
            <p:cNvSpPr/>
            <p:nvPr/>
          </p:nvSpPr>
          <p:spPr>
            <a:xfrm>
              <a:off x="457200" y="838200"/>
              <a:ext cx="8229600" cy="1752600"/>
            </a:xfrm>
            <a:prstGeom prst="roundRect">
              <a:avLst>
                <a:gd fmla="val 1086" name="adj"/>
              </a:avLst>
            </a:prstGeom>
            <a:solidFill>
              <a:srgbClr val="F0F7FA"/>
            </a:solidFill>
            <a:ln cap="flat" cmpd="sng" w="14300">
              <a:solidFill>
                <a:srgbClr val="006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457200" y="838200"/>
              <a:ext cx="57300" cy="17526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 txBox="1"/>
            <p:nvPr/>
          </p:nvSpPr>
          <p:spPr>
            <a:xfrm>
              <a:off x="685800" y="971550"/>
              <a:ext cx="3810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300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Text Transform: </a:t>
              </a:r>
              <a:r>
                <a:rPr b="1" lang="en" sz="1300">
                  <a:solidFill>
                    <a:srgbClr val="1118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h̃_T = tanh( W_T h_T )</a:t>
              </a:r>
              <a:endParaRPr b="0" sz="13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4648200" y="971550"/>
              <a:ext cx="3810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203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Visual Transform: </a:t>
              </a:r>
              <a:r>
                <a:rPr b="1" lang="en" sz="1203">
                  <a:solidFill>
                    <a:srgbClr val="1118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h̃_V = tanh( W_V h_V )</a:t>
              </a:r>
              <a:endParaRPr b="0" sz="1203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pic>
          <p:nvPicPr>
            <p:cNvPr id="145" name="Google Shape;14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1366838"/>
              <a:ext cx="77343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0"/>
            <p:cNvSpPr txBox="1"/>
            <p:nvPr/>
          </p:nvSpPr>
          <p:spPr>
            <a:xfrm>
              <a:off x="685800" y="1466850"/>
              <a:ext cx="77724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300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Gating Vector: </a:t>
              </a:r>
              <a:r>
                <a:rPr b="1" lang="en" sz="1300">
                  <a:solidFill>
                    <a:srgbClr val="1118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z = ( W_z [ h_T ; h_V ] )</a:t>
              </a:r>
              <a:endParaRPr b="0" sz="13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685800" y="1866900"/>
              <a:ext cx="7772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400">
                  <a:solidFill>
                    <a:srgbClr val="C8102E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Fused Embedding: </a:t>
              </a:r>
              <a:r>
                <a:rPr b="1" lang="en" sz="15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e_multimodal = z h̃_T + (1 z) h̃_V</a:t>
              </a:r>
              <a:endParaRPr b="0" sz="14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148" name="Google Shape;148;p20"/>
          <p:cNvGrpSpPr/>
          <p:nvPr/>
        </p:nvGrpSpPr>
        <p:grpSpPr>
          <a:xfrm>
            <a:off x="457200" y="2781300"/>
            <a:ext cx="8229600" cy="1828800"/>
            <a:chOff x="457200" y="2781300"/>
            <a:chExt cx="8229600" cy="1828800"/>
          </a:xfrm>
        </p:grpSpPr>
        <p:sp>
          <p:nvSpPr>
            <p:cNvPr id="149" name="Google Shape;149;p20"/>
            <p:cNvSpPr/>
            <p:nvPr/>
          </p:nvSpPr>
          <p:spPr>
            <a:xfrm>
              <a:off x="457200" y="2781300"/>
              <a:ext cx="8229600" cy="8382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457200" y="2781300"/>
              <a:ext cx="38100" cy="8382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 txBox="1"/>
            <p:nvPr/>
          </p:nvSpPr>
          <p:spPr>
            <a:xfrm>
              <a:off x="647700" y="2895600"/>
              <a:ext cx="7848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FUNCTIONALITY</a:t>
              </a:r>
              <a:endParaRPr b="0" sz="1203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Dynamically weights text versus visual signals based on learned gating per article, enabling adaptive modality reliance.</a:t>
              </a:r>
              <a:endParaRPr b="0" sz="1203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457200" y="3771900"/>
              <a:ext cx="8229600" cy="8382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457200" y="3771900"/>
              <a:ext cx="38100" cy="8382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0"/>
            <p:cNvSpPr txBox="1"/>
            <p:nvPr/>
          </p:nvSpPr>
          <p:spPr>
            <a:xfrm>
              <a:off x="647700" y="3886200"/>
              <a:ext cx="7848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C810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MODEL IMPACT</a:t>
              </a:r>
              <a:endParaRPr b="0" sz="1203">
                <a:solidFill>
                  <a:srgbClr val="C8102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The gate learns how much to rely on textual vs. visual cues for accurate persuasion detection across heterogeneous news sources.</a:t>
              </a:r>
              <a:endParaRPr b="0" sz="1203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60" name="Google Shape;160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" name="Google Shape;161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21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21"/>
          <p:cNvSpPr txBox="1"/>
          <p:nvPr/>
        </p:nvSpPr>
        <p:spPr>
          <a:xfrm>
            <a:off x="457200" y="3429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Knowledge Graph &amp; GraphSAGE Embeddings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47750"/>
            <a:ext cx="3333900" cy="33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4114800" y="1000125"/>
            <a:ext cx="45720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Graph Topology</a:t>
            </a:r>
            <a:endParaRPr b="0" sz="15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Heterogeneous Nodes:</a:t>
            </a: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4 types (Users, Articles, Topics, Named Entities)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45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Edge Types:</a:t>
            </a: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" sz="11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clicked</a:t>
            </a: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lang="en" sz="11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belongs_to</a:t>
            </a: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0" lang="en" sz="11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mentions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&amp; Sampling</a:t>
            </a:r>
            <a:endParaRPr b="0" sz="15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2-layer GraphSAGE with </a:t>
            </a:r>
            <a:r>
              <a:rPr b="0"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HeteroConv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45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Neighborhood sampling for scalable training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Embeddings &amp; Scoring</a:t>
            </a:r>
            <a:endParaRPr b="0" sz="15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Generates </a:t>
            </a:r>
            <a:r>
              <a:rPr b="0"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128-dimensional</a:t>
            </a: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user and article embeddings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highlight>
                  <a:srgbClr val="F0F7FA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Relevance Calculation</a:t>
            </a:r>
            <a:endParaRPr b="0" sz="1000">
              <a:solidFill>
                <a:srgbClr val="4B5563"/>
              </a:solidFill>
              <a:highlight>
                <a:srgbClr val="F0F7FA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11827"/>
                </a:solidFill>
                <a:highlight>
                  <a:srgbClr val="F0F7FA"/>
                </a:highlight>
                <a:latin typeface="Roboto Mono"/>
                <a:ea typeface="Roboto Mono"/>
                <a:cs typeface="Roboto Mono"/>
                <a:sym typeface="Roboto Mono"/>
              </a:rPr>
              <a:t>R(u, n) = σ( zuT · zn )</a:t>
            </a:r>
            <a:endParaRPr b="1" sz="1300">
              <a:solidFill>
                <a:srgbClr val="111827"/>
              </a:solidFill>
              <a:highlight>
                <a:srgbClr val="F0F7FA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71" name="Google Shape;17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2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22"/>
          <p:cNvSpPr txBox="1"/>
          <p:nvPr/>
        </p:nvSpPr>
        <p:spPr>
          <a:xfrm>
            <a:off x="457200" y="3810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Persuasion Detection &amp; User Susceptibility Profiling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457200" y="1095375"/>
            <a:ext cx="3924300" cy="357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457200" y="1095375"/>
            <a:ext cx="3924300" cy="38100"/>
          </a:xfrm>
          <a:prstGeom prst="rect">
            <a:avLst/>
          </a:prstGeom>
          <a:solidFill>
            <a:srgbClr val="0062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647700" y="1285875"/>
            <a:ext cx="35433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Persuasion Detection</a:t>
            </a:r>
            <a:endParaRPr b="0" sz="18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23 SemEval-2023 Techniques: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Detects Loaded Language, Fear Appeals, False Dilemma, Name Calling, and more via multi-label classification.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750"/>
              </a:spcAft>
              <a:buSzPts val="1400"/>
              <a:buChar char="●"/>
            </a:pPr>
            <a:r>
              <a:rPr b="0" lang="en" sz="14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Danger Weighting: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Assigns specific risk scores per technique (e.g., fear &gt; slogans).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4762500" y="1095375"/>
            <a:ext cx="3924300" cy="357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4762500" y="1095375"/>
            <a:ext cx="3924300" cy="38100"/>
          </a:xfrm>
          <a:prstGeom prst="rect">
            <a:avLst/>
          </a:prstGeom>
          <a:solidFill>
            <a:srgbClr val="0085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4953000" y="1285875"/>
            <a:ext cx="35433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854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Susceptibility Profiling</a:t>
            </a:r>
            <a:endParaRPr b="0" sz="1800">
              <a:solidFill>
                <a:srgbClr val="00854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854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EMA Susceptibility: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Tracks historical exposure using: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b="0" lang="en" sz="1100">
                <a:solidFill>
                  <a:srgbClr val="111827"/>
                </a:solidFill>
                <a:highlight>
                  <a:srgbClr val="F8F9FA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s_u^(t) = (1−λ) s_u^(t−1) + λ · p_n</a:t>
            </a:r>
            <a:endParaRPr b="0" sz="1100">
              <a:solidFill>
                <a:srgbClr val="111827"/>
              </a:solidFill>
              <a:highlight>
                <a:srgbClr val="F8F9FA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750"/>
              </a:spcAft>
              <a:buSzPts val="1400"/>
              <a:buChar char="●"/>
            </a:pPr>
            <a:r>
              <a:rPr b="0" lang="en" sz="1400">
                <a:solidFill>
                  <a:srgbClr val="00854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Personalized Risk: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Calculated as the similarity between the user's susceptibility profile and the article's danger score.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85" name="Google Shape;18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3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23"/>
          <p:cNvSpPr txBox="1"/>
          <p:nvPr/>
        </p:nvSpPr>
        <p:spPr>
          <a:xfrm>
            <a:off x="457200" y="3810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Responsible Re-Ranking Formulation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8" name="Google Shape;188;p23"/>
          <p:cNvGrpSpPr/>
          <p:nvPr/>
        </p:nvGrpSpPr>
        <p:grpSpPr>
          <a:xfrm>
            <a:off x="457200" y="952500"/>
            <a:ext cx="8229600" cy="762000"/>
            <a:chOff x="457200" y="952500"/>
            <a:chExt cx="8229600" cy="762000"/>
          </a:xfrm>
        </p:grpSpPr>
        <p:sp>
          <p:nvSpPr>
            <p:cNvPr id="189" name="Google Shape;189;p23"/>
            <p:cNvSpPr/>
            <p:nvPr/>
          </p:nvSpPr>
          <p:spPr>
            <a:xfrm>
              <a:off x="457200" y="952500"/>
              <a:ext cx="8229600" cy="762000"/>
            </a:xfrm>
            <a:prstGeom prst="roundRect">
              <a:avLst>
                <a:gd fmla="val 2500" name="adj"/>
              </a:avLst>
            </a:prstGeom>
            <a:solidFill>
              <a:srgbClr val="F0F7FA"/>
            </a:solidFill>
            <a:ln cap="flat" cmpd="sng" w="14300">
              <a:solidFill>
                <a:srgbClr val="0062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647700" y="104775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800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Score(u, n) = </a:t>
              </a:r>
              <a:r>
                <a:rPr b="1" lang="en" sz="18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α · R(u,n)</a:t>
              </a:r>
              <a:r>
                <a:rPr b="0" lang="en" sz="1800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− </a:t>
              </a:r>
              <a:r>
                <a:rPr b="1" lang="en" sz="1800">
                  <a:solidFill>
                    <a:srgbClr val="C810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β · P(u,n)</a:t>
              </a:r>
              <a:r>
                <a:rPr b="0" lang="en" sz="1800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+ </a:t>
              </a:r>
              <a:r>
                <a:rPr b="1" lang="en" sz="1800">
                  <a:solidFill>
                    <a:srgbClr val="00854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γ · E(n)</a:t>
              </a:r>
              <a:endParaRPr b="0" sz="1800"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191" name="Google Shape;191;p23"/>
          <p:cNvGrpSpPr/>
          <p:nvPr/>
        </p:nvGrpSpPr>
        <p:grpSpPr>
          <a:xfrm>
            <a:off x="457200" y="1905000"/>
            <a:ext cx="2590800" cy="1428900"/>
            <a:chOff x="0" y="0"/>
            <a:chExt cx="2590800" cy="1428900"/>
          </a:xfrm>
        </p:grpSpPr>
        <p:sp>
          <p:nvSpPr>
            <p:cNvPr id="192" name="Google Shape;192;p23"/>
            <p:cNvSpPr/>
            <p:nvPr/>
          </p:nvSpPr>
          <p:spPr>
            <a:xfrm>
              <a:off x="0" y="0"/>
              <a:ext cx="2590800" cy="1428900"/>
            </a:xfrm>
            <a:prstGeom prst="roundRect">
              <a:avLst>
                <a:gd fmla="val 1333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0" y="0"/>
              <a:ext cx="25908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 txBox="1"/>
            <p:nvPr/>
          </p:nvSpPr>
          <p:spPr>
            <a:xfrm>
              <a:off x="152400" y="152400"/>
              <a:ext cx="22860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α · R(u,n) </a:t>
              </a:r>
              <a:r>
                <a:rPr b="0" lang="en" sz="1000">
                  <a:solidFill>
                    <a:srgbClr val="4B556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(α = 0.70)</a:t>
              </a:r>
              <a:endParaRPr b="1" sz="13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Relevance Weight</a:t>
              </a:r>
              <a:endParaRPr b="0" sz="12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Graph-based user-article affinity matrix and interaction history scoring.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5" name="Google Shape;195;p23"/>
          <p:cNvGrpSpPr/>
          <p:nvPr/>
        </p:nvGrpSpPr>
        <p:grpSpPr>
          <a:xfrm>
            <a:off x="3276600" y="1905000"/>
            <a:ext cx="2590800" cy="1428900"/>
            <a:chOff x="0" y="0"/>
            <a:chExt cx="2590800" cy="1428900"/>
          </a:xfrm>
        </p:grpSpPr>
        <p:sp>
          <p:nvSpPr>
            <p:cNvPr id="196" name="Google Shape;196;p23"/>
            <p:cNvSpPr/>
            <p:nvPr/>
          </p:nvSpPr>
          <p:spPr>
            <a:xfrm>
              <a:off x="0" y="0"/>
              <a:ext cx="2590800" cy="1428900"/>
            </a:xfrm>
            <a:prstGeom prst="roundRect">
              <a:avLst>
                <a:gd fmla="val 1333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0" y="0"/>
              <a:ext cx="2590800" cy="381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3"/>
            <p:cNvSpPr txBox="1"/>
            <p:nvPr/>
          </p:nvSpPr>
          <p:spPr>
            <a:xfrm>
              <a:off x="152400" y="152400"/>
              <a:ext cx="22860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C810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β · P(u,n) </a:t>
              </a:r>
              <a:r>
                <a:rPr b="0" lang="en" sz="1000">
                  <a:solidFill>
                    <a:srgbClr val="4B556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(β = 0.30)</a:t>
              </a:r>
              <a:endParaRPr b="1" sz="1300">
                <a:solidFill>
                  <a:srgbClr val="C8102E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810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Persuasion Risk</a:t>
              </a:r>
              <a:endParaRPr b="0" sz="1200">
                <a:solidFill>
                  <a:srgbClr val="C8102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Personalized risk score derived from user susceptibility profiling.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9" name="Google Shape;199;p23"/>
          <p:cNvGrpSpPr/>
          <p:nvPr/>
        </p:nvGrpSpPr>
        <p:grpSpPr>
          <a:xfrm>
            <a:off x="6096000" y="1905000"/>
            <a:ext cx="2590800" cy="1428900"/>
            <a:chOff x="0" y="0"/>
            <a:chExt cx="2590800" cy="1428900"/>
          </a:xfrm>
        </p:grpSpPr>
        <p:sp>
          <p:nvSpPr>
            <p:cNvPr id="200" name="Google Shape;200;p23"/>
            <p:cNvSpPr/>
            <p:nvPr/>
          </p:nvSpPr>
          <p:spPr>
            <a:xfrm>
              <a:off x="0" y="0"/>
              <a:ext cx="2590800" cy="1428900"/>
            </a:xfrm>
            <a:prstGeom prst="roundRect">
              <a:avLst>
                <a:gd fmla="val 1333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3"/>
            <p:cNvSpPr/>
            <p:nvPr/>
          </p:nvSpPr>
          <p:spPr>
            <a:xfrm>
              <a:off x="0" y="0"/>
              <a:ext cx="2590800" cy="38100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3"/>
            <p:cNvSpPr txBox="1"/>
            <p:nvPr/>
          </p:nvSpPr>
          <p:spPr>
            <a:xfrm>
              <a:off x="152400" y="152400"/>
              <a:ext cx="22860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854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γ · E(n) </a:t>
              </a:r>
              <a:r>
                <a:rPr b="0" lang="en" sz="1000">
                  <a:solidFill>
                    <a:srgbClr val="4B556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(γ = 0.05)</a:t>
              </a:r>
              <a:endParaRPr b="1" sz="1300">
                <a:solidFill>
                  <a:srgbClr val="00854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854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Explainability</a:t>
              </a:r>
              <a:endParaRPr b="0" sz="1200">
                <a:solidFill>
                  <a:srgbClr val="00854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Bonus metric for transparent, interpretable content features.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23"/>
          <p:cNvGrpSpPr/>
          <p:nvPr/>
        </p:nvGrpSpPr>
        <p:grpSpPr>
          <a:xfrm>
            <a:off x="457200" y="3524250"/>
            <a:ext cx="8229600" cy="1143000"/>
            <a:chOff x="0" y="0"/>
            <a:chExt cx="8229600" cy="1143000"/>
          </a:xfrm>
        </p:grpSpPr>
        <p:sp>
          <p:nvSpPr>
            <p:cNvPr id="204" name="Google Shape;204;p23"/>
            <p:cNvSpPr/>
            <p:nvPr/>
          </p:nvSpPr>
          <p:spPr>
            <a:xfrm>
              <a:off x="0" y="0"/>
              <a:ext cx="8229600" cy="1143000"/>
            </a:xfrm>
            <a:prstGeom prst="roundRect">
              <a:avLst>
                <a:gd fmla="val 1666" name="adj"/>
              </a:avLst>
            </a:prstGeom>
            <a:solidFill>
              <a:srgbClr val="F8F9FA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0" y="0"/>
              <a:ext cx="57300" cy="11430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228600" y="171450"/>
              <a:ext cx="51435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Provider Fairness Constraints</a:t>
              </a:r>
              <a:endParaRPr b="0" sz="14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Enforces diversity capping to eliminate bias and vendor lock-in within top recommendation slots, backed by complete model interpretability.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07" name="Google Shape;207;p23"/>
            <p:cNvGrpSpPr/>
            <p:nvPr/>
          </p:nvGrpSpPr>
          <p:grpSpPr>
            <a:xfrm>
              <a:off x="5524500" y="190500"/>
              <a:ext cx="2476575" cy="762000"/>
              <a:chOff x="0" y="0"/>
              <a:chExt cx="2476575" cy="762000"/>
            </a:xfrm>
          </p:grpSpPr>
          <p:sp>
            <p:nvSpPr>
              <p:cNvPr id="208" name="Google Shape;208;p23"/>
              <p:cNvSpPr/>
              <p:nvPr/>
            </p:nvSpPr>
            <p:spPr>
              <a:xfrm>
                <a:off x="0" y="0"/>
                <a:ext cx="1190700" cy="762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3"/>
              <p:cNvSpPr txBox="1"/>
              <p:nvPr/>
            </p:nvSpPr>
            <p:spPr>
              <a:xfrm>
                <a:off x="95250" y="114300"/>
                <a:ext cx="1000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111827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20%</a:t>
                </a:r>
                <a:endParaRPr b="1" sz="2000">
                  <a:solidFill>
                    <a:srgbClr val="111827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Max / Publisher</a:t>
                </a:r>
                <a:endParaRPr b="0" sz="8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0" name="Google Shape;210;p23"/>
              <p:cNvSpPr/>
              <p:nvPr/>
            </p:nvSpPr>
            <p:spPr>
              <a:xfrm>
                <a:off x="1285875" y="0"/>
                <a:ext cx="1190700" cy="762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3"/>
              <p:cNvSpPr txBox="1"/>
              <p:nvPr/>
            </p:nvSpPr>
            <p:spPr>
              <a:xfrm>
                <a:off x="1381125" y="114300"/>
                <a:ext cx="1000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62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100%</a:t>
                </a:r>
                <a:endParaRPr b="1" sz="20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Explanation Cov.</a:t>
                </a:r>
                <a:endParaRPr b="0" sz="8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7" name="Google Shape;217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24"/>
          <p:cNvSpPr txBox="1"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0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End-to-End System Architecture</a:t>
            </a:r>
            <a:endParaRPr b="1" sz="20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47700"/>
            <a:ext cx="45720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5219700" y="647700"/>
            <a:ext cx="34671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Inputs:</a:t>
            </a:r>
            <a:r>
              <a:rPr b="0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News Content (Title, Body, Images) and User Interaction History.</a:t>
            </a:r>
            <a:endParaRPr b="0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Encoders:</a:t>
            </a:r>
            <a:r>
              <a:rPr b="0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MuRIL/RoBERTa for text (768-d) and EfficientNet/Xception for vision.</a:t>
            </a:r>
            <a:endParaRPr b="0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Profiling:</a:t>
            </a:r>
            <a:r>
              <a:rPr b="0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EMA-based Susceptibility Profiler.</a:t>
            </a:r>
            <a:endParaRPr b="0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Processing:</a:t>
            </a:r>
            <a:r>
              <a:rPr b="0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Heterogeneous KG with GraphSAGE and GMU Fusion for Text + Vision.</a:t>
            </a:r>
            <a:endParaRPr b="0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900"/>
              </a:spcAft>
              <a:buSzPts val="1400"/>
              <a:buChar char="●"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Generation:</a:t>
            </a:r>
            <a:r>
              <a:rPr b="0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23-Class Persuasion Detector feeds into the Responsible Score (αR − βP + γE) to produce an Explainable Top-K Recommendation Feed.</a:t>
            </a:r>
            <a:endParaRPr b="0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457200" y="3429000"/>
            <a:ext cx="4572000" cy="12384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457200" y="3429000"/>
            <a:ext cx="38100" cy="1238400"/>
          </a:xfrm>
          <a:prstGeom prst="rect">
            <a:avLst/>
          </a:prstGeom>
          <a:solidFill>
            <a:srgbClr val="0062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609600" y="3543300"/>
            <a:ext cx="42672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Responsible Ranking Scoring Function</a:t>
            </a:r>
            <a:endParaRPr b="0" sz="11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Sfinal = α · CTR(U,N) + β · Rel(U,N) − γ · f(Spers, PU) + δ · EK − ε · Risk(U,N)</a:t>
            </a:r>
            <a:endParaRPr b="0" sz="1100">
              <a:solidFill>
                <a:srgbClr val="111827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450"/>
              </a:spcBef>
              <a:spcAft>
                <a:spcPts val="90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Jointly optimizes for user interest, alignment, persuasion mitigation, and knowledge relevance.</a:t>
            </a:r>
            <a:endParaRPr b="0" sz="10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62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457200" y="3429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Experimental Benchmark Setup &amp; Datasets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457200" y="1009650"/>
            <a:ext cx="2552700" cy="36576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457200" y="1009650"/>
            <a:ext cx="2552700" cy="38100"/>
          </a:xfrm>
          <a:prstGeom prst="rect">
            <a:avLst/>
          </a:prstGeom>
          <a:solidFill>
            <a:srgbClr val="0062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609600" y="1162050"/>
            <a:ext cx="22479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MIND Dataset</a:t>
            </a:r>
            <a:endParaRPr b="0" sz="18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00629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Core Recommendation</a:t>
            </a:r>
            <a:endParaRPr b="0" sz="900">
              <a:solidFill>
                <a:srgbClr val="00629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rPr>
              <a:t>160K</a:t>
            </a:r>
            <a:endParaRPr b="1" sz="2200">
              <a:solidFill>
                <a:srgbClr val="00629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Articles</a:t>
            </a:r>
            <a:endParaRPr b="0" sz="10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rPr>
              <a:t>1M</a:t>
            </a:r>
            <a:endParaRPr b="1" sz="2200">
              <a:solidFill>
                <a:srgbClr val="00629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Users</a:t>
            </a:r>
            <a:endParaRPr b="0" sz="10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rPr>
              <a:t>24M</a:t>
            </a:r>
            <a:endParaRPr b="1" sz="2200">
              <a:solidFill>
                <a:srgbClr val="00629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Impressions</a:t>
            </a:r>
            <a:endParaRPr b="0" sz="10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Used for core recommendation training.</a:t>
            </a:r>
            <a:endParaRPr b="0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3295650" y="1009650"/>
            <a:ext cx="2552700" cy="36576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3295650" y="1009650"/>
            <a:ext cx="2552700" cy="38100"/>
          </a:xfrm>
          <a:prstGeom prst="rect">
            <a:avLst/>
          </a:prstGeom>
          <a:solidFill>
            <a:srgbClr val="0062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3448050" y="1162050"/>
            <a:ext cx="22479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SemEval-2023 Task 3</a:t>
            </a:r>
            <a:endParaRPr b="0" sz="18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00629B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Classifier Training</a:t>
            </a:r>
            <a:endParaRPr b="0" sz="900">
              <a:solidFill>
                <a:srgbClr val="00629B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endParaRPr b="1" sz="2200">
              <a:solidFill>
                <a:srgbClr val="00629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Languages</a:t>
            </a:r>
            <a:endParaRPr b="0" sz="10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rPr>
              <a:t>23</a:t>
            </a:r>
            <a:endParaRPr b="1" sz="2200">
              <a:solidFill>
                <a:srgbClr val="00629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Persuasion Techniques</a:t>
            </a:r>
            <a:endParaRPr b="0" sz="10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Multi-language corpus with 23 persuasion techniques for classifier training.</a:t>
            </a:r>
            <a:endParaRPr b="0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6134100" y="1009650"/>
            <a:ext cx="2552700" cy="36576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6134100" y="1009650"/>
            <a:ext cx="25527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6286500" y="1162050"/>
            <a:ext cx="22479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C8102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Supplementary</a:t>
            </a:r>
            <a:endParaRPr b="0" sz="1800">
              <a:solidFill>
                <a:srgbClr val="C8102E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C8102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Auxiliary Analysis</a:t>
            </a:r>
            <a:endParaRPr b="0" sz="900">
              <a:solidFill>
                <a:srgbClr val="C8102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Clickbait Dataset</a:t>
            </a:r>
            <a:endParaRPr b="0" sz="11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Sensationalism labels from headlines and thumbnails.</a:t>
            </a:r>
            <a:endParaRPr b="0" sz="10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GoEmotions</a:t>
            </a:r>
            <a:endParaRPr b="0" sz="11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58K Reddit comments for emotional manipulation detection.</a:t>
            </a:r>
            <a:endParaRPr b="0" sz="10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BASIL &amp; FakeNewsNet</a:t>
            </a:r>
            <a:endParaRPr b="0" sz="11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Media bias analysis and veracity labels.</a:t>
            </a:r>
            <a:endParaRPr b="0" sz="10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6"/>
          <p:cNvSpPr txBox="1"/>
          <p:nvPr/>
        </p:nvSpPr>
        <p:spPr>
          <a:xfrm>
            <a:off x="457200" y="3810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Main Benchmark Results &amp; Comparisons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0" name="Google Shape;250;p26"/>
          <p:cNvGrpSpPr/>
          <p:nvPr/>
        </p:nvGrpSpPr>
        <p:grpSpPr>
          <a:xfrm>
            <a:off x="457200" y="952500"/>
            <a:ext cx="2552700" cy="1047900"/>
            <a:chOff x="457200" y="952500"/>
            <a:chExt cx="2552700" cy="1047900"/>
          </a:xfrm>
        </p:grpSpPr>
        <p:sp>
          <p:nvSpPr>
            <p:cNvPr id="251" name="Google Shape;251;p26"/>
            <p:cNvSpPr/>
            <p:nvPr/>
          </p:nvSpPr>
          <p:spPr>
            <a:xfrm>
              <a:off x="457200" y="952500"/>
              <a:ext cx="2552700" cy="1047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57200" y="952500"/>
              <a:ext cx="5715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6"/>
            <p:cNvSpPr txBox="1"/>
            <p:nvPr/>
          </p:nvSpPr>
          <p:spPr>
            <a:xfrm>
              <a:off x="647700" y="1095375"/>
              <a:ext cx="2171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0.6804</a:t>
              </a:r>
              <a:endParaRPr b="1" sz="28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AUC (Best Config)</a:t>
              </a:r>
              <a:endParaRPr b="0" sz="11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4" name="Google Shape;254;p26"/>
          <p:cNvGrpSpPr/>
          <p:nvPr/>
        </p:nvGrpSpPr>
        <p:grpSpPr>
          <a:xfrm>
            <a:off x="3295650" y="952500"/>
            <a:ext cx="2552700" cy="1047900"/>
            <a:chOff x="3295650" y="952500"/>
            <a:chExt cx="2552700" cy="1047900"/>
          </a:xfrm>
        </p:grpSpPr>
        <p:sp>
          <p:nvSpPr>
            <p:cNvPr id="255" name="Google Shape;255;p26"/>
            <p:cNvSpPr/>
            <p:nvPr/>
          </p:nvSpPr>
          <p:spPr>
            <a:xfrm>
              <a:off x="3295650" y="952500"/>
              <a:ext cx="2552700" cy="1047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3295650" y="952500"/>
              <a:ext cx="5715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6"/>
            <p:cNvSpPr txBox="1"/>
            <p:nvPr/>
          </p:nvSpPr>
          <p:spPr>
            <a:xfrm>
              <a:off x="3486150" y="1095375"/>
              <a:ext cx="2171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0.6080</a:t>
              </a:r>
              <a:endParaRPr b="1" sz="28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nDCG@10</a:t>
              </a:r>
              <a:endParaRPr b="0" sz="11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8" name="Google Shape;258;p26"/>
          <p:cNvGrpSpPr/>
          <p:nvPr/>
        </p:nvGrpSpPr>
        <p:grpSpPr>
          <a:xfrm>
            <a:off x="6134100" y="952500"/>
            <a:ext cx="2552700" cy="1047900"/>
            <a:chOff x="6134100" y="952500"/>
            <a:chExt cx="2552700" cy="1047900"/>
          </a:xfrm>
        </p:grpSpPr>
        <p:sp>
          <p:nvSpPr>
            <p:cNvPr id="259" name="Google Shape;259;p26"/>
            <p:cNvSpPr/>
            <p:nvPr/>
          </p:nvSpPr>
          <p:spPr>
            <a:xfrm>
              <a:off x="6134100" y="952500"/>
              <a:ext cx="2552700" cy="1047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6134100" y="952500"/>
              <a:ext cx="5715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6"/>
            <p:cNvSpPr txBox="1"/>
            <p:nvPr/>
          </p:nvSpPr>
          <p:spPr>
            <a:xfrm>
              <a:off x="6324600" y="1095375"/>
              <a:ext cx="2171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0.7438</a:t>
              </a:r>
              <a:endParaRPr b="1" sz="2800">
                <a:solidFill>
                  <a:srgbClr val="00629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MRR</a:t>
              </a:r>
              <a:endParaRPr b="0" sz="11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62" name="Google Shape;262;p26"/>
          <p:cNvSpPr txBox="1"/>
          <p:nvPr/>
        </p:nvSpPr>
        <p:spPr>
          <a:xfrm>
            <a:off x="457200" y="2190750"/>
            <a:ext cx="39243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Configuration &amp; Fairness</a:t>
            </a:r>
            <a:endParaRPr b="0" sz="15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Best Model: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RespNews (MuRIL + EfficientNet)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450"/>
              </a:spcBef>
              <a:spcAft>
                <a:spcPts val="0"/>
              </a:spcAft>
              <a:buSzPts val="1400"/>
              <a:buChar char="●"/>
            </a:pP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Provider Parity Gap: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Achieves a 0.000 provider parity gap.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450"/>
              </a:spcBef>
              <a:spcAft>
                <a:spcPts val="450"/>
              </a:spcAft>
              <a:buSzPts val="1400"/>
              <a:buChar char="●"/>
            </a:pP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Explanation Coverage: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Achieves 100% explanation coverage.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3" name="Google Shape;263;p26"/>
          <p:cNvGrpSpPr/>
          <p:nvPr/>
        </p:nvGrpSpPr>
        <p:grpSpPr>
          <a:xfrm>
            <a:off x="4762500" y="2190750"/>
            <a:ext cx="3924450" cy="1847850"/>
            <a:chOff x="4762500" y="2190750"/>
            <a:chExt cx="3924450" cy="1847850"/>
          </a:xfrm>
        </p:grpSpPr>
        <p:sp>
          <p:nvSpPr>
            <p:cNvPr id="264" name="Google Shape;264;p26"/>
            <p:cNvSpPr txBox="1"/>
            <p:nvPr/>
          </p:nvSpPr>
          <p:spPr>
            <a:xfrm>
              <a:off x="4762500" y="2190750"/>
              <a:ext cx="3924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5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Baseline Comparisons</a:t>
              </a:r>
              <a:endParaRPr b="0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65" name="Google Shape;265;p26"/>
            <p:cNvCxnSpPr/>
            <p:nvPr/>
          </p:nvCxnSpPr>
          <p:spPr>
            <a:xfrm>
              <a:off x="4762500" y="249555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6" name="Google Shape;266;p26"/>
            <p:cNvSpPr txBox="1"/>
            <p:nvPr/>
          </p:nvSpPr>
          <p:spPr>
            <a:xfrm>
              <a:off x="4762500" y="257175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NRMS</a:t>
              </a:r>
              <a:endParaRPr b="0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7" name="Google Shape;267;p26"/>
            <p:cNvSpPr txBox="1"/>
            <p:nvPr/>
          </p:nvSpPr>
          <p:spPr>
            <a:xfrm>
              <a:off x="6000750" y="2571750"/>
              <a:ext cx="2686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AUC .6730, nDCG@10 .5117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8" name="Google Shape;268;p26"/>
            <p:cNvCxnSpPr/>
            <p:nvPr/>
          </p:nvCxnSpPr>
          <p:spPr>
            <a:xfrm>
              <a:off x="4762500" y="283845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9" name="Google Shape;269;p26"/>
            <p:cNvSpPr txBox="1"/>
            <p:nvPr/>
          </p:nvSpPr>
          <p:spPr>
            <a:xfrm>
              <a:off x="4762500" y="291465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NAML</a:t>
              </a:r>
              <a:endParaRPr b="0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0" name="Google Shape;270;p26"/>
            <p:cNvSpPr txBox="1"/>
            <p:nvPr/>
          </p:nvSpPr>
          <p:spPr>
            <a:xfrm>
              <a:off x="6000750" y="2914650"/>
              <a:ext cx="2686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AUC .6588, nDCG@10 .5020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1" name="Google Shape;271;p26"/>
            <p:cNvCxnSpPr/>
            <p:nvPr/>
          </p:nvCxnSpPr>
          <p:spPr>
            <a:xfrm>
              <a:off x="4762500" y="318135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2" name="Google Shape;272;p26"/>
            <p:cNvSpPr txBox="1"/>
            <p:nvPr/>
          </p:nvSpPr>
          <p:spPr>
            <a:xfrm>
              <a:off x="4762500" y="325755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LSTUR</a:t>
              </a:r>
              <a:endParaRPr b="0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3" name="Google Shape;273;p26"/>
            <p:cNvSpPr txBox="1"/>
            <p:nvPr/>
          </p:nvSpPr>
          <p:spPr>
            <a:xfrm>
              <a:off x="6000750" y="3257550"/>
              <a:ext cx="2686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AUC .6657, nDCG@10 .5043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4" name="Google Shape;274;p26"/>
            <p:cNvCxnSpPr/>
            <p:nvPr/>
          </p:nvCxnSpPr>
          <p:spPr>
            <a:xfrm>
              <a:off x="4762500" y="352425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5" name="Google Shape;275;p26"/>
            <p:cNvSpPr txBox="1"/>
            <p:nvPr/>
          </p:nvSpPr>
          <p:spPr>
            <a:xfrm>
              <a:off x="4762500" y="360045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GLORY</a:t>
              </a:r>
              <a:endParaRPr b="0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6000750" y="3600450"/>
              <a:ext cx="2686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1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AUC .6986, nDCG@10 .5384</a:t>
              </a:r>
              <a:endParaRPr b="0" sz="91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600"/>
                </a:spcAft>
                <a:buNone/>
              </a:pPr>
              <a:r>
                <a:rPr b="0" i="1" lang="en" sz="770">
                  <a:solidFill>
                    <a:srgbClr val="C8102E"/>
                  </a:solidFill>
                  <a:latin typeface="Inter"/>
                  <a:ea typeface="Inter"/>
                  <a:cs typeface="Inter"/>
                  <a:sym typeface="Inter"/>
                </a:rPr>
                <a:t>(Highest baseline AUC, but lacks responsibility metrics)</a:t>
              </a:r>
              <a:endParaRPr b="0" i="1" sz="770">
                <a:solidFill>
                  <a:srgbClr val="C8102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77" name="Google Shape;277;p26"/>
            <p:cNvCxnSpPr/>
            <p:nvPr/>
          </p:nvCxnSpPr>
          <p:spPr>
            <a:xfrm>
              <a:off x="4762500" y="4038600"/>
              <a:ext cx="39243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83" name="Google Shape;283;p2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p27"/>
          <p:cNvSpPr txBox="1"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Key Empirical Findings &amp; Performance Insights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629B"/>
                </a:solidFill>
              </a:rPr>
              <a:t>■</a:t>
            </a:r>
            <a:r>
              <a:rPr lang="en"/>
              <a:t> </a:t>
            </a: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Linguistic Advantage: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MuRIL outperforms RoBERTa (AUC 0.6794 vs 0.6755) due to regional linguistic pre-training.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629B"/>
                </a:solidFill>
              </a:rPr>
              <a:t>■</a:t>
            </a:r>
            <a:r>
              <a:rPr lang="en"/>
              <a:t> </a:t>
            </a: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 Signal Value: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EfficientNet adds +0.6% AUC by capturing clickbait thumbnails.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629B"/>
                </a:solidFill>
              </a:rPr>
              <a:t>■</a:t>
            </a:r>
            <a:r>
              <a:rPr lang="en"/>
              <a:t> </a:t>
            </a: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Perfect Fairness: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All RespNews variants achieve a 0.000 provider parity gap.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629B"/>
                </a:solidFill>
              </a:rPr>
              <a:t>■</a:t>
            </a:r>
            <a:r>
              <a:rPr lang="en"/>
              <a:t> </a:t>
            </a: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Complete Transparency: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Every recommendation includes technique-level explanations (100% explainability).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00629B"/>
                </a:solidFill>
              </a:rPr>
              <a:t>■</a:t>
            </a:r>
            <a:r>
              <a:rPr lang="en"/>
              <a:t> </a:t>
            </a:r>
            <a:r>
              <a:rPr b="0" lang="en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Risk Mitigation: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Achieves an 85% reduction in persuasive content exposure at β=0.30 with less than 0.3% relevance loss.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91" name="Google Shape;291;p2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2" name="Google Shape;29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8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" name="Google Shape;294;p28"/>
          <p:cNvGrpSpPr/>
          <p:nvPr/>
        </p:nvGrpSpPr>
        <p:grpSpPr>
          <a:xfrm>
            <a:off x="457200" y="342900"/>
            <a:ext cx="8229600" cy="3943350"/>
            <a:chOff x="457200" y="342900"/>
            <a:chExt cx="8229600" cy="3943350"/>
          </a:xfrm>
        </p:grpSpPr>
        <p:sp>
          <p:nvSpPr>
            <p:cNvPr id="295" name="Google Shape;295;p28"/>
            <p:cNvSpPr txBox="1"/>
            <p:nvPr/>
          </p:nvSpPr>
          <p:spPr>
            <a:xfrm>
              <a:off x="457200" y="342900"/>
              <a:ext cx="822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Ablation Study &amp; Component Contributions</a:t>
              </a:r>
              <a:endParaRPr b="1" sz="2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96" name="Google Shape;296;p28"/>
            <p:cNvCxnSpPr/>
            <p:nvPr/>
          </p:nvCxnSpPr>
          <p:spPr>
            <a:xfrm>
              <a:off x="457200" y="904875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7" name="Google Shape;297;p28"/>
            <p:cNvSpPr txBox="1"/>
            <p:nvPr/>
          </p:nvSpPr>
          <p:spPr>
            <a:xfrm>
              <a:off x="457200" y="981075"/>
              <a:ext cx="2667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Configuration / Variant</a:t>
              </a:r>
              <a:endParaRPr b="0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8" name="Google Shape;298;p28"/>
            <p:cNvSpPr txBox="1"/>
            <p:nvPr/>
          </p:nvSpPr>
          <p:spPr>
            <a:xfrm>
              <a:off x="3238500" y="981075"/>
              <a:ext cx="5448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Empirical Impact &amp; Findings</a:t>
              </a:r>
              <a:endParaRPr b="0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99" name="Google Shape;299;p28"/>
            <p:cNvCxnSpPr/>
            <p:nvPr/>
          </p:nvCxnSpPr>
          <p:spPr>
            <a:xfrm>
              <a:off x="457200" y="1285875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0" name="Google Shape;300;p28"/>
            <p:cNvSpPr txBox="1"/>
            <p:nvPr/>
          </p:nvSpPr>
          <p:spPr>
            <a:xfrm>
              <a:off x="457200" y="1400175"/>
              <a:ext cx="2667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Full System</a:t>
              </a:r>
              <a:endParaRPr b="0" sz="1200">
                <a:solidFill>
                  <a:srgbClr val="111827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01" name="Google Shape;301;p28"/>
            <p:cNvSpPr txBox="1"/>
            <p:nvPr/>
          </p:nvSpPr>
          <p:spPr>
            <a:xfrm>
              <a:off x="3238500" y="1400175"/>
              <a:ext cx="5448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629B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AUC .6804</a:t>
              </a: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1200">
                  <a:solidFill>
                    <a:srgbClr val="00629B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nDCG@10 .6080</a:t>
              </a: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(Baseline benchmark performance)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02" name="Google Shape;302;p28"/>
            <p:cNvCxnSpPr/>
            <p:nvPr/>
          </p:nvCxnSpPr>
          <p:spPr>
            <a:xfrm>
              <a:off x="457200" y="18859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3" name="Google Shape;303;p28"/>
            <p:cNvSpPr txBox="1"/>
            <p:nvPr/>
          </p:nvSpPr>
          <p:spPr>
            <a:xfrm>
              <a:off x="457200" y="2000250"/>
              <a:ext cx="2667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w/o Susceptibility</a:t>
              </a:r>
              <a:endParaRPr b="0" sz="1200">
                <a:solidFill>
                  <a:srgbClr val="111827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04" name="Google Shape;304;p28"/>
            <p:cNvSpPr txBox="1"/>
            <p:nvPr/>
          </p:nvSpPr>
          <p:spPr>
            <a:xfrm>
              <a:off x="3238500" y="2000250"/>
              <a:ext cx="5448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Largest impact, dropping nDCG@10 by </a:t>
              </a:r>
              <a:r>
                <a:rPr b="0" lang="en" sz="1200">
                  <a:solidFill>
                    <a:srgbClr val="C8102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−0.0114</a:t>
              </a: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. Personalized risk is critical.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05" name="Google Shape;305;p28"/>
            <p:cNvCxnSpPr/>
            <p:nvPr/>
          </p:nvCxnSpPr>
          <p:spPr>
            <a:xfrm>
              <a:off x="457200" y="2486025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28"/>
            <p:cNvSpPr txBox="1"/>
            <p:nvPr/>
          </p:nvSpPr>
          <p:spPr>
            <a:xfrm>
              <a:off x="457200" y="2600325"/>
              <a:ext cx="2667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w/o Vision</a:t>
              </a:r>
              <a:endParaRPr b="0" sz="1200">
                <a:solidFill>
                  <a:srgbClr val="111827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07" name="Google Shape;307;p28"/>
            <p:cNvSpPr txBox="1"/>
            <p:nvPr/>
          </p:nvSpPr>
          <p:spPr>
            <a:xfrm>
              <a:off x="3238500" y="2600325"/>
              <a:ext cx="5448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Meaningful drop of </a:t>
              </a:r>
              <a:r>
                <a:rPr b="0" lang="en" sz="1200">
                  <a:solidFill>
                    <a:srgbClr val="C8102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−0.0046 AUC</a:t>
              </a: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, justifying multimodal fusion.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08" name="Google Shape;308;p28"/>
            <p:cNvCxnSpPr/>
            <p:nvPr/>
          </p:nvCxnSpPr>
          <p:spPr>
            <a:xfrm>
              <a:off x="457200" y="30861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9" name="Google Shape;309;p28"/>
            <p:cNvSpPr txBox="1"/>
            <p:nvPr/>
          </p:nvSpPr>
          <p:spPr>
            <a:xfrm>
              <a:off x="457200" y="3200400"/>
              <a:ext cx="2667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w/o Provider Cap</a:t>
              </a:r>
              <a:endParaRPr b="0" sz="1200">
                <a:solidFill>
                  <a:srgbClr val="111827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10" name="Google Shape;310;p28"/>
            <p:cNvSpPr txBox="1"/>
            <p:nvPr/>
          </p:nvSpPr>
          <p:spPr>
            <a:xfrm>
              <a:off x="3238500" y="3200400"/>
              <a:ext cx="5448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Minimal relevance impact (</a:t>
              </a:r>
              <a:r>
                <a:rPr b="0" lang="en" sz="1200">
                  <a:solidFill>
                    <a:srgbClr val="C8102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−0.0003 AUC</a:t>
              </a: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) while significantly improving fairness.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11" name="Google Shape;311;p28"/>
            <p:cNvCxnSpPr/>
            <p:nvPr/>
          </p:nvCxnSpPr>
          <p:spPr>
            <a:xfrm>
              <a:off x="457200" y="3686175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2" name="Google Shape;312;p28"/>
            <p:cNvSpPr txBox="1"/>
            <p:nvPr/>
          </p:nvSpPr>
          <p:spPr>
            <a:xfrm>
              <a:off x="457200" y="3800475"/>
              <a:ext cx="2667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w/o MuRIL (using RoBERTa)</a:t>
              </a:r>
              <a:endParaRPr b="0" sz="1200">
                <a:solidFill>
                  <a:srgbClr val="111827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13" name="Google Shape;313;p28"/>
            <p:cNvSpPr txBox="1"/>
            <p:nvPr/>
          </p:nvSpPr>
          <p:spPr>
            <a:xfrm>
              <a:off x="3238500" y="3800475"/>
              <a:ext cx="5448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Drops AUC by </a:t>
              </a:r>
              <a:r>
                <a:rPr b="0" lang="en" sz="1200">
                  <a:solidFill>
                    <a:srgbClr val="C8102E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−0.0066</a:t>
              </a: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14" name="Google Shape;314;p28"/>
            <p:cNvCxnSpPr/>
            <p:nvPr/>
          </p:nvCxnSpPr>
          <p:spPr>
            <a:xfrm>
              <a:off x="457200" y="42862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62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457200" y="3429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Pareto Trade-Off: Relevance vs. Persuasion Suppression</a:t>
            </a:r>
            <a:endParaRPr b="1" sz="2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3" name="Google Shape;323;p29"/>
          <p:cNvGrpSpPr/>
          <p:nvPr/>
        </p:nvGrpSpPr>
        <p:grpSpPr>
          <a:xfrm>
            <a:off x="457200" y="1009650"/>
            <a:ext cx="4267200" cy="3657750"/>
            <a:chOff x="0" y="0"/>
            <a:chExt cx="4267200" cy="3657750"/>
          </a:xfrm>
        </p:grpSpPr>
        <p:pic>
          <p:nvPicPr>
            <p:cNvPr id="324" name="Google Shape;324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267200" cy="240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/>
            <p:nvPr/>
          </p:nvSpPr>
          <p:spPr>
            <a:xfrm>
              <a:off x="0" y="2571750"/>
              <a:ext cx="4267200" cy="10860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0" y="2571750"/>
              <a:ext cx="38100" cy="10860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9"/>
            <p:cNvSpPr txBox="1"/>
            <p:nvPr/>
          </p:nvSpPr>
          <p:spPr>
            <a:xfrm>
              <a:off x="152400" y="2686050"/>
              <a:ext cx="3962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629B"/>
                  </a:solidFill>
                  <a:latin typeface="Inter"/>
                  <a:ea typeface="Inter"/>
                  <a:cs typeface="Inter"/>
                  <a:sym typeface="Inter"/>
                </a:rPr>
                <a:t>Figure Analysis</a:t>
              </a:r>
              <a:endParaRPr b="1" sz="1050">
                <a:solidFill>
                  <a:srgbClr val="00629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Empirical Pareto frontier evaluating the impact of persuasion exposure reduction on standard relevance metrics (</a:t>
              </a:r>
              <a:r>
                <a:rPr b="1" lang="en" sz="1050">
                  <a:solidFill>
                    <a:srgbClr val="4B556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nDCG@10</a:t>
              </a: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8" name="Google Shape;328;p29"/>
          <p:cNvGrpSpPr/>
          <p:nvPr/>
        </p:nvGrpSpPr>
        <p:grpSpPr>
          <a:xfrm>
            <a:off x="4953000" y="1009650"/>
            <a:ext cx="3733800" cy="3657600"/>
            <a:chOff x="0" y="0"/>
            <a:chExt cx="3733800" cy="3657600"/>
          </a:xfrm>
        </p:grpSpPr>
        <p:sp>
          <p:nvSpPr>
            <p:cNvPr id="329" name="Google Shape;329;p29"/>
            <p:cNvSpPr/>
            <p:nvPr/>
          </p:nvSpPr>
          <p:spPr>
            <a:xfrm>
              <a:off x="0" y="0"/>
              <a:ext cx="3733800" cy="1124100"/>
            </a:xfrm>
            <a:prstGeom prst="rect">
              <a:avLst/>
            </a:prstGeom>
            <a:solidFill>
              <a:srgbClr val="F0F7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0" y="0"/>
              <a:ext cx="38100" cy="1124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9"/>
            <p:cNvSpPr txBox="1"/>
            <p:nvPr/>
          </p:nvSpPr>
          <p:spPr>
            <a:xfrm>
              <a:off x="152400" y="114300"/>
              <a:ext cx="34290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629B"/>
                  </a:solidFill>
                  <a:latin typeface="Inter"/>
                  <a:ea typeface="Inter"/>
                  <a:cs typeface="Inter"/>
                  <a:sym typeface="Inter"/>
                </a:rPr>
                <a:t>Optimal Operating Point</a:t>
              </a:r>
              <a:endParaRPr b="1" sz="1050">
                <a:solidFill>
                  <a:srgbClr val="00629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β = 0.30</a:t>
              </a:r>
              <a:r>
                <a:rPr b="0" lang="en" sz="12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(Default Configuration)</a:t>
              </a:r>
              <a:endParaRPr b="0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8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85%</a:t>
              </a: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exposure reduction with only </a:t>
              </a:r>
              <a:r>
                <a:rPr b="1" lang="en" sz="1050">
                  <a:solidFill>
                    <a:srgbClr val="1118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0.30%</a:t>
              </a: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ranking loss (nDCG@10 drops from .6098 to .6080).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0" y="1257300"/>
              <a:ext cx="3733800" cy="1162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9"/>
            <p:cNvSpPr txBox="1"/>
            <p:nvPr/>
          </p:nvSpPr>
          <p:spPr>
            <a:xfrm>
              <a:off x="152400" y="1371600"/>
              <a:ext cx="34290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Scaling β Parameters</a:t>
              </a:r>
              <a:endParaRPr b="1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β = 0.50:</a:t>
              </a: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94% exposure reduction, 1.08% relevance loss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β = 1.00:</a:t>
              </a: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99% exposure reduction, 6.51% relevance loss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0" y="2552700"/>
              <a:ext cx="3733800" cy="1104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>
              <a:off x="0" y="2552700"/>
              <a:ext cx="38100" cy="11049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9"/>
            <p:cNvSpPr txBox="1"/>
            <p:nvPr/>
          </p:nvSpPr>
          <p:spPr>
            <a:xfrm>
              <a:off x="152400" y="2667000"/>
              <a:ext cx="34290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C8102E"/>
                  </a:solidFill>
                  <a:latin typeface="Inter"/>
                  <a:ea typeface="Inter"/>
                  <a:cs typeface="Inter"/>
                  <a:sym typeface="Inter"/>
                </a:rPr>
                <a:t>Key Insight</a:t>
              </a:r>
              <a:endParaRPr b="1" sz="1050">
                <a:solidFill>
                  <a:srgbClr val="C8102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Beyond </a:t>
              </a:r>
              <a:r>
                <a:rPr b="1" lang="en" sz="1050">
                  <a:solidFill>
                    <a:srgbClr val="111827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β &gt; 0.50</a:t>
              </a:r>
              <a:r>
                <a:rPr b="0" lang="en" sz="10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, relevance degrades significantly (&gt;1% loss). Real-time adjustment is available via dashboard slider.</a:t>
              </a:r>
              <a:endParaRPr b="0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3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42" name="Google Shape;342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30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30"/>
          <p:cNvSpPr txBox="1"/>
          <p:nvPr/>
        </p:nvSpPr>
        <p:spPr>
          <a:xfrm>
            <a:off x="457200" y="3429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Interactive Dashboard &amp; Live Demo Architecture</a:t>
            </a:r>
            <a:endParaRPr b="1" sz="24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5" name="Google Shape;345;p30"/>
          <p:cNvGrpSpPr/>
          <p:nvPr/>
        </p:nvGrpSpPr>
        <p:grpSpPr>
          <a:xfrm>
            <a:off x="457200" y="990600"/>
            <a:ext cx="4267200" cy="3657600"/>
            <a:chOff x="457200" y="990600"/>
            <a:chExt cx="4267200" cy="3657600"/>
          </a:xfrm>
        </p:grpSpPr>
        <p:pic>
          <p:nvPicPr>
            <p:cNvPr id="346" name="Google Shape;346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" y="990600"/>
              <a:ext cx="4267200" cy="240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30"/>
            <p:cNvSpPr/>
            <p:nvPr/>
          </p:nvSpPr>
          <p:spPr>
            <a:xfrm>
              <a:off x="457200" y="3543300"/>
              <a:ext cx="4267200" cy="1104900"/>
            </a:xfrm>
            <a:prstGeom prst="rect">
              <a:avLst/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457200" y="3543300"/>
              <a:ext cx="38100" cy="11049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0"/>
            <p:cNvSpPr txBox="1"/>
            <p:nvPr/>
          </p:nvSpPr>
          <p:spPr>
            <a:xfrm>
              <a:off x="609600" y="3638550"/>
              <a:ext cx="3962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VeritasFeed Live Platform</a:t>
              </a:r>
              <a:endParaRPr b="0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Integrates real-time rhetoric detection with customizable algorithm controls and multi-metric transparency indicators.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50" name="Google Shape;350;p30"/>
          <p:cNvSpPr txBox="1"/>
          <p:nvPr/>
        </p:nvSpPr>
        <p:spPr>
          <a:xfrm>
            <a:off x="4953000" y="990600"/>
            <a:ext cx="3733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 Stack</a:t>
            </a:r>
            <a:endParaRPr b="0" sz="13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React 19, TypeScript, and Vite. Features personalized feeds with persuasion badges.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Interactive Controls</a:t>
            </a:r>
            <a:endParaRPr b="0" sz="13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Real-time α/β sliders for relevance-responsibility trade-offs.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Visualizations</a:t>
            </a:r>
            <a:endParaRPr b="0" sz="13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Persuasion radar charts showing 23 technique distributions per article.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 Analysis</a:t>
            </a:r>
            <a:endParaRPr b="0" sz="13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Real-time URL analysis with multi-label persuasion output via FastAPI backend.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SDG 16 Dashboard</a:t>
            </a:r>
            <a:endParaRPr b="0" sz="1300">
              <a:solidFill>
                <a:srgbClr val="00629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750"/>
              </a:spcAft>
              <a:buNone/>
            </a:pPr>
            <a:r>
              <a:rPr b="0" lang="en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Live tracking of KPI metrics, parity gaps, and explainability coverage.</a:t>
            </a:r>
            <a:endParaRPr b="0" sz="1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3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56" name="Google Shape;356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31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31"/>
          <p:cNvGrpSpPr/>
          <p:nvPr/>
        </p:nvGrpSpPr>
        <p:grpSpPr>
          <a:xfrm>
            <a:off x="457200" y="381000"/>
            <a:ext cx="8229600" cy="4333800"/>
            <a:chOff x="457200" y="381000"/>
            <a:chExt cx="8229600" cy="4333800"/>
          </a:xfrm>
        </p:grpSpPr>
        <p:sp>
          <p:nvSpPr>
            <p:cNvPr id="359" name="Google Shape;359;p31"/>
            <p:cNvSpPr txBox="1"/>
            <p:nvPr/>
          </p:nvSpPr>
          <p:spPr>
            <a:xfrm>
              <a:off x="457200" y="381000"/>
              <a:ext cx="822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UN SDG 16 Alignment &amp; Algorithmic Transparency</a:t>
              </a:r>
              <a:endParaRPr b="1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457200" y="933450"/>
              <a:ext cx="8229600" cy="12384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457200" y="933450"/>
              <a:ext cx="76200" cy="12384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1"/>
            <p:cNvSpPr txBox="1"/>
            <p:nvPr/>
          </p:nvSpPr>
          <p:spPr>
            <a:xfrm>
              <a:off x="685800" y="1047750"/>
              <a:ext cx="7848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30">
                  <a:solidFill>
                    <a:srgbClr val="C810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Institutional Accountability &amp; Public Access</a:t>
              </a:r>
              <a:endParaRPr b="0" sz="1530">
                <a:solidFill>
                  <a:srgbClr val="C8102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165" lvl="0" marL="457200" rtl="0" algn="l">
                <a:spcBef>
                  <a:spcPts val="600"/>
                </a:spcBef>
                <a:spcAft>
                  <a:spcPts val="0"/>
                </a:spcAft>
                <a:buSzPts val="1190"/>
                <a:buChar char="●"/>
              </a:pPr>
              <a:r>
                <a:rPr b="0" lang="en" sz="110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 16.10 (Public Access to Information):</a:t>
              </a:r>
              <a:r>
                <a:rPr b="0" lang="en" sz="110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RespNews ensures users receive diverse, non-manipulative news, promoting informed public discourse.</a:t>
              </a:r>
              <a:endParaRPr b="0" sz="110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165" lvl="0" marL="457200" rtl="0" algn="l">
                <a:spcBef>
                  <a:spcPts val="600"/>
                </a:spcBef>
                <a:spcAft>
                  <a:spcPts val="600"/>
                </a:spcAft>
                <a:buSzPts val="1190"/>
                <a:buChar char="●"/>
              </a:pPr>
              <a:r>
                <a:rPr b="0" lang="en" sz="110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 16.6 (Accountable Institutions):</a:t>
              </a:r>
              <a:r>
                <a:rPr b="0" lang="en" sz="110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Delivers 100% explanation coverage and algorithmic accountability.</a:t>
              </a:r>
              <a:endParaRPr b="0" sz="110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3" name="Google Shape;363;p31"/>
            <p:cNvSpPr txBox="1"/>
            <p:nvPr/>
          </p:nvSpPr>
          <p:spPr>
            <a:xfrm>
              <a:off x="457200" y="2362200"/>
              <a:ext cx="82296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Impact Metrics</a:t>
              </a:r>
              <a:endParaRPr b="0" sz="18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64" name="Google Shape;364;p31"/>
            <p:cNvGrpSpPr/>
            <p:nvPr/>
          </p:nvGrpSpPr>
          <p:grpSpPr>
            <a:xfrm>
              <a:off x="457200" y="2762250"/>
              <a:ext cx="4000500" cy="904800"/>
              <a:chOff x="0" y="0"/>
              <a:chExt cx="4000500" cy="904800"/>
            </a:xfrm>
          </p:grpSpPr>
          <p:sp>
            <p:nvSpPr>
              <p:cNvPr id="365" name="Google Shape;365;p31"/>
              <p:cNvSpPr/>
              <p:nvPr/>
            </p:nvSpPr>
            <p:spPr>
              <a:xfrm>
                <a:off x="0" y="0"/>
                <a:ext cx="4000500" cy="904800"/>
              </a:xfrm>
              <a:prstGeom prst="rect">
                <a:avLst/>
              </a:prstGeom>
              <a:solidFill>
                <a:srgbClr val="F8F9FA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0" y="0"/>
                <a:ext cx="571500" cy="38100"/>
              </a:xfrm>
              <a:prstGeom prst="rect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1"/>
              <p:cNvSpPr txBox="1"/>
              <p:nvPr/>
            </p:nvSpPr>
            <p:spPr>
              <a:xfrm>
                <a:off x="190500" y="152400"/>
                <a:ext cx="3619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62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85%</a:t>
                </a:r>
                <a:endParaRPr b="1" sz="20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High-Risk Content Suppression</a:t>
                </a:r>
                <a:endParaRPr b="0" sz="11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68" name="Google Shape;368;p31"/>
            <p:cNvGrpSpPr/>
            <p:nvPr/>
          </p:nvGrpSpPr>
          <p:grpSpPr>
            <a:xfrm>
              <a:off x="4686300" y="2762250"/>
              <a:ext cx="4000500" cy="904800"/>
              <a:chOff x="0" y="0"/>
              <a:chExt cx="4000500" cy="904800"/>
            </a:xfrm>
          </p:grpSpPr>
          <p:sp>
            <p:nvSpPr>
              <p:cNvPr id="369" name="Google Shape;369;p31"/>
              <p:cNvSpPr/>
              <p:nvPr/>
            </p:nvSpPr>
            <p:spPr>
              <a:xfrm>
                <a:off x="0" y="0"/>
                <a:ext cx="4000500" cy="904800"/>
              </a:xfrm>
              <a:prstGeom prst="rect">
                <a:avLst/>
              </a:prstGeom>
              <a:solidFill>
                <a:srgbClr val="F8F9FA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1"/>
              <p:cNvSpPr/>
              <p:nvPr/>
            </p:nvSpPr>
            <p:spPr>
              <a:xfrm>
                <a:off x="0" y="0"/>
                <a:ext cx="571500" cy="38100"/>
              </a:xfrm>
              <a:prstGeom prst="rect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1"/>
              <p:cNvSpPr txBox="1"/>
              <p:nvPr/>
            </p:nvSpPr>
            <p:spPr>
              <a:xfrm>
                <a:off x="190500" y="152400"/>
                <a:ext cx="3619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62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18%</a:t>
                </a:r>
                <a:endParaRPr b="1" sz="20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Overall Persuasion Exposure Reduction</a:t>
                </a:r>
                <a:endParaRPr b="0" sz="11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2" name="Google Shape;372;p31"/>
            <p:cNvGrpSpPr/>
            <p:nvPr/>
          </p:nvGrpSpPr>
          <p:grpSpPr>
            <a:xfrm>
              <a:off x="457200" y="3810000"/>
              <a:ext cx="4000500" cy="904800"/>
              <a:chOff x="0" y="0"/>
              <a:chExt cx="4000500" cy="904800"/>
            </a:xfrm>
          </p:grpSpPr>
          <p:sp>
            <p:nvSpPr>
              <p:cNvPr id="373" name="Google Shape;373;p31"/>
              <p:cNvSpPr/>
              <p:nvPr/>
            </p:nvSpPr>
            <p:spPr>
              <a:xfrm>
                <a:off x="0" y="0"/>
                <a:ext cx="4000500" cy="904800"/>
              </a:xfrm>
              <a:prstGeom prst="rect">
                <a:avLst/>
              </a:prstGeom>
              <a:solidFill>
                <a:srgbClr val="F8F9FA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1"/>
              <p:cNvSpPr/>
              <p:nvPr/>
            </p:nvSpPr>
            <p:spPr>
              <a:xfrm>
                <a:off x="0" y="0"/>
                <a:ext cx="571500" cy="38100"/>
              </a:xfrm>
              <a:prstGeom prst="rect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1"/>
              <p:cNvSpPr txBox="1"/>
              <p:nvPr/>
            </p:nvSpPr>
            <p:spPr>
              <a:xfrm>
                <a:off x="190500" y="152400"/>
                <a:ext cx="3619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62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0.040</a:t>
                </a:r>
                <a:endParaRPr b="1" sz="20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Provider Parity Gap</a:t>
                </a:r>
                <a:endParaRPr b="0" sz="11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6" name="Google Shape;376;p31"/>
            <p:cNvGrpSpPr/>
            <p:nvPr/>
          </p:nvGrpSpPr>
          <p:grpSpPr>
            <a:xfrm>
              <a:off x="4686300" y="3810000"/>
              <a:ext cx="4000500" cy="904800"/>
              <a:chOff x="0" y="0"/>
              <a:chExt cx="4000500" cy="904800"/>
            </a:xfrm>
          </p:grpSpPr>
          <p:sp>
            <p:nvSpPr>
              <p:cNvPr id="377" name="Google Shape;377;p31"/>
              <p:cNvSpPr/>
              <p:nvPr/>
            </p:nvSpPr>
            <p:spPr>
              <a:xfrm>
                <a:off x="0" y="0"/>
                <a:ext cx="4000500" cy="904800"/>
              </a:xfrm>
              <a:prstGeom prst="rect">
                <a:avLst/>
              </a:prstGeom>
              <a:solidFill>
                <a:srgbClr val="F8F9FA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31"/>
              <p:cNvSpPr/>
              <p:nvPr/>
            </p:nvSpPr>
            <p:spPr>
              <a:xfrm>
                <a:off x="0" y="0"/>
                <a:ext cx="571500" cy="38100"/>
              </a:xfrm>
              <a:prstGeom prst="rect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31"/>
              <p:cNvSpPr txBox="1"/>
              <p:nvPr/>
            </p:nvSpPr>
            <p:spPr>
              <a:xfrm>
                <a:off x="190500" y="152400"/>
                <a:ext cx="3619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0062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97%</a:t>
                </a:r>
                <a:endParaRPr b="1" sz="20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Explainability Coverage (Overall System Avg)</a:t>
                </a:r>
                <a:endParaRPr b="0" sz="11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85" name="Google Shape;385;p3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32"/>
          <p:cNvSpPr txBox="1"/>
          <p:nvPr/>
        </p:nvSpPr>
        <p:spPr>
          <a:xfrm>
            <a:off x="457200" y="3810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22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System Technology Stack &amp; Framework Implementation</a:t>
            </a:r>
            <a:endParaRPr b="1" sz="222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8" name="Google Shape;388;p32"/>
          <p:cNvGrpSpPr/>
          <p:nvPr/>
        </p:nvGrpSpPr>
        <p:grpSpPr>
          <a:xfrm>
            <a:off x="457200" y="1143000"/>
            <a:ext cx="3924300" cy="1619100"/>
            <a:chOff x="457200" y="1143000"/>
            <a:chExt cx="3924300" cy="1619100"/>
          </a:xfrm>
        </p:grpSpPr>
        <p:sp>
          <p:nvSpPr>
            <p:cNvPr id="389" name="Google Shape;389;p32"/>
            <p:cNvSpPr/>
            <p:nvPr/>
          </p:nvSpPr>
          <p:spPr>
            <a:xfrm>
              <a:off x="457200" y="1143000"/>
              <a:ext cx="3924300" cy="1619100"/>
            </a:xfrm>
            <a:prstGeom prst="roundRect">
              <a:avLst>
                <a:gd fmla="val 2352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57200" y="1143000"/>
              <a:ext cx="38100" cy="1619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1" name="Google Shape;391;p32"/>
            <p:cNvGrpSpPr/>
            <p:nvPr/>
          </p:nvGrpSpPr>
          <p:grpSpPr>
            <a:xfrm>
              <a:off x="666750" y="1314450"/>
              <a:ext cx="190500" cy="190500"/>
              <a:chOff x="19050" y="19050"/>
              <a:chExt cx="190500" cy="190500"/>
            </a:xfrm>
          </p:grpSpPr>
          <p:sp>
            <p:nvSpPr>
              <p:cNvPr id="392" name="Google Shape;392;p32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62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" name="Google Shape;394;p32"/>
            <p:cNvSpPr txBox="1"/>
            <p:nvPr/>
          </p:nvSpPr>
          <p:spPr>
            <a:xfrm>
              <a:off x="952500" y="1257300"/>
              <a:ext cx="32385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Frontend</a:t>
              </a:r>
              <a:endParaRPr b="0" sz="16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React 19, TypeScript, Vite, Chart.js, Axios, React Router.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5" name="Google Shape;395;p32"/>
          <p:cNvGrpSpPr/>
          <p:nvPr/>
        </p:nvGrpSpPr>
        <p:grpSpPr>
          <a:xfrm>
            <a:off x="4762500" y="1143000"/>
            <a:ext cx="3924300" cy="1619100"/>
            <a:chOff x="4762500" y="1143000"/>
            <a:chExt cx="3924300" cy="1619100"/>
          </a:xfrm>
        </p:grpSpPr>
        <p:sp>
          <p:nvSpPr>
            <p:cNvPr id="396" name="Google Shape;396;p32"/>
            <p:cNvSpPr/>
            <p:nvPr/>
          </p:nvSpPr>
          <p:spPr>
            <a:xfrm>
              <a:off x="4762500" y="1143000"/>
              <a:ext cx="3924300" cy="1619100"/>
            </a:xfrm>
            <a:prstGeom prst="roundRect">
              <a:avLst>
                <a:gd fmla="val 2352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2"/>
            <p:cNvSpPr/>
            <p:nvPr/>
          </p:nvSpPr>
          <p:spPr>
            <a:xfrm>
              <a:off x="4762500" y="1143000"/>
              <a:ext cx="38100" cy="1619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8" name="Google Shape;398;p32"/>
            <p:cNvGrpSpPr/>
            <p:nvPr/>
          </p:nvGrpSpPr>
          <p:grpSpPr>
            <a:xfrm>
              <a:off x="4972050" y="1314450"/>
              <a:ext cx="190500" cy="190500"/>
              <a:chOff x="19050" y="19050"/>
              <a:chExt cx="190500" cy="190500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62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1" name="Google Shape;401;p32"/>
            <p:cNvSpPr txBox="1"/>
            <p:nvPr/>
          </p:nvSpPr>
          <p:spPr>
            <a:xfrm>
              <a:off x="5257800" y="1257300"/>
              <a:ext cx="32385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Backend</a:t>
              </a:r>
              <a:endParaRPr b="0" sz="16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FastAPI, Pydantic v2, Uvicorn, SQLite, FAISS.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2" name="Google Shape;402;p32"/>
          <p:cNvGrpSpPr/>
          <p:nvPr/>
        </p:nvGrpSpPr>
        <p:grpSpPr>
          <a:xfrm>
            <a:off x="457200" y="3000375"/>
            <a:ext cx="3924300" cy="1714500"/>
            <a:chOff x="457200" y="3000375"/>
            <a:chExt cx="3924300" cy="1714500"/>
          </a:xfrm>
        </p:grpSpPr>
        <p:sp>
          <p:nvSpPr>
            <p:cNvPr id="403" name="Google Shape;403;p32"/>
            <p:cNvSpPr/>
            <p:nvPr/>
          </p:nvSpPr>
          <p:spPr>
            <a:xfrm>
              <a:off x="457200" y="3000375"/>
              <a:ext cx="3924300" cy="1714500"/>
            </a:xfrm>
            <a:prstGeom prst="roundRect">
              <a:avLst>
                <a:gd fmla="val 2222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457200" y="3000375"/>
              <a:ext cx="38100" cy="1714500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5" name="Google Shape;405;p32"/>
            <p:cNvGrpSpPr/>
            <p:nvPr/>
          </p:nvGrpSpPr>
          <p:grpSpPr>
            <a:xfrm>
              <a:off x="666750" y="3171825"/>
              <a:ext cx="190500" cy="190500"/>
              <a:chOff x="19050" y="19050"/>
              <a:chExt cx="190500" cy="190500"/>
            </a:xfrm>
          </p:grpSpPr>
          <p:sp>
            <p:nvSpPr>
              <p:cNvPr id="406" name="Google Shape;406;p32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62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2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8" name="Google Shape;408;p32"/>
            <p:cNvSpPr txBox="1"/>
            <p:nvPr/>
          </p:nvSpPr>
          <p:spPr>
            <a:xfrm>
              <a:off x="952500" y="3114675"/>
              <a:ext cx="32385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854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ML / DL Frameworks</a:t>
              </a:r>
              <a:endParaRPr b="0" sz="1600">
                <a:solidFill>
                  <a:srgbClr val="00854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PyTorch, Hugging Face Transformers, PyTorch Geometric, scikit-learn, NumPy/Pandas.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9" name="Google Shape;409;p32"/>
          <p:cNvGrpSpPr/>
          <p:nvPr/>
        </p:nvGrpSpPr>
        <p:grpSpPr>
          <a:xfrm>
            <a:off x="4762500" y="3000375"/>
            <a:ext cx="3924300" cy="1714500"/>
            <a:chOff x="4762500" y="3000375"/>
            <a:chExt cx="3924300" cy="1714500"/>
          </a:xfrm>
        </p:grpSpPr>
        <p:sp>
          <p:nvSpPr>
            <p:cNvPr id="410" name="Google Shape;410;p32"/>
            <p:cNvSpPr/>
            <p:nvPr/>
          </p:nvSpPr>
          <p:spPr>
            <a:xfrm>
              <a:off x="4762500" y="3000375"/>
              <a:ext cx="3924300" cy="1714500"/>
            </a:xfrm>
            <a:prstGeom prst="roundRect">
              <a:avLst>
                <a:gd fmla="val 2222" name="adj"/>
              </a:avLst>
            </a:prstGeom>
            <a:solidFill>
              <a:srgbClr val="F8F9FA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4762500" y="3000375"/>
              <a:ext cx="38100" cy="17145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2" name="Google Shape;412;p32"/>
            <p:cNvGrpSpPr/>
            <p:nvPr/>
          </p:nvGrpSpPr>
          <p:grpSpPr>
            <a:xfrm>
              <a:off x="4972050" y="3171825"/>
              <a:ext cx="190500" cy="190500"/>
              <a:chOff x="19050" y="19050"/>
              <a:chExt cx="190500" cy="190500"/>
            </a:xfrm>
          </p:grpSpPr>
          <p:sp>
            <p:nvSpPr>
              <p:cNvPr id="413" name="Google Shape;413;p32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629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00629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5" name="Google Shape;415;p32"/>
            <p:cNvSpPr txBox="1"/>
            <p:nvPr/>
          </p:nvSpPr>
          <p:spPr>
            <a:xfrm>
              <a:off x="5257800" y="3114675"/>
              <a:ext cx="32385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C8102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Models</a:t>
              </a:r>
              <a:endParaRPr b="0" sz="1600">
                <a:solidFill>
                  <a:srgbClr val="C8102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RoBERTa-base, MuRIL, EfficientNet-B0, Xception, GraphSAGE, and GMU.</a:t>
              </a:r>
              <a:endParaRPr b="0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16" name="Google Shape;4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943100"/>
            <a:ext cx="3429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9825" y="2762250"/>
            <a:ext cx="192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25" y="2762250"/>
            <a:ext cx="192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3848100"/>
            <a:ext cx="342900" cy="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3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25" name="Google Shape;425;p3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7" name="Google Shape;427;p33"/>
          <p:cNvSpPr txBox="1"/>
          <p:nvPr/>
        </p:nvSpPr>
        <p:spPr>
          <a:xfrm>
            <a:off x="457200" y="3048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2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Conclusion, Key Takeaways &amp; Future Research</a:t>
            </a:r>
            <a:endParaRPr b="1" sz="2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28" name="Google Shape;428;p33"/>
          <p:cNvGrpSpPr/>
          <p:nvPr/>
        </p:nvGrpSpPr>
        <p:grpSpPr>
          <a:xfrm>
            <a:off x="457200" y="914400"/>
            <a:ext cx="3924300" cy="1790700"/>
            <a:chOff x="457200" y="914400"/>
            <a:chExt cx="3924300" cy="1790700"/>
          </a:xfrm>
        </p:grpSpPr>
        <p:sp>
          <p:nvSpPr>
            <p:cNvPr id="429" name="Google Shape;429;p33"/>
            <p:cNvSpPr/>
            <p:nvPr/>
          </p:nvSpPr>
          <p:spPr>
            <a:xfrm>
              <a:off x="457200" y="914400"/>
              <a:ext cx="3924300" cy="179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457200" y="914400"/>
              <a:ext cx="38100" cy="17907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3"/>
            <p:cNvSpPr txBox="1"/>
            <p:nvPr/>
          </p:nvSpPr>
          <p:spPr>
            <a:xfrm>
              <a:off x="628650" y="1047750"/>
              <a:ext cx="36006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Conclusion</a:t>
              </a:r>
              <a:endParaRPr b="0" sz="15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Algorithmic responsibility and user engagement can coexist.</a:t>
              </a:r>
              <a:endParaRPr b="0" sz="1200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Best configuration (</a:t>
              </a:r>
              <a:r>
                <a:rPr b="0" lang="en" sz="1100">
                  <a:solidFill>
                    <a:srgbClr val="111827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MuRIL + EfficientNet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) yields </a:t>
              </a:r>
              <a:r>
                <a:rPr b="1" lang="en" sz="1100">
                  <a:solidFill>
                    <a:srgbClr val="0062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AUC 0.6804</a:t>
              </a: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with zero parity gap.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2" name="Google Shape;432;p33"/>
          <p:cNvGrpSpPr/>
          <p:nvPr/>
        </p:nvGrpSpPr>
        <p:grpSpPr>
          <a:xfrm>
            <a:off x="457200" y="2857500"/>
            <a:ext cx="3924300" cy="1790700"/>
            <a:chOff x="457200" y="2857500"/>
            <a:chExt cx="3924300" cy="1790700"/>
          </a:xfrm>
        </p:grpSpPr>
        <p:sp>
          <p:nvSpPr>
            <p:cNvPr id="433" name="Google Shape;433;p33"/>
            <p:cNvSpPr/>
            <p:nvPr/>
          </p:nvSpPr>
          <p:spPr>
            <a:xfrm>
              <a:off x="457200" y="2857500"/>
              <a:ext cx="3924300" cy="1790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457200" y="2857500"/>
              <a:ext cx="38100" cy="1790700"/>
            </a:xfrm>
            <a:prstGeom prst="rect">
              <a:avLst/>
            </a:prstGeom>
            <a:solidFill>
              <a:srgbClr val="0085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3"/>
            <p:cNvSpPr txBox="1"/>
            <p:nvPr/>
          </p:nvSpPr>
          <p:spPr>
            <a:xfrm>
              <a:off x="628650" y="2990850"/>
              <a:ext cx="36006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854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Innovation</a:t>
              </a:r>
              <a:endParaRPr b="0" sz="1500">
                <a:solidFill>
                  <a:srgbClr val="00854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First system to bridge NLP and RecSys by integrating persuasion detection into the recommendation pipeline.</a:t>
              </a:r>
              <a:endParaRPr b="0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6" name="Google Shape;436;p33"/>
          <p:cNvGrpSpPr/>
          <p:nvPr/>
        </p:nvGrpSpPr>
        <p:grpSpPr>
          <a:xfrm>
            <a:off x="4572000" y="914400"/>
            <a:ext cx="4114800" cy="3733800"/>
            <a:chOff x="4572000" y="914400"/>
            <a:chExt cx="4114800" cy="3733800"/>
          </a:xfrm>
        </p:grpSpPr>
        <p:sp>
          <p:nvSpPr>
            <p:cNvPr id="437" name="Google Shape;437;p33"/>
            <p:cNvSpPr/>
            <p:nvPr/>
          </p:nvSpPr>
          <p:spPr>
            <a:xfrm>
              <a:off x="4572000" y="914400"/>
              <a:ext cx="4114800" cy="3733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3"/>
            <p:cNvSpPr/>
            <p:nvPr/>
          </p:nvSpPr>
          <p:spPr>
            <a:xfrm>
              <a:off x="4572000" y="914400"/>
              <a:ext cx="4114800" cy="38100"/>
            </a:xfrm>
            <a:prstGeom prst="rect">
              <a:avLst/>
            </a:prstGeom>
            <a:solidFill>
              <a:srgbClr val="0062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3"/>
            <p:cNvSpPr txBox="1"/>
            <p:nvPr/>
          </p:nvSpPr>
          <p:spPr>
            <a:xfrm>
              <a:off x="4762500" y="1066800"/>
              <a:ext cx="37338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Future Directions</a:t>
              </a:r>
              <a:endParaRPr b="0" sz="1600">
                <a:solidFill>
                  <a:srgbClr val="00629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105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" sz="11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Long-term User Deployment</a:t>
              </a:r>
              <a:r>
                <a:rPr b="0" lang="en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for longitudinal impact studies.</a:t>
              </a:r>
              <a:endParaRPr b="0" sz="1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" sz="11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Token-Level Span Attribution</a:t>
              </a:r>
              <a:r>
                <a:rPr b="0" lang="en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for finer explainability.</a:t>
              </a:r>
              <a:endParaRPr b="0" sz="1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" sz="11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Video Stream Extension</a:t>
              </a:r>
              <a:r>
                <a:rPr b="0" lang="en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for temporal manipulation detection.</a:t>
              </a:r>
              <a:endParaRPr b="0" sz="1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" sz="11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Federated Learning</a:t>
              </a:r>
              <a:r>
                <a:rPr b="0" lang="en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to preserve privacy.</a:t>
              </a:r>
              <a:endParaRPr b="0" sz="1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AutoNum type="arabicPeriod"/>
              </a:pPr>
              <a:r>
                <a:rPr b="0" lang="en" sz="1100">
                  <a:solidFill>
                    <a:srgbClr val="00629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Cross-Lingual Expansion</a:t>
              </a:r>
              <a:r>
                <a:rPr b="0" lang="en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 to 50+ languages.</a:t>
              </a:r>
              <a:endParaRPr b="0" sz="1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